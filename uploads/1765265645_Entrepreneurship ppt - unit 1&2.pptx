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ommentAuthors.xml" ContentType="application/vnd.openxmlformats-officedocument.presentationml.commentAuthors+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comments/comment1.xml" ContentType="application/vnd.openxmlformats-officedocument.presentationml.comments+xml"/>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7"/>
  </p:notesMasterIdLst>
  <p:handoutMasterIdLst>
    <p:handoutMasterId r:id="rId68"/>
  </p:handoutMasterIdLst>
  <p:sldIdLst>
    <p:sldId id="257"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389" r:id="rId22"/>
    <p:sldId id="391" r:id="rId23"/>
    <p:sldId id="388" r:id="rId24"/>
    <p:sldId id="387" r:id="rId25"/>
    <p:sldId id="429" r:id="rId26"/>
    <p:sldId id="431" r:id="rId27"/>
    <p:sldId id="433" r:id="rId28"/>
    <p:sldId id="386" r:id="rId29"/>
    <p:sldId id="385" r:id="rId30"/>
    <p:sldId id="278" r:id="rId31"/>
    <p:sldId id="279" r:id="rId32"/>
    <p:sldId id="280" r:id="rId33"/>
    <p:sldId id="281" r:id="rId34"/>
    <p:sldId id="282" r:id="rId35"/>
    <p:sldId id="283" r:id="rId36"/>
    <p:sldId id="393" r:id="rId37"/>
    <p:sldId id="395" r:id="rId38"/>
    <p:sldId id="397" r:id="rId39"/>
    <p:sldId id="399" r:id="rId40"/>
    <p:sldId id="401" r:id="rId41"/>
    <p:sldId id="403" r:id="rId42"/>
    <p:sldId id="405" r:id="rId43"/>
    <p:sldId id="409" r:id="rId44"/>
    <p:sldId id="415" r:id="rId45"/>
    <p:sldId id="417" r:id="rId46"/>
    <p:sldId id="421" r:id="rId47"/>
    <p:sldId id="423" r:id="rId48"/>
    <p:sldId id="285" r:id="rId49"/>
    <p:sldId id="286" r:id="rId50"/>
    <p:sldId id="288" r:id="rId51"/>
    <p:sldId id="290" r:id="rId52"/>
    <p:sldId id="291" r:id="rId53"/>
    <p:sldId id="292" r:id="rId54"/>
    <p:sldId id="293" r:id="rId55"/>
    <p:sldId id="427" r:id="rId56"/>
    <p:sldId id="294" r:id="rId57"/>
    <p:sldId id="295" r:id="rId58"/>
    <p:sldId id="296" r:id="rId59"/>
    <p:sldId id="297" r:id="rId60"/>
    <p:sldId id="425" r:id="rId61"/>
    <p:sldId id="298" r:id="rId62"/>
    <p:sldId id="299" r:id="rId63"/>
    <p:sldId id="300" r:id="rId64"/>
    <p:sldId id="301" r:id="rId65"/>
    <p:sldId id="302" r:id="rId6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hrem" initials="E" lastIdx="1" clrIdx="0">
    <p:extLst>
      <p:ext uri="{19B8F6BF-5375-455C-9EA6-DF929625EA0E}">
        <p15:presenceInfo xmlns:p15="http://schemas.microsoft.com/office/powerpoint/2012/main" xmlns="" userId="a6e3fe410dc634b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4281" autoAdjust="0"/>
  </p:normalViewPr>
  <p:slideViewPr>
    <p:cSldViewPr>
      <p:cViewPr varScale="1">
        <p:scale>
          <a:sx n="66" d="100"/>
          <a:sy n="66" d="100"/>
        </p:scale>
        <p:origin x="-1494"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7-18T21:31:44.861" idx="1">
    <p:pos x="10" y="10"/>
    <p:text>cgfd</p:text>
    <p:extLst>
      <p:ext uri="{C676402C-5697-4E1C-873F-D02D1690AC5C}">
        <p15:threadingInfo xmlns:p15="http://schemas.microsoft.com/office/powerpoint/2012/main" xmlns="" timeZoneBias="-18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65"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66"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611B9FB-2E09-44C0-9897-2FE9CE53E244}" type="datetimeFigureOut">
              <a:rPr lang="en-US" smtClean="0"/>
              <a:pPr/>
              <a:t>10/20/2025</a:t>
            </a:fld>
            <a:endParaRPr lang="en-US"/>
          </a:p>
        </p:txBody>
      </p:sp>
      <p:sp>
        <p:nvSpPr>
          <p:cNvPr id="1048967"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68"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703356D-181F-4389-9341-2DC8B86C675B}"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59"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60"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D7FCA2-55E4-44D9-9A38-A5F34CC716E2}" type="datetimeFigureOut">
              <a:rPr lang="en-US" smtClean="0"/>
              <a:pPr/>
              <a:t>10/20/2025</a:t>
            </a:fld>
            <a:endParaRPr lang="en-US"/>
          </a:p>
        </p:txBody>
      </p:sp>
      <p:sp>
        <p:nvSpPr>
          <p:cNvPr id="1048961"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62"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63"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64"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012C5B9-0667-4A21-9D17-A8EDECB0C0F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Slide Image Placeholder 1"/>
          <p:cNvSpPr>
            <a:spLocks noGrp="1" noRot="1" noChangeAspect="1"/>
          </p:cNvSpPr>
          <p:nvPr>
            <p:ph type="sldImg"/>
          </p:nvPr>
        </p:nvSpPr>
        <p:spPr/>
      </p:sp>
      <p:sp>
        <p:nvSpPr>
          <p:cNvPr id="1048613" name="Notes Placeholder 2"/>
          <p:cNvSpPr>
            <a:spLocks noGrp="1"/>
          </p:cNvSpPr>
          <p:nvPr>
            <p:ph type="body" idx="1"/>
          </p:nvPr>
        </p:nvSpPr>
        <p:spPr/>
        <p:txBody>
          <a:bodyPr>
            <a:normAutofit/>
          </a:bodyPr>
          <a:lstStyle/>
          <a:p>
            <a:endParaRPr lang="en-US" sz="1200" b="1" kern="1200" baseline="0" dirty="0">
              <a:solidFill>
                <a:schemeClr val="tx1"/>
              </a:solidFill>
              <a:latin typeface="+mn-lt"/>
              <a:ea typeface="+mn-ea"/>
              <a:cs typeface="+mn-cs"/>
            </a:endParaRPr>
          </a:p>
        </p:txBody>
      </p:sp>
      <p:sp>
        <p:nvSpPr>
          <p:cNvPr id="1048614" name="Slide Number Placeholder 3"/>
          <p:cNvSpPr>
            <a:spLocks noGrp="1"/>
          </p:cNvSpPr>
          <p:nvPr>
            <p:ph type="sldNum" sz="quarter" idx="10"/>
          </p:nvPr>
        </p:nvSpPr>
        <p:spPr/>
        <p:txBody>
          <a:bodyPr/>
          <a:lstStyle/>
          <a:p>
            <a:fld id="{4012C5B9-0667-4A21-9D17-A8EDECB0C0F5}"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p:cNvSpPr>
            <a:spLocks noGrp="1" noRot="1" noChangeAspect="1" noTextEdit="1"/>
          </p:cNvSpPr>
          <p:nvPr>
            <p:ph type="sldImg"/>
          </p:nvPr>
        </p:nvSpPr>
        <p:spPr bwMode="auto">
          <a:noFill/>
          <a:ln>
            <a:solidFill>
              <a:srgbClr val="000000"/>
            </a:solidFill>
            <a:miter lim="800000"/>
            <a:headEnd/>
            <a:tailEnd/>
          </a:ln>
        </p:spPr>
      </p:sp>
      <p:sp>
        <p:nvSpPr>
          <p:cNvPr id="15872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58724" name="Slide Number Placeholder 3"/>
          <p:cNvSpPr>
            <a:spLocks noGrp="1"/>
          </p:cNvSpPr>
          <p:nvPr>
            <p:ph type="sldNum" sz="quarter" idx="5"/>
          </p:nvPr>
        </p:nvSpPr>
        <p:spPr bwMode="auto">
          <a:noFill/>
          <a:ln>
            <a:miter lim="800000"/>
            <a:headEnd/>
            <a:tailEnd/>
          </a:ln>
        </p:spPr>
        <p:txBody>
          <a:bodyPr/>
          <a:lstStyle/>
          <a:p>
            <a:fld id="{8B81F5C9-40FB-4EDF-88FD-6C04CA837579}" type="slidenum">
              <a:rPr lang="en-US" altLang="en-US" smtClean="0"/>
              <a:pPr/>
              <a:t>21</a:t>
            </a:fld>
            <a:endParaRPr lang="en-US"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bwMode="auto">
          <a:noFill/>
          <a:ln>
            <a:solidFill>
              <a:srgbClr val="000000"/>
            </a:solidFill>
            <a:miter lim="800000"/>
            <a:headEnd/>
            <a:tailEnd/>
          </a:ln>
        </p:spPr>
      </p:sp>
      <p:sp>
        <p:nvSpPr>
          <p:cNvPr id="15974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59748" name="Slide Number Placeholder 3"/>
          <p:cNvSpPr>
            <a:spLocks noGrp="1"/>
          </p:cNvSpPr>
          <p:nvPr>
            <p:ph type="sldNum" sz="quarter" idx="5"/>
          </p:nvPr>
        </p:nvSpPr>
        <p:spPr bwMode="auto">
          <a:noFill/>
          <a:ln>
            <a:miter lim="800000"/>
            <a:headEnd/>
            <a:tailEnd/>
          </a:ln>
        </p:spPr>
        <p:txBody>
          <a:bodyPr/>
          <a:lstStyle/>
          <a:p>
            <a:fld id="{BC0D20DF-3FBD-40CD-AB11-197806F2ADDC}" type="slidenum">
              <a:rPr lang="en-US" altLang="en-US" smtClean="0"/>
              <a:pPr/>
              <a:t>22</a:t>
            </a:fld>
            <a:endParaRPr lang="en-US"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Image Placeholder 1"/>
          <p:cNvSpPr>
            <a:spLocks noGrp="1" noRot="1" noChangeAspect="1" noTextEdit="1"/>
          </p:cNvSpPr>
          <p:nvPr>
            <p:ph type="sldImg"/>
          </p:nvPr>
        </p:nvSpPr>
        <p:spPr bwMode="auto">
          <a:noFill/>
          <a:ln>
            <a:solidFill>
              <a:srgbClr val="000000"/>
            </a:solidFill>
            <a:miter lim="800000"/>
            <a:headEnd/>
            <a:tailEnd/>
          </a:ln>
        </p:spPr>
      </p:sp>
      <p:sp>
        <p:nvSpPr>
          <p:cNvPr id="15462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54628" name="Slide Number Placeholder 3"/>
          <p:cNvSpPr>
            <a:spLocks noGrp="1"/>
          </p:cNvSpPr>
          <p:nvPr>
            <p:ph type="sldNum" sz="quarter" idx="5"/>
          </p:nvPr>
        </p:nvSpPr>
        <p:spPr bwMode="auto">
          <a:noFill/>
          <a:ln>
            <a:miter lim="800000"/>
            <a:headEnd/>
            <a:tailEnd/>
          </a:ln>
        </p:spPr>
        <p:txBody>
          <a:bodyPr/>
          <a:lstStyle/>
          <a:p>
            <a:fld id="{E38981E5-5160-4F6E-B079-53341C8BA396}" type="slidenum">
              <a:rPr lang="en-US" altLang="en-US" smtClean="0"/>
              <a:pPr/>
              <a:t>26</a:t>
            </a:fld>
            <a:endParaRPr lang="en-US"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p:spPr>
      </p:sp>
      <p:sp>
        <p:nvSpPr>
          <p:cNvPr id="15565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155652" name="Slide Number Placeholder 3"/>
          <p:cNvSpPr>
            <a:spLocks noGrp="1"/>
          </p:cNvSpPr>
          <p:nvPr>
            <p:ph type="sldNum" sz="quarter" idx="5"/>
          </p:nvPr>
        </p:nvSpPr>
        <p:spPr bwMode="auto">
          <a:noFill/>
          <a:ln>
            <a:miter lim="800000"/>
            <a:headEnd/>
            <a:tailEnd/>
          </a:ln>
        </p:spPr>
        <p:txBody>
          <a:bodyPr/>
          <a:lstStyle/>
          <a:p>
            <a:fld id="{44DAA2FC-23A8-48C1-9217-A480131C313A}" type="slidenum">
              <a:rPr lang="en-US" altLang="en-US" smtClean="0"/>
              <a:pPr/>
              <a:t>27</a:t>
            </a:fld>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29FDA7B3-8481-4F91-A5CD-B8A9D58627D0}" type="datetime1">
              <a:rPr lang="en-US" smtClean="0"/>
              <a:pPr/>
              <a:t>10/20/2025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r>
              <a:rPr lang="en-US" smtClean="0"/>
              <a:t>Mr. Ephrem K. Seda</a:t>
            </a:r>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291E2FA6-9605-47D5-89F4-3EA67C44966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D1AE2BD-06AC-4DFD-B3E6-D20D4C4F4457}" type="datetime1">
              <a:rPr lang="en-US" smtClean="0"/>
              <a:pPr/>
              <a:t>10/20/2025</a:t>
            </a:fld>
            <a:endParaRPr lang="en-US"/>
          </a:p>
        </p:txBody>
      </p:sp>
      <p:sp>
        <p:nvSpPr>
          <p:cNvPr id="5" name="Footer Placeholder 4"/>
          <p:cNvSpPr>
            <a:spLocks noGrp="1"/>
          </p:cNvSpPr>
          <p:nvPr>
            <p:ph type="ftr" sz="quarter" idx="11"/>
          </p:nvPr>
        </p:nvSpPr>
        <p:spPr/>
        <p:txBody>
          <a:bodyPr/>
          <a:lstStyle>
            <a:extLst/>
          </a:lstStyle>
          <a:p>
            <a:r>
              <a:rPr lang="en-US" smtClean="0"/>
              <a:t>Mr. Ephrem K. Seda</a:t>
            </a:r>
            <a:endParaRPr lang="en-US"/>
          </a:p>
        </p:txBody>
      </p:sp>
      <p:sp>
        <p:nvSpPr>
          <p:cNvPr id="6" name="Slide Number Placeholder 5"/>
          <p:cNvSpPr>
            <a:spLocks noGrp="1"/>
          </p:cNvSpPr>
          <p:nvPr>
            <p:ph type="sldNum" sz="quarter" idx="12"/>
          </p:nvPr>
        </p:nvSpPr>
        <p:spPr/>
        <p:txBody>
          <a:bodyPr/>
          <a:lstStyle>
            <a:extLst/>
          </a:lstStyle>
          <a:p>
            <a:fld id="{291E2FA6-9605-47D5-89F4-3EA67C449664}"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708E99DD-194C-42D3-B425-B2B1EBD9952F}" type="datetime1">
              <a:rPr lang="en-US" smtClean="0"/>
              <a:pPr/>
              <a:t>10/20/2025</a:t>
            </a:fld>
            <a:endParaRPr lang="en-US"/>
          </a:p>
        </p:txBody>
      </p:sp>
      <p:sp>
        <p:nvSpPr>
          <p:cNvPr id="5" name="Footer Placeholder 4"/>
          <p:cNvSpPr>
            <a:spLocks noGrp="1"/>
          </p:cNvSpPr>
          <p:nvPr>
            <p:ph type="ftr" sz="quarter" idx="11"/>
          </p:nvPr>
        </p:nvSpPr>
        <p:spPr/>
        <p:txBody>
          <a:bodyPr/>
          <a:lstStyle>
            <a:extLst/>
          </a:lstStyle>
          <a:p>
            <a:r>
              <a:rPr lang="en-US" smtClean="0"/>
              <a:t>Mr. Ephrem K. Seda</a:t>
            </a:r>
            <a:endParaRPr lang="en-US"/>
          </a:p>
        </p:txBody>
      </p:sp>
      <p:sp>
        <p:nvSpPr>
          <p:cNvPr id="6" name="Slide Number Placeholder 5"/>
          <p:cNvSpPr>
            <a:spLocks noGrp="1"/>
          </p:cNvSpPr>
          <p:nvPr>
            <p:ph type="sldNum" sz="quarter" idx="12"/>
          </p:nvPr>
        </p:nvSpPr>
        <p:spPr/>
        <p:txBody>
          <a:bodyPr/>
          <a:lstStyle>
            <a:extLst/>
          </a:lstStyle>
          <a:p>
            <a:fld id="{291E2FA6-9605-47D5-89F4-3EA67C449664}"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48D66AD-4500-46D4-8BB9-C4904151B6BA}" type="datetime1">
              <a:rPr lang="en-US" smtClean="0"/>
              <a:pPr/>
              <a:t>10/20/2025</a:t>
            </a:fld>
            <a:endParaRPr lang="en-US"/>
          </a:p>
        </p:txBody>
      </p:sp>
      <p:sp>
        <p:nvSpPr>
          <p:cNvPr id="6" name="Footer Placeholder 5"/>
          <p:cNvSpPr>
            <a:spLocks noGrp="1"/>
          </p:cNvSpPr>
          <p:nvPr>
            <p:ph type="ftr" sz="quarter" idx="11"/>
          </p:nvPr>
        </p:nvSpPr>
        <p:spPr/>
        <p:txBody>
          <a:bodyPr/>
          <a:lstStyle>
            <a:extLst/>
          </a:lstStyle>
          <a:p>
            <a:r>
              <a:rPr lang="en-US" smtClean="0"/>
              <a:t>Mr. Ephrem K. Seda</a:t>
            </a:r>
            <a:endParaRPr lang="en-US"/>
          </a:p>
        </p:txBody>
      </p:sp>
      <p:sp>
        <p:nvSpPr>
          <p:cNvPr id="7" name="Slide Number Placeholder 6"/>
          <p:cNvSpPr>
            <a:spLocks noGrp="1"/>
          </p:cNvSpPr>
          <p:nvPr>
            <p:ph type="sldNum" sz="quarter" idx="12"/>
          </p:nvPr>
        </p:nvSpPr>
        <p:spPr/>
        <p:txBody>
          <a:bodyPr/>
          <a:lstStyle>
            <a:extLst/>
          </a:lstStyle>
          <a:p>
            <a:fld id="{291E2FA6-9605-47D5-89F4-3EA67C449664}"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7E9393DC-79F6-4F3E-8D1E-D37513DF1C5D}" type="datetime1">
              <a:rPr lang="en-US" smtClean="0"/>
              <a:pPr/>
              <a:t>10/20/2025</a:t>
            </a:fld>
            <a:endParaRPr lang="en-US"/>
          </a:p>
        </p:txBody>
      </p:sp>
      <p:sp>
        <p:nvSpPr>
          <p:cNvPr id="8" name="Footer Placeholder 7"/>
          <p:cNvSpPr>
            <a:spLocks noGrp="1"/>
          </p:cNvSpPr>
          <p:nvPr>
            <p:ph type="ftr" sz="quarter" idx="11"/>
          </p:nvPr>
        </p:nvSpPr>
        <p:spPr/>
        <p:txBody>
          <a:bodyPr/>
          <a:lstStyle>
            <a:extLst/>
          </a:lstStyle>
          <a:p>
            <a:r>
              <a:rPr lang="en-US" smtClean="0"/>
              <a:t>Mr. Ephrem K. Seda</a:t>
            </a:r>
            <a:endParaRPr lang="en-US"/>
          </a:p>
        </p:txBody>
      </p:sp>
      <p:sp>
        <p:nvSpPr>
          <p:cNvPr id="9" name="Slide Number Placeholder 8"/>
          <p:cNvSpPr>
            <a:spLocks noGrp="1"/>
          </p:cNvSpPr>
          <p:nvPr>
            <p:ph type="sldNum" sz="quarter" idx="12"/>
          </p:nvPr>
        </p:nvSpPr>
        <p:spPr/>
        <p:txBody>
          <a:bodyPr/>
          <a:lstStyle>
            <a:extLst/>
          </a:lstStyle>
          <a:p>
            <a:fld id="{291E2FA6-9605-47D5-89F4-3EA67C449664}"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DE59A5B8-B0BC-49B8-9C65-FA3A0260261D}" type="datetime1">
              <a:rPr lang="en-US" smtClean="0"/>
              <a:pPr/>
              <a:t>10/20/2025</a:t>
            </a:fld>
            <a:endParaRPr lang="en-US"/>
          </a:p>
        </p:txBody>
      </p:sp>
      <p:sp>
        <p:nvSpPr>
          <p:cNvPr id="4" name="Footer Placeholder 3"/>
          <p:cNvSpPr>
            <a:spLocks noGrp="1"/>
          </p:cNvSpPr>
          <p:nvPr>
            <p:ph type="ftr" sz="quarter" idx="11"/>
          </p:nvPr>
        </p:nvSpPr>
        <p:spPr/>
        <p:txBody>
          <a:bodyPr/>
          <a:lstStyle>
            <a:extLst/>
          </a:lstStyle>
          <a:p>
            <a:r>
              <a:rPr lang="en-US" smtClean="0"/>
              <a:t>Mr. Ephrem K. Seda</a:t>
            </a:r>
            <a:endParaRPr lang="en-US"/>
          </a:p>
        </p:txBody>
      </p:sp>
      <p:sp>
        <p:nvSpPr>
          <p:cNvPr id="5" name="Slide Number Placeholder 4"/>
          <p:cNvSpPr>
            <a:spLocks noGrp="1"/>
          </p:cNvSpPr>
          <p:nvPr>
            <p:ph type="sldNum" sz="quarter" idx="12"/>
          </p:nvPr>
        </p:nvSpPr>
        <p:spPr/>
        <p:txBody>
          <a:bodyPr/>
          <a:lstStyle>
            <a:extLst/>
          </a:lstStyle>
          <a:p>
            <a:fld id="{291E2FA6-9605-47D5-89F4-3EA67C449664}"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89D641F-7E31-4212-98A9-115810DDD642}" type="datetime1">
              <a:rPr lang="en-US" smtClean="0"/>
              <a:pPr/>
              <a:t>10/20/2025</a:t>
            </a:fld>
            <a:endParaRPr lang="en-US"/>
          </a:p>
        </p:txBody>
      </p:sp>
      <p:sp>
        <p:nvSpPr>
          <p:cNvPr id="3" name="Footer Placeholder 2"/>
          <p:cNvSpPr>
            <a:spLocks noGrp="1"/>
          </p:cNvSpPr>
          <p:nvPr>
            <p:ph type="ftr" sz="quarter" idx="11"/>
          </p:nvPr>
        </p:nvSpPr>
        <p:spPr/>
        <p:txBody>
          <a:bodyPr/>
          <a:lstStyle>
            <a:extLst/>
          </a:lstStyle>
          <a:p>
            <a:r>
              <a:rPr lang="en-US" smtClean="0"/>
              <a:t>Mr. Ephrem K. Seda</a:t>
            </a:r>
            <a:endParaRPr lang="en-US"/>
          </a:p>
        </p:txBody>
      </p:sp>
      <p:sp>
        <p:nvSpPr>
          <p:cNvPr id="4" name="Slide Number Placeholder 3"/>
          <p:cNvSpPr>
            <a:spLocks noGrp="1"/>
          </p:cNvSpPr>
          <p:nvPr>
            <p:ph type="sldNum" sz="quarter" idx="12"/>
          </p:nvPr>
        </p:nvSpPr>
        <p:spPr/>
        <p:txBody>
          <a:bodyPr/>
          <a:lstStyle>
            <a:extLst/>
          </a:lstStyle>
          <a:p>
            <a:fld id="{291E2FA6-9605-47D5-89F4-3EA67C44966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20615F5D-D058-4B59-A064-157E9BB0A901}" type="datetime1">
              <a:rPr lang="en-US" smtClean="0"/>
              <a:pPr/>
              <a:t>10/20/2025</a:t>
            </a:fld>
            <a:endParaRPr lang="en-US"/>
          </a:p>
        </p:txBody>
      </p:sp>
      <p:sp>
        <p:nvSpPr>
          <p:cNvPr id="6" name="Footer Placeholder 5"/>
          <p:cNvSpPr>
            <a:spLocks noGrp="1"/>
          </p:cNvSpPr>
          <p:nvPr>
            <p:ph type="ftr" sz="quarter" idx="11"/>
          </p:nvPr>
        </p:nvSpPr>
        <p:spPr/>
        <p:txBody>
          <a:bodyPr/>
          <a:lstStyle>
            <a:extLst/>
          </a:lstStyle>
          <a:p>
            <a:r>
              <a:rPr lang="en-US" smtClean="0"/>
              <a:t>Mr. Ephrem K. Seda</a:t>
            </a:r>
            <a:endParaRPr lang="en-US"/>
          </a:p>
        </p:txBody>
      </p:sp>
      <p:sp>
        <p:nvSpPr>
          <p:cNvPr id="7" name="Slide Number Placeholder 6"/>
          <p:cNvSpPr>
            <a:spLocks noGrp="1"/>
          </p:cNvSpPr>
          <p:nvPr>
            <p:ph type="sldNum" sz="quarter" idx="12"/>
          </p:nvPr>
        </p:nvSpPr>
        <p:spPr/>
        <p:txBody>
          <a:bodyPr/>
          <a:lstStyle>
            <a:extLst/>
          </a:lstStyle>
          <a:p>
            <a:fld id="{291E2FA6-9605-47D5-89F4-3EA67C449664}"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6BE51526-6C1C-44B0-9155-4AAE9E61D085}" type="datetime1">
              <a:rPr lang="en-US" smtClean="0"/>
              <a:pPr/>
              <a:t>10/20/2025</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r>
              <a:rPr lang="en-US" smtClean="0"/>
              <a:t>Mr. Ephrem K. Seda</a:t>
            </a:r>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291E2FA6-9605-47D5-89F4-3EA67C449664}"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58A8560-A4FD-457A-92FA-D3C177EE2C47}" type="datetime1">
              <a:rPr lang="en-US" smtClean="0"/>
              <a:pPr/>
              <a:t>10/20/2025</a:t>
            </a:fld>
            <a:endParaRPr lang="en-US"/>
          </a:p>
        </p:txBody>
      </p:sp>
      <p:sp>
        <p:nvSpPr>
          <p:cNvPr id="5" name="Footer Placeholder 4"/>
          <p:cNvSpPr>
            <a:spLocks noGrp="1"/>
          </p:cNvSpPr>
          <p:nvPr>
            <p:ph type="ftr" sz="quarter" idx="11"/>
          </p:nvPr>
        </p:nvSpPr>
        <p:spPr/>
        <p:txBody>
          <a:bodyPr/>
          <a:lstStyle>
            <a:extLst/>
          </a:lstStyle>
          <a:p>
            <a:r>
              <a:rPr lang="en-US" smtClean="0"/>
              <a:t>Mr. Ephrem K. Seda</a:t>
            </a:r>
            <a:endParaRPr lang="en-US"/>
          </a:p>
        </p:txBody>
      </p:sp>
      <p:sp>
        <p:nvSpPr>
          <p:cNvPr id="6" name="Slide Number Placeholder 5"/>
          <p:cNvSpPr>
            <a:spLocks noGrp="1"/>
          </p:cNvSpPr>
          <p:nvPr>
            <p:ph type="sldNum" sz="quarter" idx="12"/>
          </p:nvPr>
        </p:nvSpPr>
        <p:spPr/>
        <p:txBody>
          <a:bodyPr/>
          <a:lstStyle>
            <a:extLst/>
          </a:lstStyle>
          <a:p>
            <a:fld id="{291E2FA6-9605-47D5-89F4-3EA67C44966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8324634-FA8F-4120-8327-5F13F4519B43}" type="datetime1">
              <a:rPr lang="en-US" smtClean="0"/>
              <a:pPr/>
              <a:t>10/20/2025</a:t>
            </a:fld>
            <a:endParaRPr lang="en-US"/>
          </a:p>
        </p:txBody>
      </p:sp>
      <p:sp>
        <p:nvSpPr>
          <p:cNvPr id="5" name="Footer Placeholder 4"/>
          <p:cNvSpPr>
            <a:spLocks noGrp="1"/>
          </p:cNvSpPr>
          <p:nvPr>
            <p:ph type="ftr" sz="quarter" idx="11"/>
          </p:nvPr>
        </p:nvSpPr>
        <p:spPr/>
        <p:txBody>
          <a:bodyPr/>
          <a:lstStyle>
            <a:extLst/>
          </a:lstStyle>
          <a:p>
            <a:r>
              <a:rPr lang="en-US" smtClean="0"/>
              <a:t>Mr. Ephrem K. Seda</a:t>
            </a:r>
            <a:endParaRPr lang="en-US"/>
          </a:p>
        </p:txBody>
      </p:sp>
      <p:sp>
        <p:nvSpPr>
          <p:cNvPr id="6" name="Slide Number Placeholder 5"/>
          <p:cNvSpPr>
            <a:spLocks noGrp="1"/>
          </p:cNvSpPr>
          <p:nvPr>
            <p:ph type="sldNum" sz="quarter" idx="12"/>
          </p:nvPr>
        </p:nvSpPr>
        <p:spPr/>
        <p:txBody>
          <a:bodyPr/>
          <a:lstStyle>
            <a:extLst/>
          </a:lstStyle>
          <a:p>
            <a:fld id="{291E2FA6-9605-47D5-89F4-3EA67C44966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BBCB2C87-6B15-4995-AE20-37C829401092}" type="datetime1">
              <a:rPr lang="en-US" smtClean="0"/>
              <a:pPr/>
              <a:t>10/20/2025</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r>
              <a:rPr lang="en-US" smtClean="0"/>
              <a:t>Mr. Ephrem K. Seda</a:t>
            </a:r>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291E2FA6-9605-47D5-89F4-3EA67C44966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Subtitle 2"/>
          <p:cNvSpPr>
            <a:spLocks noGrp="1"/>
          </p:cNvSpPr>
          <p:nvPr>
            <p:ph type="subTitle" idx="1"/>
          </p:nvPr>
        </p:nvSpPr>
        <p:spPr>
          <a:xfrm>
            <a:off x="0" y="0"/>
            <a:ext cx="9067800" cy="7086600"/>
          </a:xfrm>
          <a:ln>
            <a:solidFill>
              <a:srgbClr val="FF0000"/>
            </a:solidFill>
          </a:ln>
        </p:spPr>
        <p:txBody>
          <a:bodyPr>
            <a:normAutofit/>
          </a:bodyPr>
          <a:lstStyle/>
          <a:p>
            <a:endParaRPr lang="en-US" b="1" dirty="0"/>
          </a:p>
          <a:p>
            <a:endParaRPr lang="en-US" sz="2000" b="1" dirty="0">
              <a:solidFill>
                <a:schemeClr val="tx1"/>
              </a:solidFill>
              <a:latin typeface="Californian FB" pitchFamily="18" charset="0"/>
            </a:endParaRPr>
          </a:p>
          <a:p>
            <a:endParaRPr lang="zh-CN" altLang="en-US" dirty="0"/>
          </a:p>
          <a:p>
            <a:r>
              <a:rPr lang="en-US" sz="2400" b="1" dirty="0">
                <a:solidFill>
                  <a:schemeClr val="tx1"/>
                </a:solidFill>
                <a:effectLst>
                  <a:outerShdw blurRad="38100" dist="38100" dir="2700000" algn="tl">
                    <a:srgbClr val="000000">
                      <a:alpha val="43137"/>
                    </a:srgbClr>
                  </a:outerShdw>
                </a:effectLst>
                <a:latin typeface="Californian FB" pitchFamily="18" charset="0"/>
              </a:rPr>
              <a:t> </a:t>
            </a:r>
            <a:endParaRPr lang="zh-CN" altLang="en-US" dirty="0"/>
          </a:p>
          <a:p>
            <a:pPr algn="ctr"/>
            <a:r>
              <a:rPr lang="en-US" sz="3200" b="1" dirty="0" smtClean="0">
                <a:solidFill>
                  <a:srgbClr val="00B050"/>
                </a:solidFill>
                <a:effectLst>
                  <a:outerShdw blurRad="38100" dist="38100" dir="2700000" algn="tl">
                    <a:srgbClr val="000000">
                      <a:alpha val="43137"/>
                    </a:srgbClr>
                  </a:outerShdw>
                </a:effectLst>
                <a:latin typeface="Californian FB" pitchFamily="18" charset="0"/>
              </a:rPr>
              <a:t>Hope Enterprise University college </a:t>
            </a:r>
            <a:r>
              <a:rPr lang="en-US" sz="3200" b="1" dirty="0">
                <a:solidFill>
                  <a:srgbClr val="FF0000"/>
                </a:solidFill>
                <a:effectLst>
                  <a:outerShdw blurRad="38100" dist="38100" dir="2700000" algn="tl">
                    <a:srgbClr val="000000">
                      <a:alpha val="43137"/>
                    </a:srgbClr>
                  </a:outerShdw>
                </a:effectLst>
                <a:latin typeface="Californian FB" pitchFamily="18" charset="0"/>
              </a:rPr>
              <a:t> </a:t>
            </a:r>
          </a:p>
          <a:p>
            <a:r>
              <a:rPr lang="en-US" sz="2400" b="1" dirty="0">
                <a:solidFill>
                  <a:srgbClr val="FF0000"/>
                </a:solidFill>
                <a:effectLst>
                  <a:outerShdw blurRad="38100" dist="38100" dir="2700000" algn="tl">
                    <a:srgbClr val="000000">
                      <a:alpha val="43137"/>
                    </a:srgbClr>
                  </a:outerShdw>
                </a:effectLst>
                <a:latin typeface="Californian FB" pitchFamily="18" charset="0"/>
              </a:rPr>
              <a:t> </a:t>
            </a:r>
            <a:endParaRPr lang="zh-CN" altLang="en-US" dirty="0">
              <a:solidFill>
                <a:srgbClr val="FF0000"/>
              </a:solidFill>
            </a:endParaRPr>
          </a:p>
          <a:p>
            <a:r>
              <a:rPr lang="en-US" sz="2400" b="1" dirty="0">
                <a:solidFill>
                  <a:srgbClr val="0070C0"/>
                </a:solidFill>
                <a:effectLst>
                  <a:outerShdw blurRad="38100" dist="38100" dir="2700000" algn="tl">
                    <a:srgbClr val="000000">
                      <a:alpha val="43137"/>
                    </a:srgbClr>
                  </a:outerShdw>
                </a:effectLst>
                <a:latin typeface="Californian FB" pitchFamily="18" charset="0"/>
              </a:rPr>
              <a:t>ENTREPRENEURSHIP AND </a:t>
            </a:r>
            <a:r>
              <a:rPr lang="en-US" sz="2400" b="1" dirty="0" smtClean="0">
                <a:solidFill>
                  <a:srgbClr val="0070C0"/>
                </a:solidFill>
                <a:effectLst>
                  <a:outerShdw blurRad="38100" dist="38100" dir="2700000" algn="tl">
                    <a:srgbClr val="000000">
                      <a:alpha val="43137"/>
                    </a:srgbClr>
                  </a:outerShdw>
                </a:effectLst>
                <a:latin typeface="Californian FB" pitchFamily="18" charset="0"/>
              </a:rPr>
              <a:t>ENTERPRISE DEVELOPMENT</a:t>
            </a:r>
          </a:p>
          <a:p>
            <a:endParaRPr lang="en-US" sz="2400" b="1" dirty="0" smtClean="0">
              <a:solidFill>
                <a:srgbClr val="0070C0"/>
              </a:solidFill>
              <a:effectLst>
                <a:outerShdw blurRad="38100" dist="38100" dir="2700000" algn="tl">
                  <a:srgbClr val="000000">
                    <a:alpha val="43137"/>
                  </a:srgbClr>
                </a:outerShdw>
              </a:effectLst>
              <a:latin typeface="Californian FB" pitchFamily="18" charset="0"/>
            </a:endParaRPr>
          </a:p>
          <a:p>
            <a:pPr algn="ctr"/>
            <a:r>
              <a:rPr lang="en-US" sz="2400" dirty="0" smtClean="0">
                <a:solidFill>
                  <a:srgbClr val="0070C0"/>
                </a:solidFill>
                <a:latin typeface="Berlin Sans FB Demi" pitchFamily="34" charset="0"/>
              </a:rPr>
              <a:t>(MGMT 201)</a:t>
            </a:r>
            <a:br>
              <a:rPr lang="en-US" sz="2400" dirty="0" smtClean="0">
                <a:solidFill>
                  <a:srgbClr val="0070C0"/>
                </a:solidFill>
                <a:latin typeface="Berlin Sans FB Demi" pitchFamily="34" charset="0"/>
              </a:rPr>
            </a:br>
            <a:r>
              <a:rPr lang="en-US" sz="2400" dirty="0" smtClean="0">
                <a:solidFill>
                  <a:srgbClr val="0070C0"/>
                </a:solidFill>
                <a:latin typeface="Berlin Sans FB Demi" pitchFamily="34" charset="0"/>
              </a:rPr>
              <a:t>By </a:t>
            </a:r>
            <a:r>
              <a:rPr lang="en-US" sz="2400" dirty="0" err="1" smtClean="0">
                <a:solidFill>
                  <a:srgbClr val="0070C0"/>
                </a:solidFill>
                <a:latin typeface="Berlin Sans FB Demi" pitchFamily="34" charset="0"/>
              </a:rPr>
              <a:t>Tesfaye</a:t>
            </a:r>
            <a:r>
              <a:rPr lang="en-US" sz="2400" dirty="0" smtClean="0">
                <a:solidFill>
                  <a:srgbClr val="0070C0"/>
                </a:solidFill>
                <a:latin typeface="Berlin Sans FB Demi" pitchFamily="34" charset="0"/>
              </a:rPr>
              <a:t> </a:t>
            </a:r>
            <a:r>
              <a:rPr lang="en-US" sz="2400" dirty="0" err="1" smtClean="0">
                <a:solidFill>
                  <a:srgbClr val="0070C0"/>
                </a:solidFill>
                <a:latin typeface="Berlin Sans FB Demi" pitchFamily="34" charset="0"/>
              </a:rPr>
              <a:t>Namera</a:t>
            </a:r>
            <a:r>
              <a:rPr lang="en-US" sz="2400" dirty="0" smtClean="0">
                <a:solidFill>
                  <a:schemeClr val="accent6">
                    <a:lumMod val="50000"/>
                  </a:schemeClr>
                </a:solidFill>
                <a:latin typeface="Berlin Sans FB Demi" pitchFamily="34" charset="0"/>
              </a:rPr>
              <a:t>(MA) </a:t>
            </a:r>
            <a:endParaRPr lang="zh-CN" altLang="en-US" dirty="0">
              <a:solidFill>
                <a:srgbClr val="7030A0"/>
              </a:solidFill>
            </a:endParaRPr>
          </a:p>
        </p:txBody>
      </p:sp>
      <p:sp>
        <p:nvSpPr>
          <p:cNvPr id="1048611" name="Slide Number Placeholder 5"/>
          <p:cNvSpPr>
            <a:spLocks noGrp="1"/>
          </p:cNvSpPr>
          <p:nvPr>
            <p:ph type="sldNum" sz="quarter" idx="12"/>
          </p:nvPr>
        </p:nvSpPr>
        <p:spPr/>
        <p:txBody>
          <a:bodyPr/>
          <a:lstStyle/>
          <a:p>
            <a:fld id="{291E2FA6-9605-47D5-89F4-3EA67C449664}"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Content Placeholder 2"/>
          <p:cNvSpPr>
            <a:spLocks noGrp="1"/>
          </p:cNvSpPr>
          <p:nvPr>
            <p:ph idx="1"/>
          </p:nvPr>
        </p:nvSpPr>
        <p:spPr>
          <a:xfrm>
            <a:off x="533400" y="1371600"/>
            <a:ext cx="8305800" cy="5105400"/>
          </a:xfrm>
        </p:spPr>
        <p:style>
          <a:lnRef idx="2">
            <a:schemeClr val="accent3"/>
          </a:lnRef>
          <a:fillRef idx="1">
            <a:schemeClr val="lt1"/>
          </a:fillRef>
          <a:effectRef idx="0">
            <a:schemeClr val="accent3"/>
          </a:effectRef>
          <a:fontRef idx="minor">
            <a:schemeClr val="dk1"/>
          </a:fontRef>
        </p:style>
        <p:txBody>
          <a:bodyPr>
            <a:normAutofit fontScale="25000" lnSpcReduction="20000"/>
          </a:bodyPr>
          <a:lstStyle/>
          <a:p>
            <a:endParaRPr lang="en-US" sz="2000" dirty="0"/>
          </a:p>
          <a:p>
            <a:pPr>
              <a:buNone/>
            </a:pPr>
            <a:r>
              <a:rPr lang="en-US" sz="12800" b="1" dirty="0" smtClean="0">
                <a:solidFill>
                  <a:srgbClr val="0070C0"/>
                </a:solidFill>
              </a:rPr>
              <a:t>1.1Introduction</a:t>
            </a:r>
            <a:endParaRPr lang="en-US" sz="12800" b="1" dirty="0">
              <a:solidFill>
                <a:srgbClr val="0070C0"/>
              </a:solidFill>
            </a:endParaRPr>
          </a:p>
          <a:p>
            <a:pPr algn="just">
              <a:lnSpc>
                <a:spcPct val="150000"/>
              </a:lnSpc>
            </a:pPr>
            <a:r>
              <a:rPr lang="en-US" sz="8000" dirty="0">
                <a:latin typeface="Californian FB" pitchFamily="18" charset="0"/>
              </a:rPr>
              <a:t>The course, Entrepreneurship, has been offered to Ethiopian students of higher education in limited departments, such as management, Accounting, Agriculture and Engineering. </a:t>
            </a:r>
          </a:p>
          <a:p>
            <a:pPr algn="just">
              <a:lnSpc>
                <a:spcPct val="150000"/>
              </a:lnSpc>
            </a:pPr>
            <a:r>
              <a:rPr lang="en-US" sz="8000" dirty="0">
                <a:latin typeface="Californian FB" pitchFamily="18" charset="0"/>
              </a:rPr>
              <a:t>However, as part of high education reform, it was decided the course, Entrepreneurship, to be one of the common courses for all freshman students.</a:t>
            </a:r>
          </a:p>
          <a:p>
            <a:pPr algn="just">
              <a:lnSpc>
                <a:spcPct val="150000"/>
              </a:lnSpc>
            </a:pPr>
            <a:r>
              <a:rPr lang="en-US" sz="8000" dirty="0">
                <a:latin typeface="Californian FB" pitchFamily="18" charset="0"/>
              </a:rPr>
              <a:t> It aims to </a:t>
            </a:r>
            <a:r>
              <a:rPr lang="en-US" sz="8000" dirty="0">
                <a:solidFill>
                  <a:srgbClr val="002060"/>
                </a:solidFill>
                <a:latin typeface="Californian FB" pitchFamily="18" charset="0"/>
              </a:rPr>
              <a:t>bring</a:t>
            </a:r>
            <a:r>
              <a:rPr lang="en-US" sz="8000" dirty="0">
                <a:latin typeface="Californian FB" pitchFamily="18" charset="0"/>
              </a:rPr>
              <a:t> </a:t>
            </a:r>
            <a:r>
              <a:rPr lang="en-US" sz="8000" dirty="0">
                <a:solidFill>
                  <a:srgbClr val="002060"/>
                </a:solidFill>
                <a:latin typeface="Californian FB" pitchFamily="18" charset="0"/>
              </a:rPr>
              <a:t>behavioral changes among students </a:t>
            </a:r>
            <a:r>
              <a:rPr lang="en-US" sz="8000" dirty="0">
                <a:latin typeface="Californian FB" pitchFamily="18" charset="0"/>
              </a:rPr>
              <a:t>and support them </a:t>
            </a:r>
            <a:r>
              <a:rPr lang="en-US" sz="8000" dirty="0">
                <a:solidFill>
                  <a:srgbClr val="002060"/>
                </a:solidFill>
                <a:latin typeface="Californian FB" pitchFamily="18" charset="0"/>
              </a:rPr>
              <a:t>develop self-employment mindset </a:t>
            </a:r>
            <a:r>
              <a:rPr lang="en-US" sz="8000" dirty="0">
                <a:latin typeface="Californian FB" pitchFamily="18" charset="0"/>
              </a:rPr>
              <a:t>in their personal and professional lives.</a:t>
            </a:r>
          </a:p>
        </p:txBody>
      </p:sp>
      <p:sp>
        <p:nvSpPr>
          <p:cNvPr id="1048620" name="Slide Number Placeholder 3"/>
          <p:cNvSpPr>
            <a:spLocks noGrp="1"/>
          </p:cNvSpPr>
          <p:nvPr>
            <p:ph type="sldNum" sz="quarter" idx="12"/>
          </p:nvPr>
        </p:nvSpPr>
        <p:spPr/>
        <p:txBody>
          <a:bodyPr/>
          <a:lstStyle/>
          <a:p>
            <a:fld id="{291E2FA6-9605-47D5-89F4-3EA67C449664}" type="slidenum">
              <a:rPr lang="en-US" smtClean="0"/>
              <a:pPr/>
              <a:t>2</a:t>
            </a:fld>
            <a:endParaRPr lang="en-US" dirty="0"/>
          </a:p>
        </p:txBody>
      </p:sp>
      <p:sp>
        <p:nvSpPr>
          <p:cNvPr id="1048618" name="Title 1"/>
          <p:cNvSpPr>
            <a:spLocks noGrp="1"/>
          </p:cNvSpPr>
          <p:nvPr>
            <p:ph type="title"/>
          </p:nvPr>
        </p:nvSpPr>
        <p:spPr>
          <a:xfrm>
            <a:off x="533400" y="274638"/>
            <a:ext cx="8305800" cy="1143000"/>
          </a:xfrm>
          <a:solidFill>
            <a:srgbClr val="00B0F0"/>
          </a:solidFill>
        </p:spPr>
        <p:style>
          <a:lnRef idx="2">
            <a:schemeClr val="dk1"/>
          </a:lnRef>
          <a:fillRef idx="1">
            <a:schemeClr val="lt1"/>
          </a:fillRef>
          <a:effectRef idx="0">
            <a:schemeClr val="dk1"/>
          </a:effectRef>
          <a:fontRef idx="minor">
            <a:schemeClr val="dk1"/>
          </a:fontRef>
        </p:style>
        <p:txBody>
          <a:bodyPr>
            <a:noAutofit/>
          </a:bodyPr>
          <a:lstStyle/>
          <a:p>
            <a:r>
              <a:rPr lang="en-US" sz="2800" b="1" dirty="0" smtClean="0"/>
              <a:t>Chapter one:</a:t>
            </a:r>
            <a:r>
              <a:rPr lang="en-US" sz="2800" b="1" dirty="0" smtClean="0">
                <a:solidFill>
                  <a:srgbClr val="0070C0"/>
                </a:solidFill>
              </a:rPr>
              <a:t> </a:t>
            </a:r>
            <a:r>
              <a:rPr lang="en-US" sz="2400" b="1" dirty="0">
                <a:solidFill>
                  <a:srgbClr val="0070C0"/>
                </a:solidFill>
              </a:rPr>
              <a:t>THE NATURE OF ENTREPRENEURSHIP</a:t>
            </a:r>
            <a:endParaRPr lang="en-US" sz="2800" dirty="0">
              <a:solidFill>
                <a:srgbClr val="0070C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Title 1"/>
          <p:cNvSpPr>
            <a:spLocks noGrp="1"/>
          </p:cNvSpPr>
          <p:nvPr>
            <p:ph idx="1"/>
          </p:nvPr>
        </p:nvSpPr>
        <p:spPr>
          <a:xfrm>
            <a:off x="228600" y="304800"/>
            <a:ext cx="8610600" cy="6096000"/>
          </a:xfrm>
        </p:spPr>
        <p:style>
          <a:lnRef idx="2">
            <a:schemeClr val="accent1"/>
          </a:lnRef>
          <a:fillRef idx="1">
            <a:schemeClr val="lt1"/>
          </a:fillRef>
          <a:effectRef idx="0">
            <a:schemeClr val="accent1"/>
          </a:effectRef>
          <a:fontRef idx="minor">
            <a:schemeClr val="dk1"/>
          </a:fontRef>
        </p:style>
        <p:txBody>
          <a:bodyPr>
            <a:noAutofit/>
          </a:bodyPr>
          <a:lstStyle/>
          <a:p>
            <a:pPr algn="just">
              <a:lnSpc>
                <a:spcPct val="150000"/>
              </a:lnSpc>
            </a:pPr>
            <a:r>
              <a:rPr lang="en-US" sz="2000" dirty="0">
                <a:latin typeface="Californian FB" pitchFamily="18" charset="0"/>
              </a:rPr>
              <a:t>The word ‘entrepreneur’ is widely used, both </a:t>
            </a:r>
            <a:r>
              <a:rPr lang="en-US" sz="2000" dirty="0">
                <a:solidFill>
                  <a:srgbClr val="FF0000"/>
                </a:solidFill>
                <a:latin typeface="Californian FB" pitchFamily="18" charset="0"/>
              </a:rPr>
              <a:t>in everyday conversation </a:t>
            </a:r>
            <a:r>
              <a:rPr lang="en-US" sz="2000" dirty="0">
                <a:latin typeface="Californian FB" pitchFamily="18" charset="0"/>
              </a:rPr>
              <a:t>and </a:t>
            </a:r>
            <a:r>
              <a:rPr lang="en-US" sz="2000" dirty="0">
                <a:solidFill>
                  <a:srgbClr val="0070C0"/>
                </a:solidFill>
                <a:latin typeface="Californian FB" pitchFamily="18" charset="0"/>
              </a:rPr>
              <a:t>as a technical term in management and economics</a:t>
            </a:r>
            <a:r>
              <a:rPr lang="en-US" sz="2000" dirty="0">
                <a:latin typeface="Californian FB" pitchFamily="18" charset="0"/>
              </a:rPr>
              <a:t>. </a:t>
            </a:r>
            <a:endParaRPr lang="en-US" sz="2000" dirty="0" smtClean="0">
              <a:latin typeface="Californian FB" pitchFamily="18" charset="0"/>
            </a:endParaRPr>
          </a:p>
          <a:p>
            <a:pPr algn="just">
              <a:lnSpc>
                <a:spcPct val="150000"/>
              </a:lnSpc>
            </a:pPr>
            <a:r>
              <a:rPr lang="en-US" sz="2000" dirty="0" smtClean="0">
                <a:latin typeface="Times New Roman" pitchFamily="18" charset="0"/>
                <a:cs typeface="Times New Roman" pitchFamily="18" charset="0"/>
              </a:rPr>
              <a:t> Entrepreneur is derived from French </a:t>
            </a:r>
            <a:r>
              <a:rPr lang="en-US" sz="2000" dirty="0" err="1" smtClean="0">
                <a:latin typeface="Times New Roman" pitchFamily="18" charset="0"/>
                <a:cs typeface="Times New Roman" pitchFamily="18" charset="0"/>
              </a:rPr>
              <a:t>entreprendre</a:t>
            </a:r>
            <a:r>
              <a:rPr lang="en-US" sz="2000" dirty="0" smtClean="0">
                <a:latin typeface="Times New Roman" pitchFamily="18" charset="0"/>
                <a:cs typeface="Times New Roman" pitchFamily="18" charset="0"/>
              </a:rPr>
              <a:t>, meaning </a:t>
            </a:r>
            <a:r>
              <a:rPr lang="en-US" sz="2000" dirty="0" smtClean="0">
                <a:solidFill>
                  <a:srgbClr val="FF0000"/>
                </a:solidFill>
                <a:latin typeface="Times New Roman" pitchFamily="18" charset="0"/>
                <a:cs typeface="Times New Roman" pitchFamily="18" charset="0"/>
              </a:rPr>
              <a:t>“to undertake” “between taker” or “go-between.</a:t>
            </a:r>
          </a:p>
          <a:p>
            <a:pPr algn="just">
              <a:lnSpc>
                <a:spcPct val="150000"/>
              </a:lnSpc>
            </a:pPr>
            <a:r>
              <a:rPr lang="en-US" sz="2000" b="1" i="1" dirty="0" smtClean="0">
                <a:latin typeface="Californian FB" pitchFamily="18" charset="0"/>
              </a:rPr>
              <a:t>where </a:t>
            </a:r>
            <a:r>
              <a:rPr lang="en-US" sz="2000" b="1" i="1" dirty="0">
                <a:latin typeface="Californian FB" pitchFamily="18" charset="0"/>
              </a:rPr>
              <a:t>an entrepreneur </a:t>
            </a:r>
            <a:r>
              <a:rPr lang="en-US" sz="2000" dirty="0">
                <a:latin typeface="Californian FB" pitchFamily="18" charset="0"/>
              </a:rPr>
              <a:t>was an individual commissioned to undertake a particular commercial project. </a:t>
            </a:r>
          </a:p>
          <a:p>
            <a:pPr algn="just">
              <a:lnSpc>
                <a:spcPct val="150000"/>
              </a:lnSpc>
            </a:pPr>
            <a:r>
              <a:rPr lang="en-US" sz="2000" dirty="0">
                <a:latin typeface="Californian FB" pitchFamily="18" charset="0"/>
              </a:rPr>
              <a:t>The idea that the entrepreneur is someone who undertakes certain projects, offers an opening to developing an understanding of the nature of entrepreneurship.</a:t>
            </a:r>
          </a:p>
          <a:p>
            <a:pPr algn="just">
              <a:lnSpc>
                <a:spcPct val="150000"/>
              </a:lnSpc>
            </a:pPr>
            <a:r>
              <a:rPr lang="en-US" sz="2000" dirty="0">
                <a:solidFill>
                  <a:srgbClr val="0070C0"/>
                </a:solidFill>
                <a:latin typeface="Californian FB" pitchFamily="18" charset="0"/>
              </a:rPr>
              <a:t>Entrepreneurship</a:t>
            </a:r>
            <a:r>
              <a:rPr lang="en-US" sz="2000" dirty="0">
                <a:latin typeface="Californian FB" pitchFamily="18" charset="0"/>
              </a:rPr>
              <a:t> is then what the entrepreneur does. Entrepreneurial is an adjective describing how the entrepreneur undertakes what he or she</a:t>
            </a:r>
            <a:r>
              <a:rPr lang="en-US" sz="2000" dirty="0">
                <a:solidFill>
                  <a:srgbClr val="00B050"/>
                </a:solidFill>
                <a:latin typeface="Californian FB" pitchFamily="18" charset="0"/>
              </a:rPr>
              <a:t> does</a:t>
            </a:r>
            <a:r>
              <a:rPr lang="en-US" sz="2000" dirty="0">
                <a:latin typeface="Californian FB" pitchFamily="18" charset="0"/>
              </a:rPr>
              <a:t>.</a:t>
            </a:r>
          </a:p>
        </p:txBody>
      </p:sp>
      <p:sp>
        <p:nvSpPr>
          <p:cNvPr id="2" name="Date Placeholder 1">
            <a:extLst>
              <a:ext uri="{FF2B5EF4-FFF2-40B4-BE49-F238E27FC236}">
                <a16:creationId xmlns:a16="http://schemas.microsoft.com/office/drawing/2014/main" xmlns="" id="{AD4FB14F-11C7-46CD-9349-68673DA46589}"/>
              </a:ext>
            </a:extLst>
          </p:cNvPr>
          <p:cNvSpPr>
            <a:spLocks noGrp="1"/>
          </p:cNvSpPr>
          <p:nvPr>
            <p:ph type="dt" sz="half" idx="10"/>
          </p:nvPr>
        </p:nvSpPr>
        <p:spPr/>
        <p:txBody>
          <a:bodyPr/>
          <a:lstStyle/>
          <a:p>
            <a:r>
              <a:rPr lang="en-US" dirty="0" smtClean="0"/>
              <a:t>.</a:t>
            </a:r>
            <a:endParaRPr lang="en-US" dirty="0"/>
          </a:p>
        </p:txBody>
      </p:sp>
      <p:sp>
        <p:nvSpPr>
          <p:cNvPr id="1048622" name="Slide Number Placeholder 4"/>
          <p:cNvSpPr>
            <a:spLocks noGrp="1"/>
          </p:cNvSpPr>
          <p:nvPr>
            <p:ph type="sldNum" sz="quarter" idx="12"/>
          </p:nvPr>
        </p:nvSpPr>
        <p:spPr/>
        <p:txBody>
          <a:bodyPr/>
          <a:lstStyle/>
          <a:p>
            <a:fld id="{291E2FA6-9605-47D5-89F4-3EA67C449664}"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4" name="Content Placeholder 2"/>
          <p:cNvSpPr>
            <a:spLocks noGrp="1"/>
          </p:cNvSpPr>
          <p:nvPr>
            <p:ph idx="1"/>
          </p:nvPr>
        </p:nvSpPr>
        <p:spPr>
          <a:xfrm>
            <a:off x="457200" y="1143000"/>
            <a:ext cx="8229600" cy="5257800"/>
          </a:xfrm>
        </p:spPr>
        <p:style>
          <a:lnRef idx="2">
            <a:schemeClr val="accent1"/>
          </a:lnRef>
          <a:fillRef idx="1">
            <a:schemeClr val="lt1"/>
          </a:fillRef>
          <a:effectRef idx="0">
            <a:schemeClr val="accent1"/>
          </a:effectRef>
          <a:fontRef idx="minor">
            <a:schemeClr val="dk1"/>
          </a:fontRef>
        </p:style>
        <p:txBody>
          <a:bodyPr>
            <a:noAutofit/>
          </a:bodyPr>
          <a:lstStyle/>
          <a:p>
            <a:pPr algn="just">
              <a:lnSpc>
                <a:spcPct val="150000"/>
              </a:lnSpc>
            </a:pPr>
            <a:r>
              <a:rPr lang="en-US" sz="2000" dirty="0">
                <a:latin typeface="Californian FB" pitchFamily="18" charset="0"/>
              </a:rPr>
              <a:t>Here we will see some definitions of entrepreneurship and entrepreneur. Intuitively, it is know that </a:t>
            </a:r>
            <a:r>
              <a:rPr lang="en-US" sz="2000" dirty="0">
                <a:solidFill>
                  <a:srgbClr val="7030A0"/>
                </a:solidFill>
                <a:latin typeface="Californian FB" pitchFamily="18" charset="0"/>
              </a:rPr>
              <a:t>entrepreneurship</a:t>
            </a:r>
            <a:r>
              <a:rPr lang="en-US" sz="2000" dirty="0">
                <a:latin typeface="Californian FB" pitchFamily="18" charset="0"/>
              </a:rPr>
              <a:t> </a:t>
            </a:r>
            <a:r>
              <a:rPr lang="en-US" sz="2000" dirty="0">
                <a:solidFill>
                  <a:srgbClr val="7030A0"/>
                </a:solidFill>
                <a:latin typeface="Californian FB" pitchFamily="18" charset="0"/>
              </a:rPr>
              <a:t>is the process </a:t>
            </a:r>
            <a:r>
              <a:rPr lang="en-US" sz="2000" dirty="0">
                <a:latin typeface="Californian FB" pitchFamily="18" charset="0"/>
              </a:rPr>
              <a:t>and </a:t>
            </a:r>
            <a:r>
              <a:rPr lang="en-US" sz="2000" dirty="0">
                <a:solidFill>
                  <a:srgbClr val="7030A0"/>
                </a:solidFill>
                <a:latin typeface="Californian FB" pitchFamily="18" charset="0"/>
              </a:rPr>
              <a:t>entrepreneur is the person undertaking entrepreneurial activity </a:t>
            </a:r>
            <a:r>
              <a:rPr lang="en-US" sz="2000" dirty="0">
                <a:latin typeface="Californian FB" pitchFamily="18" charset="0"/>
              </a:rPr>
              <a:t>such as undertaking </a:t>
            </a:r>
            <a:r>
              <a:rPr lang="en-US" sz="2000" dirty="0">
                <a:solidFill>
                  <a:srgbClr val="0070C0"/>
                </a:solidFill>
                <a:latin typeface="Californian FB" pitchFamily="18" charset="0"/>
              </a:rPr>
              <a:t>own business</a:t>
            </a:r>
            <a:r>
              <a:rPr lang="en-US" sz="2000" dirty="0">
                <a:latin typeface="Californian FB" pitchFamily="18" charset="0"/>
              </a:rPr>
              <a:t>. </a:t>
            </a:r>
          </a:p>
          <a:p>
            <a:pPr marL="0" indent="0" algn="just">
              <a:lnSpc>
                <a:spcPct val="150000"/>
              </a:lnSpc>
              <a:buNone/>
            </a:pPr>
            <a:r>
              <a:rPr lang="en-US" sz="2000" b="1" i="1" dirty="0">
                <a:latin typeface="Californian FB" pitchFamily="18" charset="0"/>
              </a:rPr>
              <a:t>The common attributes of the definitions of entrepreneurship and entrepreneur</a:t>
            </a:r>
          </a:p>
          <a:p>
            <a:pPr marL="457200" indent="-457200" algn="just">
              <a:lnSpc>
                <a:spcPct val="160000"/>
              </a:lnSpc>
              <a:buAutoNum type="arabicPeriod"/>
            </a:pPr>
            <a:r>
              <a:rPr lang="en-US" sz="2000" b="1" dirty="0">
                <a:solidFill>
                  <a:srgbClr val="0070C0"/>
                </a:solidFill>
                <a:latin typeface="Californian FB" pitchFamily="18" charset="0"/>
              </a:rPr>
              <a:t>Entrepreneurship</a:t>
            </a:r>
            <a:r>
              <a:rPr lang="en-US" sz="2000" dirty="0">
                <a:latin typeface="Californian FB" pitchFamily="18" charset="0"/>
              </a:rPr>
              <a:t> is the process of </a:t>
            </a:r>
            <a:r>
              <a:rPr lang="en-US" sz="2000" dirty="0" smtClean="0">
                <a:solidFill>
                  <a:srgbClr val="7030A0"/>
                </a:solidFill>
                <a:latin typeface="Californian FB" pitchFamily="18" charset="0"/>
              </a:rPr>
              <a:t>identifying opportunities </a:t>
            </a:r>
            <a:r>
              <a:rPr lang="en-US" sz="2000" dirty="0" smtClean="0">
                <a:latin typeface="Californian FB" pitchFamily="18" charset="0"/>
              </a:rPr>
              <a:t>in </a:t>
            </a:r>
            <a:r>
              <a:rPr lang="en-US" sz="2000" dirty="0">
                <a:latin typeface="Californian FB" pitchFamily="18" charset="0"/>
              </a:rPr>
              <a:t>the market place, </a:t>
            </a:r>
            <a:r>
              <a:rPr lang="en-US" sz="2000" dirty="0">
                <a:solidFill>
                  <a:srgbClr val="FF0000"/>
                </a:solidFill>
                <a:latin typeface="Californian FB" pitchFamily="18" charset="0"/>
              </a:rPr>
              <a:t>arranging the resources </a:t>
            </a:r>
            <a:r>
              <a:rPr lang="en-US" sz="2000" dirty="0">
                <a:latin typeface="Californian FB" pitchFamily="18" charset="0"/>
              </a:rPr>
              <a:t>required to pursue these opportunities and investing the resources to exploit the opportunities for long term gains. </a:t>
            </a:r>
          </a:p>
          <a:p>
            <a:pPr marL="457200" indent="-457200" algn="just">
              <a:lnSpc>
                <a:spcPct val="160000"/>
              </a:lnSpc>
              <a:buNone/>
            </a:pPr>
            <a:r>
              <a:rPr lang="en-US" sz="2000" dirty="0"/>
              <a:t>       </a:t>
            </a:r>
            <a:endParaRPr lang="en-US" sz="2000" b="1" i="1" dirty="0"/>
          </a:p>
        </p:txBody>
      </p:sp>
      <p:sp>
        <p:nvSpPr>
          <p:cNvPr id="1048625" name="Slide Number Placeholder 3"/>
          <p:cNvSpPr>
            <a:spLocks noGrp="1"/>
          </p:cNvSpPr>
          <p:nvPr>
            <p:ph type="sldNum" sz="quarter" idx="12"/>
          </p:nvPr>
        </p:nvSpPr>
        <p:spPr/>
        <p:txBody>
          <a:bodyPr/>
          <a:lstStyle/>
          <a:p>
            <a:fld id="{291E2FA6-9605-47D5-89F4-3EA67C449664}" type="slidenum">
              <a:rPr lang="en-US" smtClean="0"/>
              <a:pPr/>
              <a:t>4</a:t>
            </a:fld>
            <a:endParaRPr lang="en-US"/>
          </a:p>
        </p:txBody>
      </p:sp>
      <p:sp>
        <p:nvSpPr>
          <p:cNvPr id="1048623" name="Title 1"/>
          <p:cNvSpPr>
            <a:spLocks noGrp="1"/>
          </p:cNvSpPr>
          <p:nvPr>
            <p:ph type="title"/>
          </p:nvPr>
        </p:nvSpPr>
        <p:spPr>
          <a:xfrm>
            <a:off x="457200" y="274638"/>
            <a:ext cx="8229600" cy="792162"/>
          </a:xfrm>
          <a:solidFill>
            <a:srgbClr val="92D050"/>
          </a:solidFill>
          <a:ln>
            <a:solidFill>
              <a:srgbClr val="FF0000"/>
            </a:solidFill>
          </a:ln>
        </p:spPr>
        <p:style>
          <a:lnRef idx="2">
            <a:schemeClr val="accent5">
              <a:shade val="50000"/>
            </a:schemeClr>
          </a:lnRef>
          <a:fillRef idx="1">
            <a:schemeClr val="accent5"/>
          </a:fillRef>
          <a:effectRef idx="0">
            <a:schemeClr val="accent5"/>
          </a:effectRef>
          <a:fontRef idx="minor">
            <a:schemeClr val="lt1"/>
          </a:fontRef>
        </p:style>
        <p:txBody>
          <a:bodyPr>
            <a:noAutofit/>
          </a:bodyPr>
          <a:lstStyle/>
          <a:p>
            <a:r>
              <a:rPr lang="en-US" sz="2800" b="1" dirty="0" smtClean="0">
                <a:solidFill>
                  <a:schemeClr val="tx1"/>
                </a:solidFill>
              </a:rPr>
              <a:t>1.2 </a:t>
            </a:r>
            <a:r>
              <a:rPr lang="en-US" sz="2400" b="1" dirty="0">
                <a:solidFill>
                  <a:srgbClr val="0070C0"/>
                </a:solidFill>
              </a:rPr>
              <a:t>Definitions of Entrepreneurship and Entrepreneur</a:t>
            </a:r>
            <a:endParaRPr lang="en-US" sz="2800" dirty="0">
              <a:solidFill>
                <a:srgbClr val="0070C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Content Placeholder 2"/>
          <p:cNvSpPr>
            <a:spLocks noGrp="1"/>
          </p:cNvSpPr>
          <p:nvPr>
            <p:ph idx="1"/>
          </p:nvPr>
        </p:nvSpPr>
        <p:spPr>
          <a:xfrm>
            <a:off x="228600" y="533400"/>
            <a:ext cx="8458200" cy="5867400"/>
          </a:xfrm>
        </p:spPr>
        <p:style>
          <a:lnRef idx="2">
            <a:schemeClr val="accent1"/>
          </a:lnRef>
          <a:fillRef idx="1">
            <a:schemeClr val="lt1"/>
          </a:fillRef>
          <a:effectRef idx="0">
            <a:schemeClr val="accent1"/>
          </a:effectRef>
          <a:fontRef idx="minor">
            <a:schemeClr val="dk1"/>
          </a:fontRef>
        </p:style>
        <p:txBody>
          <a:bodyPr>
            <a:normAutofit fontScale="25000" lnSpcReduction="20000"/>
          </a:bodyPr>
          <a:lstStyle/>
          <a:p>
            <a:pPr algn="just">
              <a:lnSpc>
                <a:spcPct val="150000"/>
              </a:lnSpc>
              <a:buNone/>
            </a:pPr>
            <a:r>
              <a:rPr lang="en-US" sz="8000" dirty="0">
                <a:latin typeface="Times New Roman" pitchFamily="18" charset="0"/>
                <a:cs typeface="Times New Roman" pitchFamily="18" charset="0"/>
              </a:rPr>
              <a:t>2. </a:t>
            </a:r>
            <a:r>
              <a:rPr lang="en-US" sz="8000" b="1" dirty="0">
                <a:latin typeface="Californian FB" pitchFamily="18" charset="0"/>
              </a:rPr>
              <a:t>Entrepreneurship</a:t>
            </a:r>
            <a:r>
              <a:rPr lang="en-US" sz="8000" dirty="0">
                <a:latin typeface="Californian FB" pitchFamily="18" charset="0"/>
              </a:rPr>
              <a:t> is the processes through which individuals become aware of </a:t>
            </a:r>
            <a:r>
              <a:rPr lang="en-US" sz="8000" dirty="0">
                <a:solidFill>
                  <a:srgbClr val="FF0000"/>
                </a:solidFill>
                <a:latin typeface="Californian FB" pitchFamily="18" charset="0"/>
              </a:rPr>
              <a:t>business ownership</a:t>
            </a:r>
            <a:r>
              <a:rPr lang="en-US" sz="8000" dirty="0">
                <a:latin typeface="Californian FB" pitchFamily="18" charset="0"/>
              </a:rPr>
              <a:t>, </a:t>
            </a:r>
            <a:r>
              <a:rPr lang="en-US" sz="8000" dirty="0">
                <a:solidFill>
                  <a:srgbClr val="FF0000"/>
                </a:solidFill>
                <a:latin typeface="Californian FB" pitchFamily="18" charset="0"/>
              </a:rPr>
              <a:t>develop ideas </a:t>
            </a:r>
            <a:r>
              <a:rPr lang="en-US" sz="8000" dirty="0">
                <a:latin typeface="Californian FB" pitchFamily="18" charset="0"/>
              </a:rPr>
              <a:t>for, and </a:t>
            </a:r>
            <a:r>
              <a:rPr lang="en-US" sz="8000" dirty="0">
                <a:solidFill>
                  <a:srgbClr val="FF0000"/>
                </a:solidFill>
                <a:latin typeface="Californian FB" pitchFamily="18" charset="0"/>
              </a:rPr>
              <a:t>initiate a business</a:t>
            </a:r>
            <a:r>
              <a:rPr lang="en-US" sz="8000" dirty="0">
                <a:latin typeface="Californian FB" pitchFamily="18" charset="0"/>
              </a:rPr>
              <a:t>.</a:t>
            </a:r>
          </a:p>
          <a:p>
            <a:pPr algn="just">
              <a:lnSpc>
                <a:spcPct val="150000"/>
              </a:lnSpc>
              <a:buNone/>
            </a:pPr>
            <a:r>
              <a:rPr lang="en-US" sz="8000" dirty="0">
                <a:latin typeface="Californian FB" pitchFamily="18" charset="0"/>
              </a:rPr>
              <a:t>3</a:t>
            </a:r>
            <a:r>
              <a:rPr lang="en-US" sz="8000" b="1" dirty="0">
                <a:latin typeface="Californian FB" pitchFamily="18" charset="0"/>
              </a:rPr>
              <a:t>. Entrepreneurship </a:t>
            </a:r>
            <a:r>
              <a:rPr lang="en-US" sz="8000" dirty="0">
                <a:latin typeface="Californian FB" pitchFamily="18" charset="0"/>
              </a:rPr>
              <a:t>can also be defined as the </a:t>
            </a:r>
            <a:r>
              <a:rPr lang="en-US" sz="8000" dirty="0">
                <a:solidFill>
                  <a:srgbClr val="7030A0"/>
                </a:solidFill>
                <a:latin typeface="Californian FB" pitchFamily="18" charset="0"/>
              </a:rPr>
              <a:t>process of creating something different</a:t>
            </a:r>
            <a:r>
              <a:rPr lang="en-US" sz="8000" dirty="0">
                <a:latin typeface="Californian FB" pitchFamily="18" charset="0"/>
              </a:rPr>
              <a:t> and </a:t>
            </a:r>
            <a:r>
              <a:rPr lang="en-US" sz="8000" dirty="0">
                <a:solidFill>
                  <a:srgbClr val="00B0F0"/>
                </a:solidFill>
                <a:latin typeface="Californian FB" pitchFamily="18" charset="0"/>
              </a:rPr>
              <a:t>better with value by devoting </a:t>
            </a:r>
            <a:r>
              <a:rPr lang="en-US" sz="8000" dirty="0">
                <a:latin typeface="Californian FB" pitchFamily="18" charset="0"/>
              </a:rPr>
              <a:t>the necessary time and effort by assuming the accompanying financial, psychic and social risks and receiving the resulting monetary reward and personal satisfaction.</a:t>
            </a:r>
          </a:p>
          <a:p>
            <a:pPr algn="just">
              <a:lnSpc>
                <a:spcPct val="150000"/>
              </a:lnSpc>
              <a:buNone/>
            </a:pPr>
            <a:r>
              <a:rPr lang="en-US" sz="8000" dirty="0">
                <a:latin typeface="Californian FB" pitchFamily="18" charset="0"/>
              </a:rPr>
              <a:t>In general, the process of entrepreneurship includes </a:t>
            </a:r>
            <a:r>
              <a:rPr lang="en-US" sz="8000" b="1" dirty="0">
                <a:solidFill>
                  <a:srgbClr val="FF0000"/>
                </a:solidFill>
                <a:latin typeface="Californian FB" pitchFamily="18" charset="0"/>
              </a:rPr>
              <a:t>five critical elements</a:t>
            </a:r>
            <a:r>
              <a:rPr lang="en-US" sz="8000" dirty="0">
                <a:latin typeface="Californian FB" pitchFamily="18" charset="0"/>
              </a:rPr>
              <a:t>. These are:</a:t>
            </a:r>
          </a:p>
          <a:p>
            <a:pPr algn="just">
              <a:lnSpc>
                <a:spcPct val="150000"/>
              </a:lnSpc>
              <a:buNone/>
            </a:pPr>
            <a:r>
              <a:rPr lang="en-US" sz="8000" dirty="0">
                <a:latin typeface="Californian FB" pitchFamily="18" charset="0"/>
              </a:rPr>
              <a:t>1) The ability to perceive an </a:t>
            </a:r>
            <a:r>
              <a:rPr lang="en-US" sz="8000" dirty="0">
                <a:solidFill>
                  <a:srgbClr val="00B050"/>
                </a:solidFill>
                <a:latin typeface="Californian FB" pitchFamily="18" charset="0"/>
              </a:rPr>
              <a:t>opportunity</a:t>
            </a:r>
            <a:r>
              <a:rPr lang="en-US" sz="8000" dirty="0">
                <a:latin typeface="Californian FB" pitchFamily="18" charset="0"/>
              </a:rPr>
              <a:t>.</a:t>
            </a:r>
          </a:p>
          <a:p>
            <a:pPr algn="just">
              <a:lnSpc>
                <a:spcPct val="150000"/>
              </a:lnSpc>
              <a:buNone/>
            </a:pPr>
            <a:r>
              <a:rPr lang="en-US" sz="8000" dirty="0">
                <a:latin typeface="Californian FB" pitchFamily="18" charset="0"/>
              </a:rPr>
              <a:t>2) The ability </a:t>
            </a:r>
            <a:r>
              <a:rPr lang="en-US" sz="8000" dirty="0">
                <a:solidFill>
                  <a:srgbClr val="00B050"/>
                </a:solidFill>
                <a:latin typeface="Californian FB" pitchFamily="18" charset="0"/>
              </a:rPr>
              <a:t>to commercialize </a:t>
            </a:r>
            <a:r>
              <a:rPr lang="en-US" sz="8000" dirty="0">
                <a:latin typeface="Californian FB" pitchFamily="18" charset="0"/>
              </a:rPr>
              <a:t>the perceived opportunity i.e. innovation</a:t>
            </a:r>
          </a:p>
          <a:p>
            <a:pPr algn="just">
              <a:lnSpc>
                <a:spcPct val="150000"/>
              </a:lnSpc>
              <a:buNone/>
            </a:pPr>
            <a:r>
              <a:rPr lang="en-US" sz="8000" dirty="0">
                <a:latin typeface="Californian FB" pitchFamily="18" charset="0"/>
              </a:rPr>
              <a:t>3) The ability to </a:t>
            </a:r>
            <a:r>
              <a:rPr lang="en-US" sz="8000" dirty="0">
                <a:solidFill>
                  <a:srgbClr val="00B050"/>
                </a:solidFill>
                <a:latin typeface="Californian FB" pitchFamily="18" charset="0"/>
              </a:rPr>
              <a:t>pursue it on a sustainable basis.</a:t>
            </a:r>
          </a:p>
          <a:p>
            <a:pPr algn="just">
              <a:lnSpc>
                <a:spcPct val="150000"/>
              </a:lnSpc>
              <a:buNone/>
            </a:pPr>
            <a:r>
              <a:rPr lang="en-US" sz="8000" dirty="0">
                <a:latin typeface="Californian FB" pitchFamily="18" charset="0"/>
              </a:rPr>
              <a:t>4) The ability to pursue it through </a:t>
            </a:r>
            <a:r>
              <a:rPr lang="en-US" sz="8000" dirty="0">
                <a:solidFill>
                  <a:srgbClr val="00B050"/>
                </a:solidFill>
                <a:latin typeface="Californian FB" pitchFamily="18" charset="0"/>
              </a:rPr>
              <a:t>systematic means</a:t>
            </a:r>
            <a:r>
              <a:rPr lang="en-US" sz="8000" dirty="0">
                <a:latin typeface="Californian FB" pitchFamily="18" charset="0"/>
              </a:rPr>
              <a:t>.</a:t>
            </a:r>
          </a:p>
          <a:p>
            <a:pPr algn="just">
              <a:lnSpc>
                <a:spcPct val="150000"/>
              </a:lnSpc>
              <a:buNone/>
            </a:pPr>
            <a:r>
              <a:rPr lang="en-US" sz="8000" dirty="0">
                <a:latin typeface="Californian FB" pitchFamily="18" charset="0"/>
              </a:rPr>
              <a:t>5) The </a:t>
            </a:r>
            <a:r>
              <a:rPr lang="en-US" sz="8000" dirty="0">
                <a:solidFill>
                  <a:srgbClr val="00B050"/>
                </a:solidFill>
                <a:latin typeface="Californian FB" pitchFamily="18" charset="0"/>
              </a:rPr>
              <a:t>acceptance of</a:t>
            </a:r>
            <a:r>
              <a:rPr lang="en-US" sz="7200" dirty="0">
                <a:solidFill>
                  <a:srgbClr val="00B050"/>
                </a:solidFill>
                <a:latin typeface="Californian FB" pitchFamily="18" charset="0"/>
              </a:rPr>
              <a:t> risk or failure</a:t>
            </a:r>
          </a:p>
          <a:p>
            <a:pPr algn="just">
              <a:lnSpc>
                <a:spcPct val="150000"/>
              </a:lnSpc>
              <a:buNone/>
            </a:pPr>
            <a:endParaRPr lang="en-US" sz="8000" dirty="0"/>
          </a:p>
        </p:txBody>
      </p:sp>
      <p:sp>
        <p:nvSpPr>
          <p:cNvPr id="2" name="Date Placeholder 1">
            <a:extLst>
              <a:ext uri="{FF2B5EF4-FFF2-40B4-BE49-F238E27FC236}">
                <a16:creationId xmlns:a16="http://schemas.microsoft.com/office/drawing/2014/main" xmlns="" id="{DFCE98F3-ABFA-4295-A30C-6865CCD45C25}"/>
              </a:ext>
            </a:extLst>
          </p:cNvPr>
          <p:cNvSpPr>
            <a:spLocks noGrp="1"/>
          </p:cNvSpPr>
          <p:nvPr>
            <p:ph type="dt" sz="half" idx="10"/>
          </p:nvPr>
        </p:nvSpPr>
        <p:spPr/>
        <p:txBody>
          <a:bodyPr/>
          <a:lstStyle/>
          <a:p>
            <a:fld id="{64966AC0-5F82-4B63-895B-48FA9DF7B3AF}" type="datetime1">
              <a:rPr lang="en-US" smtClean="0"/>
              <a:pPr/>
              <a:t>10/20/2025</a:t>
            </a:fld>
            <a:endParaRPr lang="en-US"/>
          </a:p>
        </p:txBody>
      </p:sp>
      <p:sp>
        <p:nvSpPr>
          <p:cNvPr id="3" name="Footer Placeholder 2">
            <a:extLst>
              <a:ext uri="{FF2B5EF4-FFF2-40B4-BE49-F238E27FC236}">
                <a16:creationId xmlns:a16="http://schemas.microsoft.com/office/drawing/2014/main" xmlns="" id="{7DEE8EC3-B918-43B9-8A60-7F71107B7DE4}"/>
              </a:ext>
            </a:extLst>
          </p:cNvPr>
          <p:cNvSpPr>
            <a:spLocks noGrp="1"/>
          </p:cNvSpPr>
          <p:nvPr>
            <p:ph type="ftr" sz="quarter" idx="11"/>
          </p:nvPr>
        </p:nvSpPr>
        <p:spPr/>
        <p:txBody>
          <a:bodyPr/>
          <a:lstStyle/>
          <a:p>
            <a:endParaRPr lang="en-US" dirty="0"/>
          </a:p>
        </p:txBody>
      </p:sp>
      <p:sp>
        <p:nvSpPr>
          <p:cNvPr id="1048627" name="Slide Number Placeholder 3"/>
          <p:cNvSpPr>
            <a:spLocks noGrp="1"/>
          </p:cNvSpPr>
          <p:nvPr>
            <p:ph type="sldNum" sz="quarter" idx="12"/>
          </p:nvPr>
        </p:nvSpPr>
        <p:spPr/>
        <p:txBody>
          <a:bodyPr/>
          <a:lstStyle/>
          <a:p>
            <a:fld id="{291E2FA6-9605-47D5-89F4-3EA67C449664}"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Content Placeholder 2"/>
          <p:cNvSpPr>
            <a:spLocks noGrp="1"/>
          </p:cNvSpPr>
          <p:nvPr>
            <p:ph idx="1"/>
          </p:nvPr>
        </p:nvSpPr>
        <p:spPr>
          <a:xfrm>
            <a:off x="457200" y="381000"/>
            <a:ext cx="8229600" cy="6019800"/>
          </a:xfrm>
        </p:spPr>
        <p:style>
          <a:lnRef idx="2">
            <a:schemeClr val="accent1"/>
          </a:lnRef>
          <a:fillRef idx="1">
            <a:schemeClr val="lt1"/>
          </a:fillRef>
          <a:effectRef idx="0">
            <a:schemeClr val="accent1"/>
          </a:effectRef>
          <a:fontRef idx="minor">
            <a:schemeClr val="dk1"/>
          </a:fontRef>
        </p:style>
        <p:txBody>
          <a:bodyPr>
            <a:noAutofit/>
          </a:bodyPr>
          <a:lstStyle/>
          <a:p>
            <a:pPr algn="just">
              <a:lnSpc>
                <a:spcPct val="150000"/>
              </a:lnSpc>
              <a:buNone/>
            </a:pPr>
            <a:r>
              <a:rPr lang="en-US" sz="2000" dirty="0">
                <a:latin typeface="Californian FB" pitchFamily="18" charset="0"/>
              </a:rPr>
              <a:t>Based on the above concepts of entrepreneurship, an entrepreneur can be defined as follows:</a:t>
            </a:r>
          </a:p>
          <a:p>
            <a:pPr algn="just">
              <a:lnSpc>
                <a:spcPct val="150000"/>
              </a:lnSpc>
              <a:buNone/>
            </a:pPr>
            <a:r>
              <a:rPr lang="en-US" sz="2000" dirty="0">
                <a:latin typeface="Californian FB" pitchFamily="18" charset="0"/>
              </a:rPr>
              <a:t>1) </a:t>
            </a:r>
            <a:r>
              <a:rPr lang="en-US" sz="2000" b="1" dirty="0">
                <a:solidFill>
                  <a:srgbClr val="00B0F0"/>
                </a:solidFill>
                <a:latin typeface="Californian FB" pitchFamily="18" charset="0"/>
              </a:rPr>
              <a:t>An entrepreneur </a:t>
            </a:r>
            <a:r>
              <a:rPr lang="en-US" sz="2000" dirty="0">
                <a:latin typeface="Californian FB" pitchFamily="18" charset="0"/>
              </a:rPr>
              <a:t>is any person who creates and develops a business idea and takes the risk of setting up an enterprise to produce a </a:t>
            </a:r>
            <a:r>
              <a:rPr lang="en-US" sz="2000" dirty="0">
                <a:solidFill>
                  <a:srgbClr val="00B050"/>
                </a:solidFill>
                <a:latin typeface="Californian FB" pitchFamily="18" charset="0"/>
              </a:rPr>
              <a:t>product or service </a:t>
            </a:r>
            <a:r>
              <a:rPr lang="en-US" sz="2000" dirty="0">
                <a:latin typeface="Californian FB" pitchFamily="18" charset="0"/>
              </a:rPr>
              <a:t>which satisfies customer needs.</a:t>
            </a:r>
          </a:p>
          <a:p>
            <a:pPr algn="just">
              <a:lnSpc>
                <a:spcPct val="150000"/>
              </a:lnSpc>
              <a:buNone/>
            </a:pPr>
            <a:r>
              <a:rPr lang="en-US" sz="2000" dirty="0">
                <a:latin typeface="Californian FB" pitchFamily="18" charset="0"/>
              </a:rPr>
              <a:t>2) </a:t>
            </a:r>
            <a:r>
              <a:rPr lang="en-US" sz="2000" b="1" dirty="0">
                <a:solidFill>
                  <a:srgbClr val="00B0F0"/>
                </a:solidFill>
                <a:latin typeface="Californian FB" pitchFamily="18" charset="0"/>
              </a:rPr>
              <a:t>An entrepreneur </a:t>
            </a:r>
            <a:r>
              <a:rPr lang="en-US" sz="2000" dirty="0">
                <a:latin typeface="Californian FB" pitchFamily="18" charset="0"/>
              </a:rPr>
              <a:t>can also be defined as a professional who discovers a </a:t>
            </a:r>
            <a:r>
              <a:rPr lang="en-US" sz="2000" dirty="0">
                <a:solidFill>
                  <a:srgbClr val="00B050"/>
                </a:solidFill>
                <a:latin typeface="Californian FB" pitchFamily="18" charset="0"/>
              </a:rPr>
              <a:t>business opportunity </a:t>
            </a:r>
            <a:r>
              <a:rPr lang="en-US" sz="2000" dirty="0">
                <a:latin typeface="Californian FB" pitchFamily="18" charset="0"/>
              </a:rPr>
              <a:t>to produce improved or </a:t>
            </a:r>
            <a:r>
              <a:rPr lang="en-US" sz="2000" dirty="0">
                <a:solidFill>
                  <a:srgbClr val="FF0000"/>
                </a:solidFill>
                <a:latin typeface="Californian FB" pitchFamily="18" charset="0"/>
              </a:rPr>
              <a:t>new goods and services </a:t>
            </a:r>
            <a:r>
              <a:rPr lang="en-US" sz="2000" dirty="0">
                <a:latin typeface="Californian FB" pitchFamily="18" charset="0"/>
              </a:rPr>
              <a:t>and identifies a way in which resources required can be mobilized.</a:t>
            </a:r>
          </a:p>
          <a:p>
            <a:pPr algn="just">
              <a:lnSpc>
                <a:spcPct val="150000"/>
              </a:lnSpc>
              <a:buNone/>
            </a:pPr>
            <a:r>
              <a:rPr lang="en-US" sz="2000" dirty="0">
                <a:latin typeface="Californian FB" pitchFamily="18" charset="0"/>
              </a:rPr>
              <a:t>3. </a:t>
            </a:r>
            <a:r>
              <a:rPr lang="en-US" sz="2000" b="1" dirty="0">
                <a:solidFill>
                  <a:srgbClr val="00B0F0"/>
                </a:solidFill>
                <a:latin typeface="Californian FB" pitchFamily="18" charset="0"/>
              </a:rPr>
              <a:t>An entrepreneur </a:t>
            </a:r>
            <a:r>
              <a:rPr lang="en-US" sz="2000" dirty="0">
                <a:latin typeface="Californian FB" pitchFamily="18" charset="0"/>
              </a:rPr>
              <a:t>is a person who: </a:t>
            </a:r>
            <a:r>
              <a:rPr lang="en-US" sz="2000" dirty="0">
                <a:solidFill>
                  <a:srgbClr val="FF0000"/>
                </a:solidFill>
                <a:latin typeface="Californian FB" pitchFamily="18" charset="0"/>
              </a:rPr>
              <a:t>create the job </a:t>
            </a:r>
            <a:r>
              <a:rPr lang="en-US" sz="2000" dirty="0">
                <a:solidFill>
                  <a:srgbClr val="00B0F0"/>
                </a:solidFill>
                <a:latin typeface="Californian FB" pitchFamily="18" charset="0"/>
              </a:rPr>
              <a:t>not a job-seeker;</a:t>
            </a:r>
            <a:r>
              <a:rPr lang="en-US" sz="2000" dirty="0">
                <a:latin typeface="Californian FB" pitchFamily="18" charset="0"/>
              </a:rPr>
              <a:t> has a dream, has a vision; willing to take the risk and makes something out of nothing.</a:t>
            </a:r>
            <a:endParaRPr lang="en-US" sz="1800" b="1" i="1" dirty="0">
              <a:latin typeface="Californian FB" pitchFamily="18" charset="0"/>
            </a:endParaRPr>
          </a:p>
          <a:p>
            <a:pPr>
              <a:lnSpc>
                <a:spcPct val="150000"/>
              </a:lnSpc>
              <a:buNone/>
            </a:pPr>
            <a:r>
              <a:rPr lang="en-US" sz="1800" b="1" i="1" dirty="0">
                <a:latin typeface="Californian FB" pitchFamily="18" charset="0"/>
              </a:rPr>
              <a:t>Based on Other three perspectives the term entrepreneur  can be defined as :-</a:t>
            </a:r>
            <a:endParaRPr lang="en-US" sz="1800" i="1" dirty="0">
              <a:latin typeface="Californian FB" pitchFamily="18" charset="0"/>
            </a:endParaRPr>
          </a:p>
        </p:txBody>
      </p:sp>
      <p:sp>
        <p:nvSpPr>
          <p:cNvPr id="1048629" name="Slide Number Placeholder 3"/>
          <p:cNvSpPr>
            <a:spLocks noGrp="1"/>
          </p:cNvSpPr>
          <p:nvPr>
            <p:ph type="sldNum" sz="quarter" idx="12"/>
          </p:nvPr>
        </p:nvSpPr>
        <p:spPr/>
        <p:txBody>
          <a:bodyPr/>
          <a:lstStyle/>
          <a:p>
            <a:fld id="{291E2FA6-9605-47D5-89F4-3EA67C449664}"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0" name="Content Placeholder 2"/>
          <p:cNvSpPr>
            <a:spLocks noGrp="1"/>
          </p:cNvSpPr>
          <p:nvPr>
            <p:ph idx="1"/>
          </p:nvPr>
        </p:nvSpPr>
        <p:spPr>
          <a:xfrm>
            <a:off x="228600" y="228600"/>
            <a:ext cx="8610600" cy="6172200"/>
          </a:xfrm>
        </p:spPr>
        <p:style>
          <a:lnRef idx="2">
            <a:schemeClr val="accent1"/>
          </a:lnRef>
          <a:fillRef idx="1">
            <a:schemeClr val="lt1"/>
          </a:fillRef>
          <a:effectRef idx="0">
            <a:schemeClr val="accent1"/>
          </a:effectRef>
          <a:fontRef idx="minor">
            <a:schemeClr val="dk1"/>
          </a:fontRef>
        </p:style>
        <p:txBody>
          <a:bodyPr>
            <a:noAutofit/>
          </a:bodyPr>
          <a:lstStyle/>
          <a:p>
            <a:pPr algn="just">
              <a:lnSpc>
                <a:spcPct val="150000"/>
              </a:lnSpc>
            </a:pPr>
            <a:r>
              <a:rPr lang="en-US" sz="2000" b="1" dirty="0">
                <a:solidFill>
                  <a:srgbClr val="FF0000"/>
                </a:solidFill>
                <a:latin typeface="Californian FB" pitchFamily="18" charset="0"/>
              </a:rPr>
              <a:t>To an economist </a:t>
            </a:r>
            <a:r>
              <a:rPr lang="en-US" sz="2000" dirty="0">
                <a:solidFill>
                  <a:schemeClr val="tx1"/>
                </a:solidFill>
                <a:latin typeface="Californian FB" pitchFamily="18" charset="0"/>
              </a:rPr>
              <a:t>an entrepreneur is one who </a:t>
            </a:r>
            <a:r>
              <a:rPr lang="en-US" sz="2000" dirty="0">
                <a:solidFill>
                  <a:srgbClr val="00B0F0"/>
                </a:solidFill>
                <a:latin typeface="Californian FB" pitchFamily="18" charset="0"/>
              </a:rPr>
              <a:t>brings resource</a:t>
            </a:r>
            <a:r>
              <a:rPr lang="en-US" sz="2000" dirty="0">
                <a:solidFill>
                  <a:schemeClr val="tx1"/>
                </a:solidFill>
                <a:latin typeface="Californian FB" pitchFamily="18" charset="0"/>
              </a:rPr>
              <a:t>, </a:t>
            </a:r>
            <a:r>
              <a:rPr lang="en-US" sz="2000" dirty="0">
                <a:solidFill>
                  <a:srgbClr val="00B0F0"/>
                </a:solidFill>
                <a:latin typeface="Californian FB" pitchFamily="18" charset="0"/>
              </a:rPr>
              <a:t>labor, materials</a:t>
            </a:r>
            <a:r>
              <a:rPr lang="en-US" sz="2000" dirty="0">
                <a:solidFill>
                  <a:schemeClr val="tx1"/>
                </a:solidFill>
                <a:latin typeface="Californian FB" pitchFamily="18" charset="0"/>
              </a:rPr>
              <a:t>, and other assets into combination </a:t>
            </a:r>
            <a:r>
              <a:rPr lang="en-US" sz="2000" dirty="0" smtClean="0">
                <a:solidFill>
                  <a:schemeClr val="tx1"/>
                </a:solidFill>
                <a:latin typeface="Californian FB" pitchFamily="18" charset="0"/>
              </a:rPr>
              <a:t>that makes their value greater than before and  one </a:t>
            </a:r>
            <a:r>
              <a:rPr lang="en-US" sz="2000" dirty="0">
                <a:solidFill>
                  <a:schemeClr val="tx1"/>
                </a:solidFill>
                <a:latin typeface="Californian FB" pitchFamily="18" charset="0"/>
              </a:rPr>
              <a:t>who </a:t>
            </a:r>
            <a:r>
              <a:rPr lang="en-US" sz="2000" dirty="0">
                <a:solidFill>
                  <a:srgbClr val="00B0F0"/>
                </a:solidFill>
                <a:latin typeface="Californian FB" pitchFamily="18" charset="0"/>
              </a:rPr>
              <a:t>introduces changes innovations</a:t>
            </a:r>
            <a:r>
              <a:rPr lang="en-US" sz="3600" dirty="0">
                <a:solidFill>
                  <a:schemeClr val="tx1"/>
                </a:solidFill>
                <a:latin typeface="Californian FB" pitchFamily="18" charset="0"/>
              </a:rPr>
              <a:t>.</a:t>
            </a:r>
          </a:p>
          <a:p>
            <a:pPr algn="just">
              <a:lnSpc>
                <a:spcPct val="150000"/>
              </a:lnSpc>
            </a:pPr>
            <a:r>
              <a:rPr lang="en-US" sz="2000" b="1" dirty="0">
                <a:solidFill>
                  <a:srgbClr val="FF0000"/>
                </a:solidFill>
                <a:latin typeface="Californian FB" pitchFamily="18" charset="0"/>
              </a:rPr>
              <a:t>To a psychologist </a:t>
            </a:r>
            <a:r>
              <a:rPr lang="en-US" sz="2000" dirty="0">
                <a:solidFill>
                  <a:schemeClr val="tx1"/>
                </a:solidFill>
                <a:latin typeface="Californian FB" pitchFamily="18" charset="0"/>
              </a:rPr>
              <a:t>an entrepreneur is a person typically driven by </a:t>
            </a:r>
            <a:r>
              <a:rPr lang="en-US" sz="2000" dirty="0">
                <a:solidFill>
                  <a:srgbClr val="00B0F0"/>
                </a:solidFill>
                <a:latin typeface="Californian FB" pitchFamily="18" charset="0"/>
              </a:rPr>
              <a:t>certain forces </a:t>
            </a:r>
            <a:r>
              <a:rPr lang="en-US" sz="2000" dirty="0">
                <a:solidFill>
                  <a:schemeClr val="tx1"/>
                </a:solidFill>
                <a:latin typeface="Californian FB" pitchFamily="18" charset="0"/>
              </a:rPr>
              <a:t>need to obtain or attain something, to experiment, to accomplish or perhaps to escape the authority of others.</a:t>
            </a:r>
          </a:p>
          <a:p>
            <a:pPr algn="just">
              <a:lnSpc>
                <a:spcPct val="150000"/>
              </a:lnSpc>
            </a:pPr>
            <a:r>
              <a:rPr lang="en-US" sz="2000" b="1" dirty="0">
                <a:solidFill>
                  <a:srgbClr val="FF0000"/>
                </a:solidFill>
                <a:latin typeface="Californian FB" pitchFamily="18" charset="0"/>
              </a:rPr>
              <a:t>For the capitalist philosopher </a:t>
            </a:r>
            <a:r>
              <a:rPr lang="en-US" sz="2000" dirty="0">
                <a:solidFill>
                  <a:schemeClr val="tx1"/>
                </a:solidFill>
                <a:latin typeface="Californian FB" pitchFamily="18" charset="0"/>
              </a:rPr>
              <a:t>an entrepreneur is one who creates </a:t>
            </a:r>
            <a:r>
              <a:rPr lang="en-US" sz="2000" dirty="0">
                <a:solidFill>
                  <a:srgbClr val="00B0F0"/>
                </a:solidFill>
                <a:latin typeface="Californian FB" pitchFamily="18" charset="0"/>
              </a:rPr>
              <a:t>wealth</a:t>
            </a:r>
            <a:r>
              <a:rPr lang="en-US" sz="2000" dirty="0">
                <a:solidFill>
                  <a:schemeClr val="tx1"/>
                </a:solidFill>
                <a:latin typeface="Californian FB" pitchFamily="18" charset="0"/>
              </a:rPr>
              <a:t> for others as well, who finds better way to utilize resources and </a:t>
            </a:r>
            <a:r>
              <a:rPr lang="en-US" sz="2000" dirty="0">
                <a:solidFill>
                  <a:srgbClr val="00B0F0"/>
                </a:solidFill>
                <a:latin typeface="Californian FB" pitchFamily="18" charset="0"/>
              </a:rPr>
              <a:t>reduce waste </a:t>
            </a:r>
            <a:r>
              <a:rPr lang="en-US" sz="2000" dirty="0">
                <a:solidFill>
                  <a:schemeClr val="tx1"/>
                </a:solidFill>
                <a:latin typeface="Californian FB" pitchFamily="18" charset="0"/>
              </a:rPr>
              <a:t>and who produce job others are glad to get.</a:t>
            </a:r>
          </a:p>
          <a:p>
            <a:pPr algn="just">
              <a:lnSpc>
                <a:spcPct val="150000"/>
              </a:lnSpc>
              <a:buFont typeface="Wingdings" pitchFamily="2" charset="2"/>
              <a:buChar char="v"/>
            </a:pPr>
            <a:r>
              <a:rPr lang="en-US" sz="2000" b="1" i="1" dirty="0">
                <a:solidFill>
                  <a:srgbClr val="00B0F0"/>
                </a:solidFill>
                <a:latin typeface="Californian FB" pitchFamily="18" charset="0"/>
              </a:rPr>
              <a:t>All entrepreneurs are business persons, but not all business persons are entrepreneurs.</a:t>
            </a:r>
          </a:p>
        </p:txBody>
      </p:sp>
      <p:sp>
        <p:nvSpPr>
          <p:cNvPr id="1048631" name="Slide Number Placeholder 3"/>
          <p:cNvSpPr>
            <a:spLocks noGrp="1"/>
          </p:cNvSpPr>
          <p:nvPr>
            <p:ph type="sldNum" sz="quarter" idx="12"/>
          </p:nvPr>
        </p:nvSpPr>
        <p:spPr/>
        <p:txBody>
          <a:bodyPr/>
          <a:lstStyle/>
          <a:p>
            <a:fld id="{291E2FA6-9605-47D5-89F4-3EA67C449664}"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Content Placeholder 2"/>
          <p:cNvSpPr>
            <a:spLocks noGrp="1"/>
          </p:cNvSpPr>
          <p:nvPr>
            <p:ph idx="1"/>
          </p:nvPr>
        </p:nvSpPr>
        <p:spPr>
          <a:xfrm>
            <a:off x="457200" y="1143000"/>
            <a:ext cx="8229600" cy="5257800"/>
          </a:xfrm>
        </p:spPr>
        <p:style>
          <a:lnRef idx="2">
            <a:schemeClr val="accent1"/>
          </a:lnRef>
          <a:fillRef idx="1">
            <a:schemeClr val="lt1"/>
          </a:fillRef>
          <a:effectRef idx="0">
            <a:schemeClr val="accent1"/>
          </a:effectRef>
          <a:fontRef idx="minor">
            <a:schemeClr val="dk1"/>
          </a:fontRef>
        </p:style>
        <p:txBody>
          <a:bodyPr>
            <a:noAutofit/>
          </a:bodyPr>
          <a:lstStyle/>
          <a:p>
            <a:pPr algn="just">
              <a:lnSpc>
                <a:spcPct val="150000"/>
              </a:lnSpc>
              <a:buNone/>
            </a:pPr>
            <a:r>
              <a:rPr lang="en-US" sz="2000" dirty="0">
                <a:solidFill>
                  <a:schemeClr val="tx1"/>
                </a:solidFill>
                <a:latin typeface="Californian FB" pitchFamily="18" charset="0"/>
              </a:rPr>
              <a:t>Entrepreneurship can take three different forms. They are:</a:t>
            </a:r>
          </a:p>
          <a:p>
            <a:pPr algn="just">
              <a:lnSpc>
                <a:spcPct val="150000"/>
              </a:lnSpc>
              <a:buNone/>
            </a:pPr>
            <a:r>
              <a:rPr lang="en-US" sz="2000" b="1" dirty="0">
                <a:solidFill>
                  <a:schemeClr val="tx1"/>
                </a:solidFill>
                <a:latin typeface="Californian FB" pitchFamily="18" charset="0"/>
              </a:rPr>
              <a:t>1. </a:t>
            </a:r>
            <a:r>
              <a:rPr lang="en-US" sz="2000" b="1" dirty="0">
                <a:solidFill>
                  <a:srgbClr val="002060"/>
                </a:solidFill>
                <a:effectLst>
                  <a:outerShdw blurRad="38100" dist="38100" dir="2700000" algn="tl">
                    <a:srgbClr val="000000">
                      <a:alpha val="43137"/>
                    </a:srgbClr>
                  </a:outerShdw>
                </a:effectLst>
                <a:latin typeface="Californian FB" pitchFamily="18" charset="0"/>
              </a:rPr>
              <a:t>The individual entrepreneur</a:t>
            </a:r>
            <a:r>
              <a:rPr lang="en-US" sz="2000" b="1" dirty="0">
                <a:solidFill>
                  <a:schemeClr val="tx1"/>
                </a:solidFill>
                <a:latin typeface="Californian FB" pitchFamily="18" charset="0"/>
              </a:rPr>
              <a:t>: </a:t>
            </a:r>
            <a:r>
              <a:rPr lang="en-US" sz="2000" dirty="0">
                <a:solidFill>
                  <a:schemeClr val="tx1"/>
                </a:solidFill>
                <a:latin typeface="Californian FB" pitchFamily="18" charset="0"/>
              </a:rPr>
              <a:t>An individual entrepreneur is someone who started; acquired or franchised his/her own </a:t>
            </a:r>
            <a:r>
              <a:rPr lang="en-US" sz="2000" dirty="0">
                <a:solidFill>
                  <a:srgbClr val="00B0F0"/>
                </a:solidFill>
                <a:latin typeface="Californian FB" pitchFamily="18" charset="0"/>
              </a:rPr>
              <a:t>independent organization</a:t>
            </a:r>
            <a:r>
              <a:rPr lang="en-US" sz="2000" dirty="0">
                <a:solidFill>
                  <a:schemeClr val="tx1"/>
                </a:solidFill>
                <a:latin typeface="Californian FB" pitchFamily="18" charset="0"/>
              </a:rPr>
              <a:t>. </a:t>
            </a:r>
          </a:p>
          <a:p>
            <a:pPr algn="just">
              <a:lnSpc>
                <a:spcPct val="150000"/>
              </a:lnSpc>
              <a:buNone/>
            </a:pPr>
            <a:r>
              <a:rPr lang="en-US" sz="2000" b="1" dirty="0">
                <a:solidFill>
                  <a:schemeClr val="tx1"/>
                </a:solidFill>
                <a:latin typeface="Californian FB" pitchFamily="18" charset="0"/>
              </a:rPr>
              <a:t>2. </a:t>
            </a:r>
            <a:r>
              <a:rPr lang="en-US" sz="2000" b="1" dirty="0">
                <a:solidFill>
                  <a:srgbClr val="002060"/>
                </a:solidFill>
                <a:effectLst>
                  <a:outerShdw blurRad="38100" dist="38100" dir="2700000" algn="tl">
                    <a:srgbClr val="000000">
                      <a:alpha val="43137"/>
                    </a:srgbClr>
                  </a:outerShdw>
                </a:effectLst>
                <a:latin typeface="Californian FB" pitchFamily="18" charset="0"/>
              </a:rPr>
              <a:t>Intrapreneur</a:t>
            </a:r>
            <a:r>
              <a:rPr lang="en-US" sz="2000" b="1" dirty="0">
                <a:solidFill>
                  <a:schemeClr val="tx1"/>
                </a:solidFill>
                <a:latin typeface="Californian FB" pitchFamily="18" charset="0"/>
              </a:rPr>
              <a:t>: </a:t>
            </a:r>
            <a:r>
              <a:rPr lang="en-US" sz="2000" dirty="0">
                <a:solidFill>
                  <a:schemeClr val="tx1"/>
                </a:solidFill>
                <a:latin typeface="Californian FB" pitchFamily="18" charset="0"/>
              </a:rPr>
              <a:t>An Intrapreneur is a person who does entrepreneurial work within </a:t>
            </a:r>
            <a:r>
              <a:rPr lang="en-US" sz="2000" dirty="0">
                <a:solidFill>
                  <a:srgbClr val="00B0F0"/>
                </a:solidFill>
                <a:latin typeface="Californian FB" pitchFamily="18" charset="0"/>
              </a:rPr>
              <a:t>large organization</a:t>
            </a:r>
            <a:r>
              <a:rPr lang="en-US" sz="2000" dirty="0">
                <a:solidFill>
                  <a:schemeClr val="tx1"/>
                </a:solidFill>
                <a:latin typeface="Californian FB" pitchFamily="18" charset="0"/>
              </a:rPr>
              <a:t>. The process by which an intrapreneur affects change is called </a:t>
            </a:r>
            <a:r>
              <a:rPr lang="en-US" sz="2000" dirty="0">
                <a:solidFill>
                  <a:srgbClr val="00B0F0"/>
                </a:solidFill>
                <a:latin typeface="Californian FB" pitchFamily="18" charset="0"/>
              </a:rPr>
              <a:t>Intrapreneurship</a:t>
            </a:r>
            <a:r>
              <a:rPr lang="en-US" sz="2000" dirty="0">
                <a:solidFill>
                  <a:schemeClr val="tx1"/>
                </a:solidFill>
                <a:latin typeface="Californian FB" pitchFamily="18" charset="0"/>
              </a:rPr>
              <a:t>.</a:t>
            </a:r>
          </a:p>
          <a:p>
            <a:pPr marL="0" indent="0" algn="just">
              <a:buNone/>
            </a:pPr>
            <a:r>
              <a:rPr lang="en-US" sz="2000" b="1" dirty="0">
                <a:solidFill>
                  <a:schemeClr val="tx1"/>
                </a:solidFill>
                <a:latin typeface="Californian FB" pitchFamily="18" charset="0"/>
              </a:rPr>
              <a:t>3. </a:t>
            </a:r>
            <a:r>
              <a:rPr lang="en-US" sz="2000" b="1" dirty="0">
                <a:solidFill>
                  <a:srgbClr val="002060"/>
                </a:solidFill>
                <a:effectLst>
                  <a:outerShdw blurRad="38100" dist="38100" dir="2700000" algn="tl">
                    <a:srgbClr val="000000">
                      <a:alpha val="43137"/>
                    </a:srgbClr>
                  </a:outerShdw>
                </a:effectLst>
                <a:latin typeface="Californian FB" pitchFamily="18" charset="0"/>
              </a:rPr>
              <a:t>The Entrepreneurial Organization</a:t>
            </a:r>
            <a:r>
              <a:rPr lang="en-US" sz="2000" b="1" dirty="0">
                <a:solidFill>
                  <a:schemeClr val="tx1"/>
                </a:solidFill>
                <a:latin typeface="Californian FB" pitchFamily="18" charset="0"/>
              </a:rPr>
              <a:t>: </a:t>
            </a:r>
            <a:r>
              <a:rPr lang="en-US" sz="2000" dirty="0">
                <a:solidFill>
                  <a:schemeClr val="tx1"/>
                </a:solidFill>
                <a:latin typeface="Californian FB" pitchFamily="18" charset="0"/>
              </a:rPr>
              <a:t>The entrepreneurial function need not be embodied in a physical person</a:t>
            </a:r>
            <a:r>
              <a:rPr lang="en-US" dirty="0">
                <a:solidFill>
                  <a:schemeClr val="tx1"/>
                </a:solidFill>
                <a:latin typeface="Californian FB" pitchFamily="18" charset="0"/>
              </a:rPr>
              <a:t>. </a:t>
            </a:r>
            <a:r>
              <a:rPr lang="en-US" sz="2000" dirty="0">
                <a:solidFill>
                  <a:srgbClr val="00B0F0"/>
                </a:solidFill>
                <a:latin typeface="Californian FB" pitchFamily="18" charset="0"/>
              </a:rPr>
              <a:t>Every social environment </a:t>
            </a:r>
            <a:r>
              <a:rPr lang="en-US" sz="2000" dirty="0">
                <a:solidFill>
                  <a:schemeClr val="tx1"/>
                </a:solidFill>
                <a:latin typeface="Californian FB" pitchFamily="18" charset="0"/>
              </a:rPr>
              <a:t>has its own way of filling the entrepreneurial function.</a:t>
            </a:r>
          </a:p>
        </p:txBody>
      </p:sp>
      <p:sp>
        <p:nvSpPr>
          <p:cNvPr id="1048634" name="Slide Number Placeholder 3"/>
          <p:cNvSpPr>
            <a:spLocks noGrp="1"/>
          </p:cNvSpPr>
          <p:nvPr>
            <p:ph type="sldNum" sz="quarter" idx="12"/>
          </p:nvPr>
        </p:nvSpPr>
        <p:spPr/>
        <p:txBody>
          <a:bodyPr/>
          <a:lstStyle/>
          <a:p>
            <a:fld id="{291E2FA6-9605-47D5-89F4-3EA67C449664}" type="slidenum">
              <a:rPr lang="en-US" smtClean="0"/>
              <a:pPr/>
              <a:t>8</a:t>
            </a:fld>
            <a:endParaRPr lang="en-US"/>
          </a:p>
        </p:txBody>
      </p:sp>
      <p:sp>
        <p:nvSpPr>
          <p:cNvPr id="1048632" name="Title 1"/>
          <p:cNvSpPr>
            <a:spLocks noGrp="1"/>
          </p:cNvSpPr>
          <p:nvPr>
            <p:ph type="title"/>
          </p:nvPr>
        </p:nvSpPr>
        <p:spPr>
          <a:xfrm>
            <a:off x="457200" y="304800"/>
            <a:ext cx="8229600" cy="762000"/>
          </a:xfrm>
          <a:solidFill>
            <a:srgbClr val="00B0F0"/>
          </a:solidFill>
        </p:spPr>
        <p:style>
          <a:lnRef idx="2">
            <a:schemeClr val="dk1"/>
          </a:lnRef>
          <a:fillRef idx="1">
            <a:schemeClr val="lt1"/>
          </a:fillRef>
          <a:effectRef idx="0">
            <a:schemeClr val="dk1"/>
          </a:effectRef>
          <a:fontRef idx="minor">
            <a:schemeClr val="dk1"/>
          </a:fontRef>
        </p:style>
        <p:txBody>
          <a:bodyPr>
            <a:normAutofit/>
          </a:bodyPr>
          <a:lstStyle/>
          <a:p>
            <a:r>
              <a:rPr lang="en-US" sz="2400" b="1" dirty="0" smtClean="0"/>
              <a:t>1.3Types </a:t>
            </a:r>
            <a:r>
              <a:rPr lang="en-US" sz="2400" b="1" dirty="0"/>
              <a:t>of Entrepreneurs</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Content Placeholder 2"/>
          <p:cNvSpPr>
            <a:spLocks noGrp="1"/>
          </p:cNvSpPr>
          <p:nvPr>
            <p:ph idx="1"/>
          </p:nvPr>
        </p:nvSpPr>
        <p:spPr>
          <a:xfrm>
            <a:off x="304800" y="990600"/>
            <a:ext cx="8458200" cy="5410200"/>
          </a:xfrm>
        </p:spPr>
        <p:style>
          <a:lnRef idx="2">
            <a:schemeClr val="accent1"/>
          </a:lnRef>
          <a:fillRef idx="1">
            <a:schemeClr val="lt1"/>
          </a:fillRef>
          <a:effectRef idx="0">
            <a:schemeClr val="accent1"/>
          </a:effectRef>
          <a:fontRef idx="minor">
            <a:schemeClr val="dk1"/>
          </a:fontRef>
        </p:style>
        <p:txBody>
          <a:bodyPr>
            <a:noAutofit/>
          </a:bodyPr>
          <a:lstStyle/>
          <a:p>
            <a:pPr algn="just">
              <a:lnSpc>
                <a:spcPct val="150000"/>
              </a:lnSpc>
              <a:buNone/>
            </a:pPr>
            <a:r>
              <a:rPr lang="en-US" sz="2000" dirty="0">
                <a:latin typeface="Californian FB" pitchFamily="18" charset="0"/>
              </a:rPr>
              <a:t>    Entrepreneurial development is the most important input in the economic development of any country. The  following are basic roles of Entrepreneurs</a:t>
            </a:r>
          </a:p>
          <a:p>
            <a:pPr algn="just">
              <a:lnSpc>
                <a:spcPct val="150000"/>
              </a:lnSpc>
              <a:buNone/>
            </a:pPr>
            <a:r>
              <a:rPr lang="en-US" sz="2000" dirty="0">
                <a:latin typeface="Californian FB" pitchFamily="18" charset="0"/>
              </a:rPr>
              <a:t>1</a:t>
            </a:r>
            <a:r>
              <a:rPr lang="en-US" sz="2000" b="1" dirty="0">
                <a:latin typeface="Californian FB" pitchFamily="18" charset="0"/>
              </a:rPr>
              <a:t>. </a:t>
            </a:r>
            <a:r>
              <a:rPr lang="en-US" sz="2000" b="1" dirty="0">
                <a:solidFill>
                  <a:srgbClr val="002060"/>
                </a:solidFill>
                <a:effectLst>
                  <a:outerShdw blurRad="38100" dist="38100" dir="2700000" algn="tl">
                    <a:srgbClr val="000000">
                      <a:alpha val="43137"/>
                    </a:srgbClr>
                  </a:outerShdw>
                </a:effectLst>
                <a:latin typeface="Californian FB" pitchFamily="18" charset="0"/>
              </a:rPr>
              <a:t>Improvement in per capita Income</a:t>
            </a:r>
            <a:r>
              <a:rPr lang="en-US" sz="2000" b="1" dirty="0">
                <a:latin typeface="Californian FB" pitchFamily="18" charset="0"/>
              </a:rPr>
              <a:t>/Wealth Generation</a:t>
            </a:r>
            <a:r>
              <a:rPr lang="en-US" sz="2000" dirty="0">
                <a:latin typeface="Californian FB" pitchFamily="18" charset="0"/>
              </a:rPr>
              <a:t>: Entrepreneurs play a </a:t>
            </a:r>
            <a:r>
              <a:rPr lang="en-US" sz="2000" dirty="0" smtClean="0">
                <a:latin typeface="Californian FB" pitchFamily="18" charset="0"/>
              </a:rPr>
              <a:t>vital role </a:t>
            </a:r>
            <a:r>
              <a:rPr lang="en-US" sz="2000" dirty="0">
                <a:latin typeface="Californian FB" pitchFamily="18" charset="0"/>
              </a:rPr>
              <a:t>in the economic development of a region</a:t>
            </a:r>
          </a:p>
          <a:p>
            <a:pPr algn="just">
              <a:lnSpc>
                <a:spcPct val="150000"/>
              </a:lnSpc>
              <a:buNone/>
            </a:pPr>
            <a:r>
              <a:rPr lang="en-US" sz="2000" dirty="0">
                <a:latin typeface="Californian FB" pitchFamily="18" charset="0"/>
              </a:rPr>
              <a:t>2. </a:t>
            </a:r>
            <a:r>
              <a:rPr lang="en-US" sz="2000" b="1" dirty="0">
                <a:solidFill>
                  <a:srgbClr val="002060"/>
                </a:solidFill>
                <a:effectLst>
                  <a:outerShdw blurRad="38100" dist="38100" dir="2700000" algn="tl">
                    <a:srgbClr val="000000">
                      <a:alpha val="43137"/>
                    </a:srgbClr>
                  </a:outerShdw>
                </a:effectLst>
                <a:latin typeface="Californian FB" pitchFamily="18" charset="0"/>
              </a:rPr>
              <a:t>Generation of Employment Opportunities</a:t>
            </a:r>
            <a:r>
              <a:rPr lang="en-US" sz="2000" b="1" dirty="0">
                <a:latin typeface="Californian FB" pitchFamily="18" charset="0"/>
              </a:rPr>
              <a:t>: </a:t>
            </a:r>
            <a:r>
              <a:rPr lang="en-US" sz="2000" dirty="0">
                <a:latin typeface="Californian FB" pitchFamily="18" charset="0"/>
              </a:rPr>
              <a:t>By creating a new business enterprise, entrepreneurs generate employment opportunities for others.</a:t>
            </a:r>
          </a:p>
          <a:p>
            <a:pPr algn="just">
              <a:lnSpc>
                <a:spcPct val="150000"/>
              </a:lnSpc>
              <a:buNone/>
            </a:pPr>
            <a:r>
              <a:rPr lang="en-US" sz="2000" dirty="0">
                <a:latin typeface="Californian FB" pitchFamily="18" charset="0"/>
              </a:rPr>
              <a:t>3 </a:t>
            </a:r>
            <a:r>
              <a:rPr lang="en-US" sz="2000" b="1" dirty="0">
                <a:solidFill>
                  <a:srgbClr val="002060"/>
                </a:solidFill>
                <a:effectLst>
                  <a:outerShdw blurRad="38100" dist="38100" dir="2700000" algn="tl">
                    <a:srgbClr val="000000">
                      <a:alpha val="43137"/>
                    </a:srgbClr>
                  </a:outerShdw>
                </a:effectLst>
                <a:latin typeface="Californian FB" pitchFamily="18" charset="0"/>
              </a:rPr>
              <a:t>Inspire others Towards Entrepreneurship</a:t>
            </a:r>
            <a:r>
              <a:rPr lang="en-US" sz="2000" b="1" dirty="0">
                <a:latin typeface="Californian FB" pitchFamily="18" charset="0"/>
              </a:rPr>
              <a:t>: </a:t>
            </a:r>
            <a:r>
              <a:rPr lang="en-US" sz="2000" dirty="0">
                <a:latin typeface="Californian FB" pitchFamily="18" charset="0"/>
              </a:rPr>
              <a:t>The team created by an entrepreneur for his new undertaking often provides the opportunity for the employees to have a first-hand experience.</a:t>
            </a:r>
          </a:p>
          <a:p>
            <a:pPr algn="just">
              <a:lnSpc>
                <a:spcPct val="150000"/>
              </a:lnSpc>
              <a:buNone/>
            </a:pPr>
            <a:r>
              <a:rPr lang="en-US" sz="2000" b="1" dirty="0">
                <a:latin typeface="Californian FB" pitchFamily="18" charset="0"/>
              </a:rPr>
              <a:t>4. </a:t>
            </a:r>
            <a:r>
              <a:rPr lang="en-US" sz="2000" b="1" dirty="0">
                <a:solidFill>
                  <a:srgbClr val="002060"/>
                </a:solidFill>
                <a:effectLst>
                  <a:outerShdw blurRad="38100" dist="38100" dir="2700000" algn="tl">
                    <a:srgbClr val="000000">
                      <a:alpha val="43137"/>
                    </a:srgbClr>
                  </a:outerShdw>
                </a:effectLst>
                <a:latin typeface="Californian FB" pitchFamily="18" charset="0"/>
              </a:rPr>
              <a:t>Balanced Regional Development</a:t>
            </a:r>
            <a:r>
              <a:rPr lang="en-US" sz="2000" b="1" dirty="0">
                <a:latin typeface="Californian FB" pitchFamily="18" charset="0"/>
              </a:rPr>
              <a:t>: </a:t>
            </a:r>
            <a:r>
              <a:rPr lang="en-US" sz="2000" dirty="0">
                <a:latin typeface="Californian FB" pitchFamily="18" charset="0"/>
              </a:rPr>
              <a:t>Entrepreneurs help to remove regional disparities in economic development.</a:t>
            </a:r>
          </a:p>
        </p:txBody>
      </p:sp>
      <p:sp>
        <p:nvSpPr>
          <p:cNvPr id="1048637" name="Slide Number Placeholder 3"/>
          <p:cNvSpPr>
            <a:spLocks noGrp="1"/>
          </p:cNvSpPr>
          <p:nvPr>
            <p:ph type="sldNum" sz="quarter" idx="12"/>
          </p:nvPr>
        </p:nvSpPr>
        <p:spPr/>
        <p:txBody>
          <a:bodyPr/>
          <a:lstStyle/>
          <a:p>
            <a:fld id="{291E2FA6-9605-47D5-89F4-3EA67C449664}" type="slidenum">
              <a:rPr lang="en-US" smtClean="0"/>
              <a:pPr/>
              <a:t>9</a:t>
            </a:fld>
            <a:endParaRPr lang="en-US"/>
          </a:p>
        </p:txBody>
      </p:sp>
      <p:sp>
        <p:nvSpPr>
          <p:cNvPr id="1048635" name="Title 1"/>
          <p:cNvSpPr>
            <a:spLocks noGrp="1"/>
          </p:cNvSpPr>
          <p:nvPr>
            <p:ph type="title"/>
          </p:nvPr>
        </p:nvSpPr>
        <p:spPr>
          <a:xfrm>
            <a:off x="304800" y="274638"/>
            <a:ext cx="8458200" cy="715962"/>
          </a:xfrm>
          <a:solidFill>
            <a:srgbClr val="00B0F0"/>
          </a:solidFill>
        </p:spPr>
        <p:style>
          <a:lnRef idx="2">
            <a:schemeClr val="dk1"/>
          </a:lnRef>
          <a:fillRef idx="1">
            <a:schemeClr val="lt1"/>
          </a:fillRef>
          <a:effectRef idx="0">
            <a:schemeClr val="dk1"/>
          </a:effectRef>
          <a:fontRef idx="minor">
            <a:schemeClr val="dk1"/>
          </a:fontRef>
        </p:style>
        <p:txBody>
          <a:bodyPr>
            <a:noAutofit/>
          </a:bodyPr>
          <a:lstStyle/>
          <a:p>
            <a:r>
              <a:rPr lang="en-US" sz="2400" b="1" dirty="0" smtClean="0"/>
              <a:t>1.4 </a:t>
            </a:r>
            <a:r>
              <a:rPr lang="en-US" sz="2400" b="1" dirty="0"/>
              <a:t>Role of Entrepreneurs in Economic Development</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8" name="Content Placeholder 2"/>
          <p:cNvSpPr>
            <a:spLocks noGrp="1"/>
          </p:cNvSpPr>
          <p:nvPr>
            <p:ph idx="1"/>
          </p:nvPr>
        </p:nvSpPr>
        <p:spPr>
          <a:xfrm>
            <a:off x="304800" y="533400"/>
            <a:ext cx="8534400" cy="5821363"/>
          </a:xfrm>
        </p:spPr>
        <p:style>
          <a:lnRef idx="2">
            <a:schemeClr val="accent1"/>
          </a:lnRef>
          <a:fillRef idx="1">
            <a:schemeClr val="lt1"/>
          </a:fillRef>
          <a:effectRef idx="0">
            <a:schemeClr val="accent1"/>
          </a:effectRef>
          <a:fontRef idx="minor">
            <a:schemeClr val="dk1"/>
          </a:fontRef>
        </p:style>
        <p:txBody>
          <a:bodyPr>
            <a:normAutofit fontScale="25000" lnSpcReduction="20000"/>
          </a:bodyPr>
          <a:lstStyle/>
          <a:p>
            <a:pPr algn="just">
              <a:lnSpc>
                <a:spcPct val="170000"/>
              </a:lnSpc>
              <a:buNone/>
            </a:pPr>
            <a:endParaRPr lang="en-US" sz="1800" dirty="0"/>
          </a:p>
          <a:p>
            <a:pPr>
              <a:lnSpc>
                <a:spcPct val="170000"/>
              </a:lnSpc>
              <a:buNone/>
            </a:pPr>
            <a:r>
              <a:rPr lang="en-US" sz="8000" dirty="0"/>
              <a:t> </a:t>
            </a:r>
            <a:r>
              <a:rPr lang="en-US" sz="8000" b="1" dirty="0">
                <a:latin typeface="Californian FB" pitchFamily="18" charset="0"/>
              </a:rPr>
              <a:t>5. </a:t>
            </a:r>
            <a:r>
              <a:rPr lang="en-US" sz="8000" b="1" dirty="0">
                <a:solidFill>
                  <a:srgbClr val="002060"/>
                </a:solidFill>
                <a:effectLst>
                  <a:outerShdw blurRad="38100" dist="38100" dir="2700000" algn="tl">
                    <a:srgbClr val="000000">
                      <a:alpha val="43137"/>
                    </a:srgbClr>
                  </a:outerShdw>
                </a:effectLst>
                <a:latin typeface="Californian FB" pitchFamily="18" charset="0"/>
              </a:rPr>
              <a:t>Provide Diversity in Firms</a:t>
            </a:r>
            <a:r>
              <a:rPr lang="en-US" sz="8000" dirty="0">
                <a:latin typeface="Californian FB" pitchFamily="18" charset="0"/>
              </a:rPr>
              <a:t>: Entrepreneurial activity often results into creation of a variety of firms in a region. These </a:t>
            </a:r>
            <a:r>
              <a:rPr lang="en-US" sz="8000" dirty="0">
                <a:solidFill>
                  <a:srgbClr val="00B0F0"/>
                </a:solidFill>
                <a:latin typeface="Californian FB" pitchFamily="18" charset="0"/>
              </a:rPr>
              <a:t>firms operate into diverse activities &amp; products.</a:t>
            </a:r>
          </a:p>
          <a:p>
            <a:pPr algn="just">
              <a:lnSpc>
                <a:spcPct val="170000"/>
              </a:lnSpc>
              <a:buNone/>
            </a:pPr>
            <a:r>
              <a:rPr lang="en-US" sz="8000" dirty="0">
                <a:latin typeface="Californian FB" pitchFamily="18" charset="0"/>
              </a:rPr>
              <a:t>6. </a:t>
            </a:r>
            <a:r>
              <a:rPr lang="en-US" sz="8000" b="1" dirty="0">
                <a:solidFill>
                  <a:srgbClr val="002060"/>
                </a:solidFill>
                <a:effectLst>
                  <a:outerShdw blurRad="38100" dist="38100" dir="2700000" algn="tl">
                    <a:srgbClr val="000000">
                      <a:alpha val="43137"/>
                    </a:srgbClr>
                  </a:outerShdw>
                </a:effectLst>
                <a:latin typeface="Californian FB" pitchFamily="18" charset="0"/>
              </a:rPr>
              <a:t>Economic Independence</a:t>
            </a:r>
            <a:r>
              <a:rPr lang="en-US" sz="8000" dirty="0">
                <a:latin typeface="Californian FB" pitchFamily="18" charset="0"/>
              </a:rPr>
              <a:t>: Entrepreneurship is essential for </a:t>
            </a:r>
            <a:r>
              <a:rPr lang="en-US" sz="8000" dirty="0">
                <a:solidFill>
                  <a:srgbClr val="00B0F0"/>
                </a:solidFill>
                <a:latin typeface="Californian FB" pitchFamily="18" charset="0"/>
              </a:rPr>
              <a:t>self-reliance</a:t>
            </a:r>
            <a:r>
              <a:rPr lang="en-US" sz="8000" dirty="0">
                <a:latin typeface="Californian FB" pitchFamily="18" charset="0"/>
              </a:rPr>
              <a:t> for a country. This </a:t>
            </a:r>
            <a:r>
              <a:rPr lang="en-US" sz="8000" dirty="0">
                <a:solidFill>
                  <a:srgbClr val="00B0F0"/>
                </a:solidFill>
                <a:latin typeface="Californian FB" pitchFamily="18" charset="0"/>
              </a:rPr>
              <a:t>import substitution </a:t>
            </a:r>
            <a:r>
              <a:rPr lang="en-US" sz="8000" dirty="0">
                <a:latin typeface="Californian FB" pitchFamily="18" charset="0"/>
              </a:rPr>
              <a:t>and </a:t>
            </a:r>
            <a:r>
              <a:rPr lang="en-US" sz="8000" dirty="0">
                <a:solidFill>
                  <a:srgbClr val="00B0F0"/>
                </a:solidFill>
                <a:latin typeface="Californian FB" pitchFamily="18" charset="0"/>
              </a:rPr>
              <a:t>export promotion </a:t>
            </a:r>
            <a:r>
              <a:rPr lang="en-US" sz="8000" dirty="0">
                <a:latin typeface="Californian FB" pitchFamily="18" charset="0"/>
              </a:rPr>
              <a:t>results in more economic independence to the country.</a:t>
            </a:r>
          </a:p>
          <a:p>
            <a:pPr algn="just">
              <a:lnSpc>
                <a:spcPct val="150000"/>
              </a:lnSpc>
              <a:buNone/>
            </a:pPr>
            <a:r>
              <a:rPr lang="en-US" sz="9800" dirty="0">
                <a:latin typeface="Californian FB" pitchFamily="18" charset="0"/>
              </a:rPr>
              <a:t>7</a:t>
            </a:r>
            <a:r>
              <a:rPr lang="en-US" sz="8000" b="1" dirty="0">
                <a:latin typeface="Californian FB" pitchFamily="18" charset="0"/>
              </a:rPr>
              <a:t>. </a:t>
            </a:r>
            <a:r>
              <a:rPr lang="en-US" sz="8000" b="1" dirty="0">
                <a:solidFill>
                  <a:srgbClr val="002060"/>
                </a:solidFill>
                <a:effectLst>
                  <a:outerShdw blurRad="38100" dist="38100" dir="2700000" algn="tl">
                    <a:srgbClr val="000000">
                      <a:alpha val="43137"/>
                    </a:srgbClr>
                  </a:outerShdw>
                </a:effectLst>
                <a:latin typeface="Californian FB" pitchFamily="18" charset="0"/>
              </a:rPr>
              <a:t>Combine Economic factors</a:t>
            </a:r>
            <a:r>
              <a:rPr lang="en-US" sz="8000" b="1" dirty="0">
                <a:latin typeface="Californian FB" pitchFamily="18" charset="0"/>
              </a:rPr>
              <a:t>: </a:t>
            </a:r>
            <a:r>
              <a:rPr lang="en-US" sz="8000" dirty="0">
                <a:latin typeface="Californian FB" pitchFamily="18" charset="0"/>
              </a:rPr>
              <a:t>All the products bought and sold in an economy are a mix of three primary economic factors (</a:t>
            </a:r>
            <a:r>
              <a:rPr lang="en-US" sz="8000" dirty="0">
                <a:solidFill>
                  <a:srgbClr val="FF0000"/>
                </a:solidFill>
                <a:latin typeface="Californian FB" pitchFamily="18" charset="0"/>
              </a:rPr>
              <a:t>the raw materials</a:t>
            </a:r>
            <a:r>
              <a:rPr lang="en-US" sz="8000" dirty="0">
                <a:latin typeface="Californian FB" pitchFamily="18" charset="0"/>
              </a:rPr>
              <a:t>, nature offers up, </a:t>
            </a:r>
            <a:r>
              <a:rPr lang="en-US" sz="8000" dirty="0">
                <a:solidFill>
                  <a:srgbClr val="FF0000"/>
                </a:solidFill>
                <a:latin typeface="Californian FB" pitchFamily="18" charset="0"/>
              </a:rPr>
              <a:t>the physical and mental labor people provide </a:t>
            </a:r>
            <a:r>
              <a:rPr lang="en-US" sz="8000" dirty="0">
                <a:latin typeface="Californian FB" pitchFamily="18" charset="0"/>
              </a:rPr>
              <a:t>and </a:t>
            </a:r>
            <a:r>
              <a:rPr lang="en-US" sz="8000" dirty="0">
                <a:solidFill>
                  <a:srgbClr val="FF0000"/>
                </a:solidFill>
                <a:latin typeface="Californian FB" pitchFamily="18" charset="0"/>
              </a:rPr>
              <a:t>capital </a:t>
            </a:r>
            <a:r>
              <a:rPr lang="en-US" sz="8000" dirty="0" smtClean="0">
                <a:solidFill>
                  <a:srgbClr val="FF0000"/>
                </a:solidFill>
                <a:latin typeface="Californian FB" pitchFamily="18" charset="0"/>
              </a:rPr>
              <a:t>money)</a:t>
            </a:r>
            <a:endParaRPr lang="en-US" sz="9800" dirty="0">
              <a:solidFill>
                <a:srgbClr val="FF0000"/>
              </a:solidFill>
              <a:latin typeface="Californian FB" pitchFamily="18" charset="0"/>
            </a:endParaRPr>
          </a:p>
          <a:p>
            <a:pPr algn="just">
              <a:lnSpc>
                <a:spcPct val="150000"/>
              </a:lnSpc>
              <a:buNone/>
            </a:pPr>
            <a:r>
              <a:rPr lang="en-US" sz="9800" dirty="0">
                <a:latin typeface="Californian FB" pitchFamily="18" charset="0"/>
              </a:rPr>
              <a:t>8. </a:t>
            </a:r>
            <a:r>
              <a:rPr lang="en-US" sz="8000" b="1" dirty="0">
                <a:solidFill>
                  <a:srgbClr val="002060"/>
                </a:solidFill>
                <a:effectLst>
                  <a:outerShdw blurRad="38100" dist="38100" dir="2700000" algn="tl">
                    <a:srgbClr val="000000">
                      <a:alpha val="43137"/>
                    </a:srgbClr>
                  </a:outerShdw>
                </a:effectLst>
                <a:latin typeface="Californian FB" pitchFamily="18" charset="0"/>
              </a:rPr>
              <a:t>Provide Market efficiency</a:t>
            </a:r>
            <a:r>
              <a:rPr lang="en-US" sz="8000" dirty="0">
                <a:latin typeface="Californian FB" pitchFamily="18" charset="0"/>
              </a:rPr>
              <a:t>: Efficient means resources are distributed with out wastage in an optimal way that is the satisfaction that people can gain from them is maximized</a:t>
            </a:r>
          </a:p>
        </p:txBody>
      </p:sp>
      <p:sp>
        <p:nvSpPr>
          <p:cNvPr id="1048639" name="Slide Number Placeholder 3"/>
          <p:cNvSpPr>
            <a:spLocks noGrp="1"/>
          </p:cNvSpPr>
          <p:nvPr>
            <p:ph type="sldNum" sz="quarter" idx="12"/>
          </p:nvPr>
        </p:nvSpPr>
        <p:spPr/>
        <p:txBody>
          <a:bodyPr/>
          <a:lstStyle/>
          <a:p>
            <a:fld id="{291E2FA6-9605-47D5-89F4-3EA67C449664}"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0" name="Content Placeholder 2"/>
          <p:cNvSpPr>
            <a:spLocks noGrp="1"/>
          </p:cNvSpPr>
          <p:nvPr>
            <p:ph idx="1"/>
          </p:nvPr>
        </p:nvSpPr>
        <p:spPr>
          <a:xfrm>
            <a:off x="457200" y="609600"/>
            <a:ext cx="8382000" cy="5516563"/>
          </a:xfrm>
        </p:spPr>
        <p:style>
          <a:lnRef idx="2">
            <a:schemeClr val="accent1"/>
          </a:lnRef>
          <a:fillRef idx="1">
            <a:schemeClr val="lt1"/>
          </a:fillRef>
          <a:effectRef idx="0">
            <a:schemeClr val="accent1"/>
          </a:effectRef>
          <a:fontRef idx="minor">
            <a:schemeClr val="dk1"/>
          </a:fontRef>
        </p:style>
        <p:txBody>
          <a:bodyPr>
            <a:normAutofit fontScale="27500" lnSpcReduction="20000"/>
          </a:bodyPr>
          <a:lstStyle/>
          <a:p>
            <a:pPr algn="just">
              <a:lnSpc>
                <a:spcPct val="170000"/>
              </a:lnSpc>
              <a:buNone/>
            </a:pPr>
            <a:r>
              <a:rPr lang="en-US" sz="8000" b="1" dirty="0"/>
              <a:t>9. </a:t>
            </a:r>
            <a:r>
              <a:rPr lang="en-US" sz="8000" b="1" dirty="0">
                <a:solidFill>
                  <a:srgbClr val="002060"/>
                </a:solidFill>
                <a:effectLst>
                  <a:outerShdw blurRad="38100" dist="38100" dir="2700000" algn="tl">
                    <a:srgbClr val="000000">
                      <a:alpha val="43137"/>
                    </a:srgbClr>
                  </a:outerShdw>
                </a:effectLst>
                <a:latin typeface="Californian FB" pitchFamily="18" charset="0"/>
              </a:rPr>
              <a:t>Accepting Risk</a:t>
            </a:r>
            <a:r>
              <a:rPr lang="en-US" sz="8000" b="1" dirty="0">
                <a:latin typeface="Californian FB" pitchFamily="18" charset="0"/>
              </a:rPr>
              <a:t>: </a:t>
            </a:r>
            <a:r>
              <a:rPr lang="en-US" sz="8000" dirty="0">
                <a:latin typeface="Californian FB" pitchFamily="18" charset="0"/>
              </a:rPr>
              <a:t>Risk is the potential variation in terms of future outcomes </a:t>
            </a:r>
            <a:r>
              <a:rPr lang="en-US" sz="8000" b="1" dirty="0">
                <a:latin typeface="Californian FB" pitchFamily="18" charset="0"/>
              </a:rPr>
              <a:t>. </a:t>
            </a:r>
            <a:r>
              <a:rPr lang="en-US" sz="8000" dirty="0">
                <a:latin typeface="Californian FB" pitchFamily="18" charset="0"/>
              </a:rPr>
              <a:t>We do not know exactly what the future will bring. </a:t>
            </a:r>
          </a:p>
          <a:p>
            <a:pPr algn="just">
              <a:lnSpc>
                <a:spcPct val="170000"/>
              </a:lnSpc>
              <a:buNone/>
            </a:pPr>
            <a:r>
              <a:rPr lang="en-US" sz="8000" dirty="0">
                <a:latin typeface="Californian FB" pitchFamily="18" charset="0"/>
              </a:rPr>
              <a:t>   This lack of knowledge creates uncertainty. </a:t>
            </a:r>
          </a:p>
          <a:p>
            <a:pPr algn="just">
              <a:lnSpc>
                <a:spcPct val="170000"/>
              </a:lnSpc>
              <a:buNone/>
            </a:pPr>
            <a:r>
              <a:rPr lang="en-US" sz="8000" dirty="0">
                <a:latin typeface="Californian FB" pitchFamily="18" charset="0"/>
              </a:rPr>
              <a:t>   Here the primary function of the entrepreneur is to accept risk on behalf of other people.</a:t>
            </a:r>
          </a:p>
          <a:p>
            <a:pPr algn="just">
              <a:lnSpc>
                <a:spcPct val="200000"/>
              </a:lnSpc>
              <a:buNone/>
            </a:pPr>
            <a:r>
              <a:rPr lang="en-US" sz="8000" b="1" dirty="0">
                <a:latin typeface="Californian FB" pitchFamily="18" charset="0"/>
              </a:rPr>
              <a:t>10. </a:t>
            </a:r>
            <a:r>
              <a:rPr lang="en-US" sz="8000" b="1" dirty="0">
                <a:solidFill>
                  <a:srgbClr val="002060"/>
                </a:solidFill>
                <a:effectLst>
                  <a:outerShdw blurRad="38100" dist="38100" dir="2700000" algn="tl">
                    <a:srgbClr val="000000">
                      <a:alpha val="43137"/>
                    </a:srgbClr>
                  </a:outerShdw>
                </a:effectLst>
                <a:latin typeface="Californian FB" pitchFamily="18" charset="0"/>
              </a:rPr>
              <a:t>Maximize Investor’s Return</a:t>
            </a:r>
            <a:r>
              <a:rPr lang="en-US" sz="8000" b="1" dirty="0">
                <a:latin typeface="Californian FB" pitchFamily="18" charset="0"/>
              </a:rPr>
              <a:t>: </a:t>
            </a:r>
            <a:r>
              <a:rPr lang="en-US" sz="8000" dirty="0">
                <a:latin typeface="Californian FB" pitchFamily="18" charset="0"/>
              </a:rPr>
              <a:t>Entrepreneurs create and run organizations</a:t>
            </a:r>
            <a:r>
              <a:rPr lang="en-US" sz="8000" b="1" dirty="0">
                <a:latin typeface="Californian FB" pitchFamily="18" charset="0"/>
              </a:rPr>
              <a:t> </a:t>
            </a:r>
            <a:r>
              <a:rPr lang="en-US" sz="8000" dirty="0">
                <a:latin typeface="Californian FB" pitchFamily="18" charset="0"/>
              </a:rPr>
              <a:t>which maximize long-term profit on behalf of the investors which in turn generates overall economic efficiency.</a:t>
            </a:r>
          </a:p>
        </p:txBody>
      </p:sp>
      <p:sp>
        <p:nvSpPr>
          <p:cNvPr id="1048641" name="Slide Number Placeholder 3"/>
          <p:cNvSpPr>
            <a:spLocks noGrp="1"/>
          </p:cNvSpPr>
          <p:nvPr>
            <p:ph type="sldNum" sz="quarter" idx="12"/>
          </p:nvPr>
        </p:nvSpPr>
        <p:spPr/>
        <p:txBody>
          <a:bodyPr/>
          <a:lstStyle/>
          <a:p>
            <a:fld id="{291E2FA6-9605-47D5-89F4-3EA67C449664}"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3" name="Content Placeholder 2"/>
          <p:cNvSpPr>
            <a:spLocks noGrp="1"/>
          </p:cNvSpPr>
          <p:nvPr>
            <p:ph idx="1"/>
          </p:nvPr>
        </p:nvSpPr>
        <p:spPr>
          <a:xfrm>
            <a:off x="457200" y="1066800"/>
            <a:ext cx="8382000" cy="5334000"/>
          </a:xfrm>
        </p:spPr>
        <p:style>
          <a:lnRef idx="2">
            <a:schemeClr val="accent1"/>
          </a:lnRef>
          <a:fillRef idx="1">
            <a:schemeClr val="lt1"/>
          </a:fillRef>
          <a:effectRef idx="0">
            <a:schemeClr val="accent1"/>
          </a:effectRef>
          <a:fontRef idx="minor">
            <a:schemeClr val="dk1"/>
          </a:fontRef>
        </p:style>
        <p:txBody>
          <a:bodyPr>
            <a:noAutofit/>
          </a:bodyPr>
          <a:lstStyle/>
          <a:p>
            <a:pPr algn="just">
              <a:lnSpc>
                <a:spcPct val="150000"/>
              </a:lnSpc>
              <a:buNone/>
            </a:pPr>
            <a:r>
              <a:rPr lang="en-US" sz="2000" dirty="0">
                <a:latin typeface="Californian FB" pitchFamily="18" charset="0"/>
              </a:rPr>
              <a:t>Anyone with the following characteristics can be an entrepreneur.</a:t>
            </a:r>
          </a:p>
          <a:p>
            <a:pPr algn="just">
              <a:lnSpc>
                <a:spcPct val="150000"/>
              </a:lnSpc>
              <a:buNone/>
            </a:pPr>
            <a:r>
              <a:rPr lang="en-US" sz="2000" b="1" dirty="0">
                <a:latin typeface="Californian FB" pitchFamily="18" charset="0"/>
              </a:rPr>
              <a:t>1) </a:t>
            </a:r>
            <a:r>
              <a:rPr lang="en-US" sz="2000" b="1" dirty="0">
                <a:solidFill>
                  <a:srgbClr val="002060"/>
                </a:solidFill>
                <a:effectLst>
                  <a:outerShdw blurRad="38100" dist="38100" dir="2700000" algn="tl">
                    <a:srgbClr val="000000">
                      <a:alpha val="43137"/>
                    </a:srgbClr>
                  </a:outerShdw>
                </a:effectLst>
                <a:latin typeface="Californian FB" pitchFamily="18" charset="0"/>
              </a:rPr>
              <a:t>The Young Professional</a:t>
            </a:r>
            <a:r>
              <a:rPr lang="en-US" sz="2000" b="1" dirty="0">
                <a:latin typeface="Californian FB" pitchFamily="18" charset="0"/>
              </a:rPr>
              <a:t>: </a:t>
            </a:r>
            <a:r>
              <a:rPr lang="en-US" sz="2000" dirty="0">
                <a:latin typeface="Californian FB" pitchFamily="18" charset="0"/>
              </a:rPr>
              <a:t>Increasingly young highly educated people with experience of working for an established organization and moving directly to work on establishing their own ventures.</a:t>
            </a:r>
          </a:p>
          <a:p>
            <a:pPr algn="just">
              <a:lnSpc>
                <a:spcPct val="150000"/>
              </a:lnSpc>
              <a:buNone/>
            </a:pPr>
            <a:r>
              <a:rPr lang="en-US" sz="2000" b="1" dirty="0">
                <a:latin typeface="Californian FB" pitchFamily="18" charset="0"/>
              </a:rPr>
              <a:t>2) </a:t>
            </a:r>
            <a:r>
              <a:rPr lang="en-US" sz="2000" b="1" dirty="0">
                <a:solidFill>
                  <a:srgbClr val="002060"/>
                </a:solidFill>
                <a:effectLst>
                  <a:outerShdw blurRad="38100" dist="38100" dir="2700000" algn="tl">
                    <a:srgbClr val="000000">
                      <a:alpha val="43137"/>
                    </a:srgbClr>
                  </a:outerShdw>
                </a:effectLst>
                <a:latin typeface="Californian FB" pitchFamily="18" charset="0"/>
              </a:rPr>
              <a:t>The Inventor</a:t>
            </a:r>
            <a:r>
              <a:rPr lang="en-US" sz="2000" b="1" dirty="0">
                <a:latin typeface="Californian FB" pitchFamily="18" charset="0"/>
              </a:rPr>
              <a:t>: </a:t>
            </a:r>
            <a:r>
              <a:rPr lang="en-US" sz="2000" dirty="0">
                <a:latin typeface="Californian FB" pitchFamily="18" charset="0"/>
              </a:rPr>
              <a:t>The inventor is someone who has developed an innovation and who has decided to make a career out of presenting that innovation to the market. </a:t>
            </a:r>
            <a:endParaRPr lang="en-US" dirty="0">
              <a:latin typeface="Californian FB" pitchFamily="18" charset="0"/>
            </a:endParaRPr>
          </a:p>
          <a:p>
            <a:pPr marL="0" indent="0" algn="just">
              <a:lnSpc>
                <a:spcPct val="150000"/>
              </a:lnSpc>
              <a:buNone/>
            </a:pPr>
            <a:r>
              <a:rPr lang="en-US" sz="2000" b="1" dirty="0">
                <a:latin typeface="Californian FB" pitchFamily="18" charset="0"/>
              </a:rPr>
              <a:t>3. </a:t>
            </a:r>
            <a:r>
              <a:rPr lang="en-US" sz="2000" b="1" dirty="0">
                <a:solidFill>
                  <a:srgbClr val="002060"/>
                </a:solidFill>
                <a:effectLst>
                  <a:outerShdw blurRad="38100" dist="38100" dir="2700000" algn="tl">
                    <a:srgbClr val="000000">
                      <a:alpha val="43137"/>
                    </a:srgbClr>
                  </a:outerShdw>
                </a:effectLst>
                <a:latin typeface="Californian FB" pitchFamily="18" charset="0"/>
              </a:rPr>
              <a:t>The Excluded</a:t>
            </a:r>
            <a:r>
              <a:rPr lang="en-US" sz="2000" b="1" dirty="0">
                <a:latin typeface="Californian FB" pitchFamily="18" charset="0"/>
              </a:rPr>
              <a:t>: </a:t>
            </a:r>
            <a:r>
              <a:rPr lang="en-US" sz="2000" dirty="0">
                <a:latin typeface="Californian FB" pitchFamily="18" charset="0"/>
              </a:rPr>
              <a:t>Some people turn to an entrepreneurial career because nothing is open to</a:t>
            </a:r>
            <a:r>
              <a:rPr lang="en-US" sz="2000" b="1" dirty="0">
                <a:latin typeface="Californian FB" pitchFamily="18" charset="0"/>
              </a:rPr>
              <a:t> </a:t>
            </a:r>
            <a:r>
              <a:rPr lang="en-US" sz="2000" dirty="0">
                <a:latin typeface="Californian FB" pitchFamily="18" charset="0"/>
              </a:rPr>
              <a:t>them. Displaced communities and ethnic and religious minorities have not been invited to join the wider economic community due to a variety of social, cultural and political and historical reasons.</a:t>
            </a:r>
            <a:endParaRPr lang="en-US" sz="2000" b="1" i="1" dirty="0">
              <a:latin typeface="Californian FB" pitchFamily="18" charset="0"/>
            </a:endParaRPr>
          </a:p>
        </p:txBody>
      </p:sp>
      <p:sp>
        <p:nvSpPr>
          <p:cNvPr id="1048644" name="Slide Number Placeholder 3"/>
          <p:cNvSpPr>
            <a:spLocks noGrp="1"/>
          </p:cNvSpPr>
          <p:nvPr>
            <p:ph type="sldNum" sz="quarter" idx="12"/>
          </p:nvPr>
        </p:nvSpPr>
        <p:spPr/>
        <p:txBody>
          <a:bodyPr/>
          <a:lstStyle/>
          <a:p>
            <a:fld id="{291E2FA6-9605-47D5-89F4-3EA67C449664}" type="slidenum">
              <a:rPr lang="en-US" smtClean="0"/>
              <a:pPr/>
              <a:t>12</a:t>
            </a:fld>
            <a:endParaRPr lang="en-US"/>
          </a:p>
        </p:txBody>
      </p:sp>
      <p:sp>
        <p:nvSpPr>
          <p:cNvPr id="1048642" name="Title 1"/>
          <p:cNvSpPr>
            <a:spLocks noGrp="1"/>
          </p:cNvSpPr>
          <p:nvPr>
            <p:ph type="title"/>
          </p:nvPr>
        </p:nvSpPr>
        <p:spPr>
          <a:xfrm>
            <a:off x="457200" y="381000"/>
            <a:ext cx="8382000" cy="715962"/>
          </a:xfrm>
          <a:solidFill>
            <a:srgbClr val="00B0F0"/>
          </a:solidFill>
        </p:spPr>
        <p:style>
          <a:lnRef idx="2">
            <a:schemeClr val="dk1"/>
          </a:lnRef>
          <a:fillRef idx="1">
            <a:schemeClr val="lt1"/>
          </a:fillRef>
          <a:effectRef idx="0">
            <a:schemeClr val="dk1"/>
          </a:effectRef>
          <a:fontRef idx="minor">
            <a:schemeClr val="dk1"/>
          </a:fontRef>
        </p:style>
        <p:txBody>
          <a:bodyPr>
            <a:normAutofit/>
          </a:bodyPr>
          <a:lstStyle/>
          <a:p>
            <a:pPr>
              <a:lnSpc>
                <a:spcPct val="150000"/>
              </a:lnSpc>
            </a:pPr>
            <a:r>
              <a:rPr lang="en-US" sz="2400" b="1" dirty="0" smtClean="0"/>
              <a:t>1.5.1 </a:t>
            </a:r>
            <a:r>
              <a:rPr lang="en-US" sz="2400" b="1" dirty="0"/>
              <a:t>Who Becomes an Entrepreneur?</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6" name="Content Placeholder 2"/>
          <p:cNvSpPr>
            <a:spLocks noGrp="1"/>
          </p:cNvSpPr>
          <p:nvPr>
            <p:ph idx="1"/>
          </p:nvPr>
        </p:nvSpPr>
        <p:spPr>
          <a:xfrm>
            <a:off x="457200" y="914400"/>
            <a:ext cx="8229600" cy="5410200"/>
          </a:xfrm>
        </p:spPr>
        <p:style>
          <a:lnRef idx="2">
            <a:schemeClr val="accent1"/>
          </a:lnRef>
          <a:fillRef idx="1">
            <a:schemeClr val="lt1"/>
          </a:fillRef>
          <a:effectRef idx="0">
            <a:schemeClr val="accent1"/>
          </a:effectRef>
          <a:fontRef idx="minor">
            <a:schemeClr val="dk1"/>
          </a:fontRef>
        </p:style>
        <p:txBody>
          <a:bodyPr>
            <a:noAutofit/>
          </a:bodyPr>
          <a:lstStyle/>
          <a:p>
            <a:pPr algn="just">
              <a:lnSpc>
                <a:spcPct val="150000"/>
              </a:lnSpc>
              <a:buNone/>
            </a:pPr>
            <a:r>
              <a:rPr lang="en-US" sz="1800" b="1" dirty="0">
                <a:latin typeface="Californian FB" pitchFamily="18" charset="0"/>
              </a:rPr>
              <a:t>In order to be successful, an entrepreneur should have the following qualities:</a:t>
            </a:r>
          </a:p>
          <a:p>
            <a:pPr algn="just"/>
            <a:r>
              <a:rPr lang="en-US" sz="2000" dirty="0">
                <a:latin typeface="Californian FB" pitchFamily="18" charset="0"/>
              </a:rPr>
              <a:t> Opportunity-seeking,</a:t>
            </a:r>
          </a:p>
          <a:p>
            <a:pPr algn="just"/>
            <a:r>
              <a:rPr lang="en-US" sz="2000" dirty="0">
                <a:latin typeface="Californian FB" pitchFamily="18" charset="0"/>
              </a:rPr>
              <a:t>Persevering (concerted effort towards the successful completion of goal)</a:t>
            </a:r>
          </a:p>
          <a:p>
            <a:pPr algn="just"/>
            <a:r>
              <a:rPr lang="en-US" sz="2000" dirty="0">
                <a:latin typeface="Californian FB" pitchFamily="18" charset="0"/>
              </a:rPr>
              <a:t>Risk Taking</a:t>
            </a:r>
          </a:p>
          <a:p>
            <a:pPr algn="just"/>
            <a:r>
              <a:rPr lang="en-US" sz="2000" dirty="0">
                <a:latin typeface="Californian FB" pitchFamily="18" charset="0"/>
              </a:rPr>
              <a:t> Demanding for efficiency and quality</a:t>
            </a:r>
          </a:p>
          <a:p>
            <a:pPr algn="just"/>
            <a:r>
              <a:rPr lang="en-US" sz="2000" dirty="0">
                <a:latin typeface="Californian FB" pitchFamily="18" charset="0"/>
              </a:rPr>
              <a:t> Information-seeking</a:t>
            </a:r>
          </a:p>
          <a:p>
            <a:pPr algn="just"/>
            <a:r>
              <a:rPr lang="en-US" sz="2000" dirty="0">
                <a:latin typeface="Californian FB" pitchFamily="18" charset="0"/>
              </a:rPr>
              <a:t> Goal, objective Setting </a:t>
            </a:r>
          </a:p>
          <a:p>
            <a:pPr algn="just"/>
            <a:r>
              <a:rPr lang="en-US" sz="2000" dirty="0">
                <a:latin typeface="Californian FB" pitchFamily="18" charset="0"/>
              </a:rPr>
              <a:t> Planning</a:t>
            </a:r>
          </a:p>
          <a:p>
            <a:pPr algn="just"/>
            <a:r>
              <a:rPr lang="en-US" sz="2000" dirty="0">
                <a:latin typeface="Californian FB" pitchFamily="18" charset="0"/>
              </a:rPr>
              <a:t>Persuasion and networking</a:t>
            </a:r>
          </a:p>
          <a:p>
            <a:pPr algn="just"/>
            <a:r>
              <a:rPr lang="en-US" sz="2000" dirty="0">
                <a:latin typeface="Californian FB" pitchFamily="18" charset="0"/>
              </a:rPr>
              <a:t>Building self-confidence</a:t>
            </a:r>
          </a:p>
          <a:p>
            <a:pPr algn="just"/>
            <a:r>
              <a:rPr lang="en-US" sz="2000" dirty="0">
                <a:latin typeface="Californian FB" pitchFamily="18" charset="0"/>
              </a:rPr>
              <a:t> Listening to others</a:t>
            </a:r>
          </a:p>
          <a:p>
            <a:pPr algn="just"/>
            <a:r>
              <a:rPr lang="en-US" sz="2000" dirty="0">
                <a:latin typeface="Californian FB" pitchFamily="18" charset="0"/>
              </a:rPr>
              <a:t> Demonstrating leadership</a:t>
            </a:r>
          </a:p>
        </p:txBody>
      </p:sp>
      <p:sp>
        <p:nvSpPr>
          <p:cNvPr id="1048647" name="Slide Number Placeholder 3"/>
          <p:cNvSpPr>
            <a:spLocks noGrp="1"/>
          </p:cNvSpPr>
          <p:nvPr>
            <p:ph type="sldNum" sz="quarter" idx="12"/>
          </p:nvPr>
        </p:nvSpPr>
        <p:spPr/>
        <p:txBody>
          <a:bodyPr/>
          <a:lstStyle/>
          <a:p>
            <a:fld id="{291E2FA6-9605-47D5-89F4-3EA67C449664}" type="slidenum">
              <a:rPr lang="en-US" smtClean="0"/>
              <a:pPr/>
              <a:t>13</a:t>
            </a:fld>
            <a:endParaRPr lang="en-US"/>
          </a:p>
        </p:txBody>
      </p:sp>
      <p:sp>
        <p:nvSpPr>
          <p:cNvPr id="1048645" name="Title 1"/>
          <p:cNvSpPr>
            <a:spLocks noGrp="1"/>
          </p:cNvSpPr>
          <p:nvPr>
            <p:ph type="title"/>
          </p:nvPr>
        </p:nvSpPr>
        <p:spPr>
          <a:xfrm>
            <a:off x="457200" y="304800"/>
            <a:ext cx="8229600" cy="609600"/>
          </a:xfrm>
          <a:solidFill>
            <a:srgbClr val="00B0F0"/>
          </a:solidFill>
        </p:spPr>
        <p:style>
          <a:lnRef idx="2">
            <a:schemeClr val="dk1"/>
          </a:lnRef>
          <a:fillRef idx="1">
            <a:schemeClr val="lt1"/>
          </a:fillRef>
          <a:effectRef idx="0">
            <a:schemeClr val="dk1"/>
          </a:effectRef>
          <a:fontRef idx="minor">
            <a:schemeClr val="dk1"/>
          </a:fontRef>
        </p:style>
        <p:txBody>
          <a:bodyPr>
            <a:normAutofit/>
          </a:bodyPr>
          <a:lstStyle/>
          <a:p>
            <a:r>
              <a:rPr lang="en-US" sz="2400" b="1" dirty="0" smtClean="0"/>
              <a:t>1.5.2 </a:t>
            </a:r>
            <a:r>
              <a:rPr lang="en-US" sz="2400" b="1" dirty="0"/>
              <a:t>Qualities of an Entrepreneur</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9" name="Content Placeholder 2"/>
          <p:cNvSpPr>
            <a:spLocks noGrp="1"/>
          </p:cNvSpPr>
          <p:nvPr>
            <p:ph idx="1"/>
          </p:nvPr>
        </p:nvSpPr>
        <p:spPr>
          <a:xfrm>
            <a:off x="457200" y="914400"/>
            <a:ext cx="8229600" cy="5410200"/>
          </a:xfrm>
          <a:ln>
            <a:solidFill>
              <a:srgbClr val="FF0000"/>
            </a:solidFill>
          </a:ln>
        </p:spPr>
        <p:txBody>
          <a:bodyPr>
            <a:noAutofit/>
          </a:bodyPr>
          <a:lstStyle/>
          <a:p>
            <a:pPr algn="just">
              <a:lnSpc>
                <a:spcPct val="150000"/>
              </a:lnSpc>
            </a:pPr>
            <a:r>
              <a:rPr lang="en-US" sz="2000" i="1" dirty="0" smtClean="0">
                <a:latin typeface="Californian FB" pitchFamily="18" charset="0"/>
              </a:rPr>
              <a:t>A skill simply </a:t>
            </a:r>
            <a:r>
              <a:rPr lang="en-US" sz="2000" b="1" i="1" dirty="0" smtClean="0">
                <a:latin typeface="Californian FB" pitchFamily="18" charset="0"/>
              </a:rPr>
              <a:t>knowledge</a:t>
            </a:r>
            <a:r>
              <a:rPr lang="en-US" sz="2000" i="1" dirty="0" smtClean="0">
                <a:latin typeface="Californian FB" pitchFamily="18" charset="0"/>
              </a:rPr>
              <a:t> which is demonstrated by action. It is an </a:t>
            </a:r>
            <a:r>
              <a:rPr lang="en-US" sz="2000" b="1" i="1" dirty="0" smtClean="0">
                <a:latin typeface="Californian FB" pitchFamily="18" charset="0"/>
              </a:rPr>
              <a:t>ability</a:t>
            </a:r>
            <a:r>
              <a:rPr lang="en-US" sz="2000" i="1" dirty="0" smtClean="0">
                <a:latin typeface="Californian FB" pitchFamily="18" charset="0"/>
              </a:rPr>
              <a:t> to perform in a certain way. An entrepreneur is someone who has a </a:t>
            </a:r>
            <a:r>
              <a:rPr lang="en-US" sz="2000" b="1" i="1" dirty="0" smtClean="0">
                <a:latin typeface="Californian FB" pitchFamily="18" charset="0"/>
              </a:rPr>
              <a:t>good business idea </a:t>
            </a:r>
            <a:r>
              <a:rPr lang="en-US" sz="2000" i="1" dirty="0" smtClean="0">
                <a:latin typeface="Californian FB" pitchFamily="18" charset="0"/>
              </a:rPr>
              <a:t>and can turn that idea into reality. </a:t>
            </a:r>
          </a:p>
          <a:p>
            <a:pPr algn="just">
              <a:lnSpc>
                <a:spcPct val="150000"/>
              </a:lnSpc>
            </a:pPr>
            <a:r>
              <a:rPr lang="en-US" sz="1800" dirty="0" smtClean="0">
                <a:latin typeface="Californian FB" pitchFamily="18" charset="0"/>
              </a:rPr>
              <a:t>Types of skill: There are two types of skill. These are:</a:t>
            </a:r>
          </a:p>
          <a:p>
            <a:pPr algn="just">
              <a:lnSpc>
                <a:spcPct val="150000"/>
              </a:lnSpc>
              <a:buAutoNum type="arabicPeriod"/>
            </a:pPr>
            <a:r>
              <a:rPr lang="en-US" sz="2000" b="1" dirty="0" smtClean="0">
                <a:solidFill>
                  <a:srgbClr val="7030A0"/>
                </a:solidFill>
                <a:latin typeface="Californian FB" pitchFamily="18" charset="0"/>
              </a:rPr>
              <a:t>General </a:t>
            </a:r>
            <a:r>
              <a:rPr lang="en-US" sz="2000" b="1" dirty="0">
                <a:solidFill>
                  <a:srgbClr val="7030A0"/>
                </a:solidFill>
                <a:latin typeface="Californian FB" pitchFamily="18" charset="0"/>
              </a:rPr>
              <a:t>management skills </a:t>
            </a:r>
            <a:r>
              <a:rPr lang="en-US" sz="1800" dirty="0">
                <a:latin typeface="Californian FB" pitchFamily="18" charset="0"/>
              </a:rPr>
              <a:t>: These are skills required to organize the physical and financial resources needed to run the venture.</a:t>
            </a:r>
          </a:p>
          <a:p>
            <a:pPr algn="just">
              <a:lnSpc>
                <a:spcPct val="150000"/>
              </a:lnSpc>
              <a:buFont typeface="Wingdings" pitchFamily="2" charset="2"/>
              <a:buChar char="Ø"/>
            </a:pPr>
            <a:r>
              <a:rPr lang="en-US" sz="1800" b="1" i="1" dirty="0">
                <a:effectLst>
                  <a:outerShdw blurRad="38100" dist="38100" dir="2700000" algn="tl">
                    <a:srgbClr val="000000">
                      <a:alpha val="43137"/>
                    </a:srgbClr>
                  </a:outerShdw>
                </a:effectLst>
                <a:latin typeface="Californian FB" pitchFamily="18" charset="0"/>
              </a:rPr>
              <a:t>Strategy Skills </a:t>
            </a:r>
            <a:r>
              <a:rPr lang="en-US" sz="1800" b="1" i="1" dirty="0">
                <a:latin typeface="Californian FB" pitchFamily="18" charset="0"/>
              </a:rPr>
              <a:t>– </a:t>
            </a:r>
            <a:r>
              <a:rPr lang="en-US" sz="1800" i="1" dirty="0">
                <a:latin typeface="Californian FB" pitchFamily="18" charset="0"/>
              </a:rPr>
              <a:t>An ability to consider the business as a whole, </a:t>
            </a:r>
          </a:p>
          <a:p>
            <a:pPr algn="just">
              <a:lnSpc>
                <a:spcPct val="150000"/>
              </a:lnSpc>
              <a:buFont typeface="Wingdings" pitchFamily="2" charset="2"/>
              <a:buChar char="Ø"/>
            </a:pPr>
            <a:r>
              <a:rPr lang="en-US" sz="1800" b="1" i="1" dirty="0">
                <a:effectLst>
                  <a:outerShdw blurRad="38100" dist="38100" dir="2700000" algn="tl">
                    <a:srgbClr val="000000">
                      <a:alpha val="43137"/>
                    </a:srgbClr>
                  </a:outerShdw>
                </a:effectLst>
                <a:latin typeface="Californian FB" pitchFamily="18" charset="0"/>
              </a:rPr>
              <a:t>Planning Skills </a:t>
            </a:r>
            <a:r>
              <a:rPr lang="en-US" sz="1800" b="1" i="1" dirty="0">
                <a:latin typeface="Californian FB" pitchFamily="18" charset="0"/>
              </a:rPr>
              <a:t>– </a:t>
            </a:r>
            <a:r>
              <a:rPr lang="en-US" sz="1800" i="1" dirty="0">
                <a:latin typeface="Californian FB" pitchFamily="18" charset="0"/>
              </a:rPr>
              <a:t>An ability to consider what the future might offer, how it will </a:t>
            </a:r>
            <a:r>
              <a:rPr lang="en-US" sz="1800" dirty="0">
                <a:latin typeface="Californian FB" pitchFamily="18" charset="0"/>
              </a:rPr>
              <a:t>impact on the business and what needs to be done</a:t>
            </a:r>
          </a:p>
          <a:p>
            <a:pPr algn="just">
              <a:lnSpc>
                <a:spcPct val="150000"/>
              </a:lnSpc>
              <a:buFont typeface="Wingdings" pitchFamily="2" charset="2"/>
              <a:buChar char="Ø"/>
            </a:pPr>
            <a:r>
              <a:rPr lang="en-US" sz="1800" b="1" i="1" dirty="0">
                <a:effectLst>
                  <a:outerShdw blurRad="38100" dist="38100" dir="2700000" algn="tl">
                    <a:srgbClr val="000000">
                      <a:alpha val="43137"/>
                    </a:srgbClr>
                  </a:outerShdw>
                </a:effectLst>
                <a:latin typeface="Californian FB" pitchFamily="18" charset="0"/>
              </a:rPr>
              <a:t>Marketing Skills </a:t>
            </a:r>
            <a:r>
              <a:rPr lang="en-US" sz="1800" b="1" i="1" dirty="0">
                <a:latin typeface="Californian FB" pitchFamily="18" charset="0"/>
              </a:rPr>
              <a:t>– </a:t>
            </a:r>
            <a:r>
              <a:rPr lang="en-US" sz="1800" i="1" dirty="0">
                <a:latin typeface="Californian FB" pitchFamily="18" charset="0"/>
              </a:rPr>
              <a:t>An ability to see past the firm’s offerings and their features, to </a:t>
            </a:r>
            <a:r>
              <a:rPr lang="en-US" sz="1800" b="1" i="1" dirty="0">
                <a:latin typeface="Californian FB" pitchFamily="18" charset="0"/>
              </a:rPr>
              <a:t>be </a:t>
            </a:r>
            <a:r>
              <a:rPr lang="en-US" sz="1800" dirty="0">
                <a:latin typeface="Californian FB" pitchFamily="18" charset="0"/>
              </a:rPr>
              <a:t>able to see how they satisfy the customer’s needs</a:t>
            </a:r>
            <a:endParaRPr lang="en-US" sz="1800" b="1" i="1" dirty="0">
              <a:latin typeface="Californian FB" pitchFamily="18" charset="0"/>
            </a:endParaRPr>
          </a:p>
        </p:txBody>
      </p:sp>
      <p:sp>
        <p:nvSpPr>
          <p:cNvPr id="1048650" name="Slide Number Placeholder 3"/>
          <p:cNvSpPr>
            <a:spLocks noGrp="1"/>
          </p:cNvSpPr>
          <p:nvPr>
            <p:ph type="sldNum" sz="quarter" idx="12"/>
          </p:nvPr>
        </p:nvSpPr>
        <p:spPr/>
        <p:txBody>
          <a:bodyPr/>
          <a:lstStyle/>
          <a:p>
            <a:fld id="{291E2FA6-9605-47D5-89F4-3EA67C449664}" type="slidenum">
              <a:rPr lang="en-US" smtClean="0"/>
              <a:pPr/>
              <a:t>14</a:t>
            </a:fld>
            <a:endParaRPr lang="en-US"/>
          </a:p>
        </p:txBody>
      </p:sp>
      <p:sp>
        <p:nvSpPr>
          <p:cNvPr id="1048648" name="Title 1"/>
          <p:cNvSpPr>
            <a:spLocks noGrp="1"/>
          </p:cNvSpPr>
          <p:nvPr>
            <p:ph type="title"/>
          </p:nvPr>
        </p:nvSpPr>
        <p:spPr>
          <a:xfrm>
            <a:off x="457200" y="274638"/>
            <a:ext cx="8229600" cy="792162"/>
          </a:xfrm>
          <a:solidFill>
            <a:srgbClr val="00B0F0"/>
          </a:solidFill>
        </p:spPr>
        <p:txBody>
          <a:bodyPr>
            <a:normAutofit/>
          </a:bodyPr>
          <a:lstStyle/>
          <a:p>
            <a:r>
              <a:rPr lang="en-US" sz="2400" b="1" dirty="0" smtClean="0"/>
              <a:t>1.5.3 </a:t>
            </a:r>
            <a:r>
              <a:rPr lang="en-US" sz="2400" b="1" dirty="0"/>
              <a:t>Entrepreneurial Skills</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Content Placeholder 2"/>
          <p:cNvSpPr>
            <a:spLocks noGrp="1"/>
          </p:cNvSpPr>
          <p:nvPr>
            <p:ph idx="1"/>
          </p:nvPr>
        </p:nvSpPr>
        <p:spPr>
          <a:xfrm>
            <a:off x="457200" y="685800"/>
            <a:ext cx="8229600" cy="5440363"/>
          </a:xfrm>
          <a:ln>
            <a:solidFill>
              <a:srgbClr val="FF0000"/>
            </a:solidFill>
          </a:ln>
        </p:spPr>
        <p:txBody>
          <a:bodyPr>
            <a:noAutofit/>
          </a:bodyPr>
          <a:lstStyle/>
          <a:p>
            <a:pPr algn="just">
              <a:lnSpc>
                <a:spcPct val="150000"/>
              </a:lnSpc>
              <a:buFont typeface="Wingdings" pitchFamily="2" charset="2"/>
              <a:buChar char="Ø"/>
            </a:pPr>
            <a:r>
              <a:rPr lang="en-US" sz="2000" b="1" i="1" dirty="0">
                <a:solidFill>
                  <a:srgbClr val="002060"/>
                </a:solidFill>
                <a:effectLst>
                  <a:outerShdw blurRad="38100" dist="38100" dir="2700000" algn="tl">
                    <a:srgbClr val="000000">
                      <a:alpha val="43137"/>
                    </a:srgbClr>
                  </a:outerShdw>
                </a:effectLst>
                <a:latin typeface="Californian FB" pitchFamily="18" charset="0"/>
              </a:rPr>
              <a:t>Financial Skills </a:t>
            </a:r>
            <a:r>
              <a:rPr lang="en-US" sz="2000" b="1" i="1" dirty="0">
                <a:latin typeface="Californian FB" pitchFamily="18" charset="0"/>
              </a:rPr>
              <a:t>– An ability to manage money; to </a:t>
            </a:r>
            <a:r>
              <a:rPr lang="en-US" sz="2000" dirty="0">
                <a:latin typeface="Californian FB" pitchFamily="18" charset="0"/>
              </a:rPr>
              <a:t>and to monitor cash-flow, but also an ability to assess investments in terms of their potential and their risks.</a:t>
            </a:r>
          </a:p>
          <a:p>
            <a:pPr algn="just">
              <a:lnSpc>
                <a:spcPct val="150000"/>
              </a:lnSpc>
              <a:buFont typeface="Wingdings" pitchFamily="2" charset="2"/>
              <a:buChar char="Ø"/>
            </a:pPr>
            <a:r>
              <a:rPr lang="en-US" sz="2000" b="1" i="1" dirty="0">
                <a:solidFill>
                  <a:srgbClr val="002060"/>
                </a:solidFill>
                <a:effectLst>
                  <a:outerShdw blurRad="38100" dist="38100" dir="2700000" algn="tl">
                    <a:srgbClr val="000000">
                      <a:alpha val="43137"/>
                    </a:srgbClr>
                  </a:outerShdw>
                </a:effectLst>
                <a:latin typeface="Californian FB" pitchFamily="18" charset="0"/>
              </a:rPr>
              <a:t>Project Management Skills </a:t>
            </a:r>
            <a:r>
              <a:rPr lang="en-US" sz="2000" b="1" i="1" dirty="0">
                <a:latin typeface="Californian FB" pitchFamily="18" charset="0"/>
              </a:rPr>
              <a:t>– An ability to organize projects, to set specific </a:t>
            </a:r>
            <a:r>
              <a:rPr lang="en-US" sz="2000" dirty="0">
                <a:latin typeface="Californian FB" pitchFamily="18" charset="0"/>
              </a:rPr>
              <a:t>objectives, to set schedules and to ensure that the necessary resources are in the right place of the right time.</a:t>
            </a:r>
          </a:p>
          <a:p>
            <a:pPr algn="just">
              <a:lnSpc>
                <a:spcPct val="150000"/>
              </a:lnSpc>
              <a:buFont typeface="Wingdings" pitchFamily="2" charset="2"/>
              <a:buChar char="Ø"/>
            </a:pPr>
            <a:r>
              <a:rPr lang="en-US" sz="2000" b="1" i="1" dirty="0">
                <a:solidFill>
                  <a:srgbClr val="002060"/>
                </a:solidFill>
                <a:effectLst>
                  <a:outerShdw blurRad="38100" dist="38100" dir="2700000" algn="tl">
                    <a:srgbClr val="000000">
                      <a:alpha val="43137"/>
                    </a:srgbClr>
                  </a:outerShdw>
                </a:effectLst>
                <a:latin typeface="Californian FB" pitchFamily="18" charset="0"/>
              </a:rPr>
              <a:t>Time Management Skills </a:t>
            </a:r>
            <a:r>
              <a:rPr lang="en-US" sz="2000" b="1" i="1" dirty="0">
                <a:latin typeface="Californian FB" pitchFamily="18" charset="0"/>
              </a:rPr>
              <a:t>– An ability to use </a:t>
            </a:r>
            <a:r>
              <a:rPr lang="en-US" sz="2000" b="1" i="1" dirty="0">
                <a:solidFill>
                  <a:srgbClr val="FF0000"/>
                </a:solidFill>
                <a:latin typeface="Californian FB" pitchFamily="18" charset="0"/>
              </a:rPr>
              <a:t>time productively</a:t>
            </a:r>
            <a:r>
              <a:rPr lang="en-US" sz="2000" b="1" i="1" dirty="0">
                <a:latin typeface="Californian FB" pitchFamily="18" charset="0"/>
              </a:rPr>
              <a:t>, to be able to </a:t>
            </a:r>
            <a:r>
              <a:rPr lang="en-US" sz="2000" dirty="0">
                <a:solidFill>
                  <a:srgbClr val="FF0000"/>
                </a:solidFill>
                <a:latin typeface="Californian FB" pitchFamily="18" charset="0"/>
              </a:rPr>
              <a:t>priorities</a:t>
            </a:r>
            <a:r>
              <a:rPr lang="en-US" sz="2000" dirty="0">
                <a:latin typeface="Californian FB" pitchFamily="18" charset="0"/>
              </a:rPr>
              <a:t> important jobs and to get things done to schedule.</a:t>
            </a:r>
          </a:p>
        </p:txBody>
      </p:sp>
      <p:sp>
        <p:nvSpPr>
          <p:cNvPr id="1048652" name="Slide Number Placeholder 3"/>
          <p:cNvSpPr>
            <a:spLocks noGrp="1"/>
          </p:cNvSpPr>
          <p:nvPr>
            <p:ph type="sldNum" sz="quarter" idx="12"/>
          </p:nvPr>
        </p:nvSpPr>
        <p:spPr/>
        <p:txBody>
          <a:bodyPr/>
          <a:lstStyle/>
          <a:p>
            <a:fld id="{291E2FA6-9605-47D5-89F4-3EA67C449664}"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3" name="Content Placeholder 2"/>
          <p:cNvSpPr>
            <a:spLocks noGrp="1"/>
          </p:cNvSpPr>
          <p:nvPr>
            <p:ph idx="1"/>
          </p:nvPr>
        </p:nvSpPr>
        <p:spPr>
          <a:xfrm>
            <a:off x="457200" y="762000"/>
            <a:ext cx="8229600" cy="5364163"/>
          </a:xfrm>
          <a:ln>
            <a:solidFill>
              <a:srgbClr val="FF0000"/>
            </a:solidFill>
          </a:ln>
        </p:spPr>
        <p:txBody>
          <a:bodyPr>
            <a:normAutofit fontScale="25000" lnSpcReduction="20000"/>
          </a:bodyPr>
          <a:lstStyle/>
          <a:p>
            <a:pPr algn="just">
              <a:lnSpc>
                <a:spcPct val="150000"/>
              </a:lnSpc>
              <a:buNone/>
            </a:pPr>
            <a:r>
              <a:rPr lang="en-US" sz="9600" b="1" dirty="0"/>
              <a:t>2. </a:t>
            </a:r>
            <a:r>
              <a:rPr lang="en-US" sz="9600" b="1" dirty="0">
                <a:solidFill>
                  <a:srgbClr val="7030A0"/>
                </a:solidFill>
                <a:latin typeface="Californian FB" pitchFamily="18" charset="0"/>
              </a:rPr>
              <a:t>People Management Skills</a:t>
            </a:r>
            <a:r>
              <a:rPr lang="en-US" sz="8000" b="1" dirty="0">
                <a:latin typeface="Californian FB" pitchFamily="18" charset="0"/>
              </a:rPr>
              <a:t>: </a:t>
            </a:r>
            <a:r>
              <a:rPr lang="en-US" sz="7200" dirty="0">
                <a:latin typeface="Californian FB" pitchFamily="18" charset="0"/>
              </a:rPr>
              <a:t> </a:t>
            </a:r>
            <a:r>
              <a:rPr lang="en-US" sz="8000" dirty="0">
                <a:latin typeface="Californian FB" pitchFamily="18" charset="0"/>
              </a:rPr>
              <a:t>Businesses are made by people. A business can only be successful if the peoples who make it up are properly directed and are committed to make an effort on its behalf. Some of this important skills  are:</a:t>
            </a:r>
            <a:endParaRPr lang="en-US" sz="7200" dirty="0">
              <a:latin typeface="Californian FB" pitchFamily="18" charset="0"/>
            </a:endParaRPr>
          </a:p>
          <a:p>
            <a:pPr algn="just">
              <a:lnSpc>
                <a:spcPct val="150000"/>
              </a:lnSpc>
              <a:buFont typeface="Wingdings" pitchFamily="2" charset="2"/>
              <a:buChar char="Ø"/>
            </a:pPr>
            <a:r>
              <a:rPr lang="en-US" sz="7200" b="1" i="1" dirty="0">
                <a:solidFill>
                  <a:srgbClr val="002060"/>
                </a:solidFill>
                <a:effectLst>
                  <a:outerShdw blurRad="38100" dist="38100" dir="2700000" algn="tl">
                    <a:srgbClr val="000000">
                      <a:alpha val="43137"/>
                    </a:srgbClr>
                  </a:outerShdw>
                </a:effectLst>
                <a:latin typeface="Californian FB" pitchFamily="18" charset="0"/>
              </a:rPr>
              <a:t>Communication Skills</a:t>
            </a:r>
            <a:r>
              <a:rPr lang="en-US" sz="7200" b="1" i="1" dirty="0">
                <a:latin typeface="Californian FB" pitchFamily="18" charset="0"/>
              </a:rPr>
              <a:t>: </a:t>
            </a:r>
            <a:r>
              <a:rPr lang="en-US" sz="7200" i="1" dirty="0">
                <a:latin typeface="Californian FB" pitchFamily="18" charset="0"/>
              </a:rPr>
              <a:t>An ability to use  language to /change </a:t>
            </a:r>
            <a:r>
              <a:rPr lang="en-US" sz="7200" dirty="0">
                <a:latin typeface="Californian FB" pitchFamily="18" charset="0"/>
              </a:rPr>
              <a:t>ideas and inform others.</a:t>
            </a:r>
          </a:p>
          <a:p>
            <a:pPr algn="just">
              <a:lnSpc>
                <a:spcPct val="150000"/>
              </a:lnSpc>
              <a:buFont typeface="Wingdings" pitchFamily="2" charset="2"/>
              <a:buChar char="Ø"/>
            </a:pPr>
            <a:r>
              <a:rPr lang="en-US" sz="7200" dirty="0">
                <a:latin typeface="Californian FB" pitchFamily="18" charset="0"/>
              </a:rPr>
              <a:t> </a:t>
            </a:r>
            <a:r>
              <a:rPr lang="en-US" sz="7200" b="1" i="1" dirty="0">
                <a:solidFill>
                  <a:srgbClr val="002060"/>
                </a:solidFill>
                <a:effectLst>
                  <a:outerShdw blurRad="38100" dist="38100" dir="2700000" algn="tl">
                    <a:srgbClr val="000000">
                      <a:alpha val="43137"/>
                    </a:srgbClr>
                  </a:outerShdw>
                </a:effectLst>
                <a:latin typeface="Californian FB" pitchFamily="18" charset="0"/>
              </a:rPr>
              <a:t>Leadership Skills </a:t>
            </a:r>
            <a:r>
              <a:rPr lang="en-US" sz="7200" b="1" i="1" dirty="0">
                <a:latin typeface="Californian FB" pitchFamily="18" charset="0"/>
              </a:rPr>
              <a:t>– </a:t>
            </a:r>
            <a:r>
              <a:rPr lang="en-US" sz="8000" i="1" dirty="0">
                <a:latin typeface="Californian FB" pitchFamily="18" charset="0"/>
              </a:rPr>
              <a:t>An ability to inspire people to work in a specific way and to </a:t>
            </a:r>
            <a:r>
              <a:rPr lang="en-US" sz="8000" dirty="0">
                <a:latin typeface="Californian FB" pitchFamily="18" charset="0"/>
              </a:rPr>
              <a:t>undertake the tasks that are necessary for the success of the venture.</a:t>
            </a:r>
            <a:endParaRPr lang="en-US" sz="7200" dirty="0">
              <a:latin typeface="Californian FB" pitchFamily="18" charset="0"/>
            </a:endParaRPr>
          </a:p>
          <a:p>
            <a:pPr algn="just">
              <a:lnSpc>
                <a:spcPct val="150000"/>
              </a:lnSpc>
              <a:buFont typeface="Wingdings" pitchFamily="2" charset="2"/>
              <a:buChar char="Ø"/>
            </a:pPr>
            <a:r>
              <a:rPr lang="en-US" sz="7200" b="1" i="1" dirty="0">
                <a:solidFill>
                  <a:srgbClr val="002060"/>
                </a:solidFill>
                <a:effectLst>
                  <a:outerShdw blurRad="38100" dist="38100" dir="2700000" algn="tl">
                    <a:srgbClr val="000000">
                      <a:alpha val="43137"/>
                    </a:srgbClr>
                  </a:outerShdw>
                </a:effectLst>
                <a:latin typeface="Californian FB" pitchFamily="18" charset="0"/>
              </a:rPr>
              <a:t>Motivation Skills </a:t>
            </a:r>
            <a:r>
              <a:rPr lang="en-US" sz="7200" b="1" i="1" dirty="0">
                <a:latin typeface="Californian FB" pitchFamily="18" charset="0"/>
              </a:rPr>
              <a:t>– </a:t>
            </a:r>
            <a:r>
              <a:rPr lang="en-US" sz="7200" i="1" dirty="0">
                <a:latin typeface="Californian FB" pitchFamily="18" charset="0"/>
              </a:rPr>
              <a:t>An ability to enthuse people to use their full </a:t>
            </a:r>
            <a:r>
              <a:rPr lang="en-US" sz="7200" dirty="0">
                <a:latin typeface="Californian FB" pitchFamily="18" charset="0"/>
              </a:rPr>
              <a:t>commitment to the tasks. Understanding what drives people and what they expect from their jobs.</a:t>
            </a:r>
          </a:p>
          <a:p>
            <a:pPr algn="just">
              <a:lnSpc>
                <a:spcPct val="150000"/>
              </a:lnSpc>
              <a:buFont typeface="Wingdings" pitchFamily="2" charset="2"/>
              <a:buChar char="Ø"/>
            </a:pPr>
            <a:r>
              <a:rPr lang="en-US" sz="7200" b="1" i="1" dirty="0">
                <a:solidFill>
                  <a:srgbClr val="002060"/>
                </a:solidFill>
                <a:effectLst>
                  <a:outerShdw blurRad="38100" dist="38100" dir="2700000" algn="tl">
                    <a:srgbClr val="000000">
                      <a:alpha val="43137"/>
                    </a:srgbClr>
                  </a:outerShdw>
                </a:effectLst>
                <a:latin typeface="Californian FB" pitchFamily="18" charset="0"/>
              </a:rPr>
              <a:t>Delegation Skills </a:t>
            </a:r>
            <a:r>
              <a:rPr lang="en-US" sz="7200" b="1" i="1" dirty="0">
                <a:latin typeface="Californian FB" pitchFamily="18" charset="0"/>
              </a:rPr>
              <a:t>– </a:t>
            </a:r>
            <a:r>
              <a:rPr lang="en-US" sz="8000" i="1" dirty="0">
                <a:latin typeface="Californian FB" pitchFamily="18" charset="0"/>
              </a:rPr>
              <a:t>An ability to allocate tasks to different people. Effective </a:t>
            </a:r>
            <a:r>
              <a:rPr lang="en-US" sz="8000" dirty="0">
                <a:latin typeface="Californian FB" pitchFamily="18" charset="0"/>
              </a:rPr>
              <a:t>delegation involves more than instructing. </a:t>
            </a:r>
            <a:endParaRPr lang="en-US" sz="7200" dirty="0">
              <a:latin typeface="Californian FB" pitchFamily="18" charset="0"/>
            </a:endParaRPr>
          </a:p>
          <a:p>
            <a:pPr algn="just">
              <a:lnSpc>
                <a:spcPct val="150000"/>
              </a:lnSpc>
              <a:buFont typeface="Wingdings" pitchFamily="2" charset="2"/>
              <a:buChar char="Ø"/>
            </a:pPr>
            <a:r>
              <a:rPr lang="en-US" sz="7200" b="1" i="1" dirty="0">
                <a:solidFill>
                  <a:srgbClr val="002060"/>
                </a:solidFill>
                <a:effectLst>
                  <a:outerShdw blurRad="38100" dist="38100" dir="2700000" algn="tl">
                    <a:srgbClr val="000000">
                      <a:alpha val="43137"/>
                    </a:srgbClr>
                  </a:outerShdw>
                </a:effectLst>
                <a:latin typeface="Californian FB" pitchFamily="18" charset="0"/>
              </a:rPr>
              <a:t>Negotiation Skills </a:t>
            </a:r>
            <a:r>
              <a:rPr lang="en-US" sz="7200" b="1" i="1" dirty="0">
                <a:latin typeface="Californian FB" pitchFamily="18" charset="0"/>
              </a:rPr>
              <a:t>– </a:t>
            </a:r>
            <a:r>
              <a:rPr lang="en-US" sz="7200" i="1" dirty="0">
                <a:latin typeface="Californian FB" pitchFamily="18" charset="0"/>
              </a:rPr>
              <a:t>An ability to understand what is wanted from a saturations', what </a:t>
            </a:r>
            <a:r>
              <a:rPr lang="en-US" sz="7200" dirty="0">
                <a:latin typeface="Californian FB" pitchFamily="18" charset="0"/>
              </a:rPr>
              <a:t> motivating others in that situation</a:t>
            </a:r>
          </a:p>
          <a:p>
            <a:pPr algn="just">
              <a:lnSpc>
                <a:spcPct val="150000"/>
              </a:lnSpc>
              <a:buNone/>
            </a:pPr>
            <a:endParaRPr lang="en-US" sz="1800" dirty="0"/>
          </a:p>
        </p:txBody>
      </p:sp>
      <p:sp>
        <p:nvSpPr>
          <p:cNvPr id="1048654" name="Slide Number Placeholder 3"/>
          <p:cNvSpPr>
            <a:spLocks noGrp="1"/>
          </p:cNvSpPr>
          <p:nvPr>
            <p:ph type="sldNum" sz="quarter" idx="12"/>
          </p:nvPr>
        </p:nvSpPr>
        <p:spPr/>
        <p:txBody>
          <a:bodyPr/>
          <a:lstStyle/>
          <a:p>
            <a:fld id="{291E2FA6-9605-47D5-89F4-3EA67C449664}"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Content Placeholder 2"/>
          <p:cNvSpPr>
            <a:spLocks noGrp="1"/>
          </p:cNvSpPr>
          <p:nvPr>
            <p:ph idx="1"/>
          </p:nvPr>
        </p:nvSpPr>
        <p:spPr>
          <a:xfrm>
            <a:off x="457200" y="1219200"/>
            <a:ext cx="8229600" cy="5105400"/>
          </a:xfrm>
          <a:ln>
            <a:solidFill>
              <a:srgbClr val="FF0000"/>
            </a:solidFill>
          </a:ln>
        </p:spPr>
        <p:txBody>
          <a:bodyPr>
            <a:noAutofit/>
          </a:bodyPr>
          <a:lstStyle/>
          <a:p>
            <a:pPr algn="just">
              <a:lnSpc>
                <a:spcPct val="150000"/>
              </a:lnSpc>
              <a:buNone/>
            </a:pPr>
            <a:r>
              <a:rPr lang="en-US" sz="2000" dirty="0">
                <a:latin typeface="Californian FB" pitchFamily="18" charset="0"/>
              </a:rPr>
              <a:t>A number of tasks have been associated with the entrepreneur. Some of the more important are</a:t>
            </a:r>
            <a:r>
              <a:rPr lang="en-US" dirty="0">
                <a:latin typeface="Californian FB" pitchFamily="18" charset="0"/>
              </a:rPr>
              <a:t>:</a:t>
            </a:r>
          </a:p>
          <a:p>
            <a:pPr algn="just">
              <a:lnSpc>
                <a:spcPct val="150000"/>
              </a:lnSpc>
              <a:buAutoNum type="alphaUcPeriod"/>
            </a:pPr>
            <a:r>
              <a:rPr lang="en-US" sz="1800" dirty="0">
                <a:latin typeface="Californian FB" pitchFamily="18" charset="0"/>
              </a:rPr>
              <a:t>Owning Organizations and Founding New Organizations</a:t>
            </a:r>
          </a:p>
          <a:p>
            <a:pPr algn="just">
              <a:lnSpc>
                <a:spcPct val="150000"/>
              </a:lnSpc>
              <a:buAutoNum type="alphaUcPeriod"/>
            </a:pPr>
            <a:r>
              <a:rPr lang="en-US" sz="1800" dirty="0">
                <a:latin typeface="Californian FB" pitchFamily="18" charset="0"/>
              </a:rPr>
              <a:t>Bringing Innovations to Market</a:t>
            </a:r>
          </a:p>
          <a:p>
            <a:pPr algn="just">
              <a:lnSpc>
                <a:spcPct val="150000"/>
              </a:lnSpc>
              <a:buAutoNum type="alphaUcPeriod"/>
            </a:pPr>
            <a:r>
              <a:rPr lang="en-US" sz="1800" dirty="0">
                <a:latin typeface="Californian FB" pitchFamily="18" charset="0"/>
              </a:rPr>
              <a:t>Identification of Market Opportunity</a:t>
            </a:r>
          </a:p>
          <a:p>
            <a:pPr algn="just">
              <a:lnSpc>
                <a:spcPct val="150000"/>
              </a:lnSpc>
              <a:buAutoNum type="alphaUcPeriod"/>
            </a:pPr>
            <a:r>
              <a:rPr lang="en-US" sz="1800" dirty="0">
                <a:latin typeface="Californian FB" pitchFamily="18" charset="0"/>
              </a:rPr>
              <a:t>Application of Expertise</a:t>
            </a:r>
          </a:p>
          <a:p>
            <a:pPr algn="just">
              <a:lnSpc>
                <a:spcPct val="150000"/>
              </a:lnSpc>
              <a:buAutoNum type="alphaUcPeriod"/>
            </a:pPr>
            <a:r>
              <a:rPr lang="en-US" sz="1800" dirty="0">
                <a:latin typeface="Californian FB" pitchFamily="18" charset="0"/>
              </a:rPr>
              <a:t>Provision of leadership</a:t>
            </a:r>
          </a:p>
          <a:p>
            <a:pPr algn="just">
              <a:lnSpc>
                <a:spcPct val="150000"/>
              </a:lnSpc>
              <a:buNone/>
            </a:pPr>
            <a:r>
              <a:rPr lang="en-US" sz="2000" b="1" i="1" dirty="0">
                <a:latin typeface="Californian FB" pitchFamily="18" charset="0"/>
              </a:rPr>
              <a:t>   </a:t>
            </a:r>
            <a:r>
              <a:rPr lang="en-US" sz="2000" b="1" i="1" dirty="0" smtClean="0">
                <a:latin typeface="Californian FB" pitchFamily="18" charset="0"/>
              </a:rPr>
              <a:t>1.5.5 </a:t>
            </a:r>
            <a:r>
              <a:rPr lang="en-US" sz="2000" b="1" i="1" dirty="0">
                <a:latin typeface="Californian FB" pitchFamily="18" charset="0"/>
              </a:rPr>
              <a:t>Wealth of the Entrepreneur : </a:t>
            </a:r>
            <a:r>
              <a:rPr lang="en-US" sz="2400" i="1" dirty="0">
                <a:solidFill>
                  <a:srgbClr val="FF0000"/>
                </a:solidFill>
                <a:latin typeface="Californian FB" pitchFamily="18" charset="0"/>
              </a:rPr>
              <a:t>Reading assignment for students</a:t>
            </a:r>
          </a:p>
          <a:p>
            <a:pPr algn="just">
              <a:lnSpc>
                <a:spcPct val="150000"/>
              </a:lnSpc>
              <a:buNone/>
            </a:pPr>
            <a:endParaRPr lang="en-US" sz="2000" i="1" dirty="0">
              <a:solidFill>
                <a:srgbClr val="FF0000"/>
              </a:solidFill>
              <a:latin typeface="Californian FB" pitchFamily="18" charset="0"/>
            </a:endParaRPr>
          </a:p>
        </p:txBody>
      </p:sp>
      <p:sp>
        <p:nvSpPr>
          <p:cNvPr id="1048657" name="Slide Number Placeholder 3"/>
          <p:cNvSpPr>
            <a:spLocks noGrp="1"/>
          </p:cNvSpPr>
          <p:nvPr>
            <p:ph type="sldNum" sz="quarter" idx="12"/>
          </p:nvPr>
        </p:nvSpPr>
        <p:spPr/>
        <p:txBody>
          <a:bodyPr/>
          <a:lstStyle/>
          <a:p>
            <a:fld id="{291E2FA6-9605-47D5-89F4-3EA67C449664}" type="slidenum">
              <a:rPr lang="en-US" smtClean="0"/>
              <a:pPr/>
              <a:t>17</a:t>
            </a:fld>
            <a:endParaRPr lang="en-US"/>
          </a:p>
        </p:txBody>
      </p:sp>
      <p:sp>
        <p:nvSpPr>
          <p:cNvPr id="1048655" name="Title 1"/>
          <p:cNvSpPr>
            <a:spLocks noGrp="1"/>
          </p:cNvSpPr>
          <p:nvPr>
            <p:ph type="title"/>
          </p:nvPr>
        </p:nvSpPr>
        <p:spPr>
          <a:xfrm>
            <a:off x="457200" y="228600"/>
            <a:ext cx="8229600" cy="944562"/>
          </a:xfrm>
          <a:solidFill>
            <a:srgbClr val="00B0F0"/>
          </a:solidFill>
        </p:spPr>
        <p:txBody>
          <a:bodyPr>
            <a:normAutofit/>
          </a:bodyPr>
          <a:lstStyle/>
          <a:p>
            <a:r>
              <a:rPr lang="en-US" sz="2800" b="1" dirty="0" smtClean="0"/>
              <a:t>1.5.4 </a:t>
            </a:r>
            <a:r>
              <a:rPr lang="en-US" sz="2800" b="1" dirty="0"/>
              <a:t>The Entrepreneurial Tasks</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Content Placeholder 2"/>
          <p:cNvSpPr>
            <a:spLocks noGrp="1"/>
          </p:cNvSpPr>
          <p:nvPr>
            <p:ph idx="1"/>
          </p:nvPr>
        </p:nvSpPr>
        <p:spPr>
          <a:xfrm>
            <a:off x="304800" y="1295400"/>
            <a:ext cx="8382000" cy="5029200"/>
          </a:xfrm>
          <a:ln>
            <a:solidFill>
              <a:schemeClr val="accent1"/>
            </a:solidFill>
          </a:ln>
        </p:spPr>
        <p:txBody>
          <a:bodyPr>
            <a:noAutofit/>
          </a:bodyPr>
          <a:lstStyle/>
          <a:p>
            <a:pPr algn="just">
              <a:buNone/>
            </a:pPr>
            <a:r>
              <a:rPr lang="en-US" sz="2000" dirty="0">
                <a:latin typeface="Californian FB" pitchFamily="18" charset="0"/>
              </a:rPr>
              <a:t>Business environment may be healthy or unhealthy  or it may be positive or negative environment.</a:t>
            </a:r>
          </a:p>
          <a:p>
            <a:pPr algn="just"/>
            <a:r>
              <a:rPr lang="en-US" sz="2000" b="1" dirty="0">
                <a:latin typeface="Californian FB" pitchFamily="18" charset="0"/>
              </a:rPr>
              <a:t>Healthy business environment/positive:</a:t>
            </a:r>
            <a:r>
              <a:rPr lang="en-US" sz="2000" dirty="0">
                <a:latin typeface="Californian FB" pitchFamily="18" charset="0"/>
              </a:rPr>
              <a:t> means the conditions are favorable to the growth of business.</a:t>
            </a:r>
          </a:p>
          <a:p>
            <a:pPr algn="just"/>
            <a:r>
              <a:rPr lang="en-US" sz="2000" b="1" dirty="0">
                <a:latin typeface="Californian FB" pitchFamily="18" charset="0"/>
              </a:rPr>
              <a:t>whereas unhealthy environment/negative: </a:t>
            </a:r>
            <a:r>
              <a:rPr lang="en-US" sz="2000" dirty="0">
                <a:latin typeface="Californian FB" pitchFamily="18" charset="0"/>
              </a:rPr>
              <a:t>implies conditions hostile or unfavorable to business operations.</a:t>
            </a:r>
            <a:endParaRPr lang="en-US" sz="2000" b="1" dirty="0">
              <a:latin typeface="Californian FB" pitchFamily="18" charset="0"/>
            </a:endParaRPr>
          </a:p>
          <a:p>
            <a:pPr marL="0" indent="0" algn="just">
              <a:lnSpc>
                <a:spcPct val="150000"/>
              </a:lnSpc>
              <a:buNone/>
            </a:pPr>
            <a:r>
              <a:rPr lang="en-US" sz="1800" b="1" dirty="0">
                <a:latin typeface="Californian FB" pitchFamily="18" charset="0"/>
              </a:rPr>
              <a:t>A study of business environment offers the following benefits</a:t>
            </a:r>
            <a:r>
              <a:rPr lang="en-US" sz="1800" dirty="0">
                <a:latin typeface="Californian FB" pitchFamily="18" charset="0"/>
              </a:rPr>
              <a:t>:</a:t>
            </a:r>
          </a:p>
          <a:p>
            <a:pPr algn="just">
              <a:lnSpc>
                <a:spcPct val="150000"/>
              </a:lnSpc>
              <a:buAutoNum type="arabicPeriod"/>
            </a:pPr>
            <a:r>
              <a:rPr lang="en-US" sz="1800" dirty="0">
                <a:latin typeface="Californian FB" pitchFamily="18" charset="0"/>
              </a:rPr>
              <a:t>It provides information about the environment</a:t>
            </a:r>
          </a:p>
          <a:p>
            <a:pPr algn="just">
              <a:lnSpc>
                <a:spcPct val="150000"/>
              </a:lnSpc>
              <a:buAutoNum type="arabicPeriod"/>
            </a:pPr>
            <a:r>
              <a:rPr lang="en-US" sz="2000" dirty="0">
                <a:latin typeface="Californian FB" pitchFamily="18" charset="0"/>
              </a:rPr>
              <a:t> It opens up fresh ideas to the expansion of new entrepreneurial operations</a:t>
            </a:r>
          </a:p>
          <a:p>
            <a:pPr algn="just">
              <a:lnSpc>
                <a:spcPct val="150000"/>
              </a:lnSpc>
              <a:buAutoNum type="arabicPeriod"/>
            </a:pPr>
            <a:r>
              <a:rPr lang="en-US" sz="1800" dirty="0">
                <a:latin typeface="Californian FB" pitchFamily="18" charset="0"/>
              </a:rPr>
              <a:t>changing environment enables businessmen to adopt a dynamic approach.</a:t>
            </a:r>
          </a:p>
          <a:p>
            <a:pPr algn="just">
              <a:lnSpc>
                <a:spcPct val="150000"/>
              </a:lnSpc>
              <a:buAutoNum type="arabicPeriod"/>
            </a:pPr>
            <a:r>
              <a:rPr lang="en-US" sz="1800" dirty="0">
                <a:latin typeface="Californian FB" pitchFamily="18" charset="0"/>
              </a:rPr>
              <a:t>can make it hospitable to the growth of business and thereby earn popular support.</a:t>
            </a:r>
          </a:p>
        </p:txBody>
      </p:sp>
      <p:sp>
        <p:nvSpPr>
          <p:cNvPr id="1048660" name="Slide Number Placeholder 3"/>
          <p:cNvSpPr>
            <a:spLocks noGrp="1"/>
          </p:cNvSpPr>
          <p:nvPr>
            <p:ph type="sldNum" sz="quarter" idx="12"/>
          </p:nvPr>
        </p:nvSpPr>
        <p:spPr/>
        <p:txBody>
          <a:bodyPr/>
          <a:lstStyle/>
          <a:p>
            <a:fld id="{291E2FA6-9605-47D5-89F4-3EA67C449664}" type="slidenum">
              <a:rPr lang="en-US" smtClean="0"/>
              <a:pPr/>
              <a:t>18</a:t>
            </a:fld>
            <a:endParaRPr lang="en-US" dirty="0"/>
          </a:p>
        </p:txBody>
      </p:sp>
      <p:sp>
        <p:nvSpPr>
          <p:cNvPr id="1048658" name="Title 1"/>
          <p:cNvSpPr>
            <a:spLocks noGrp="1"/>
          </p:cNvSpPr>
          <p:nvPr>
            <p:ph type="title"/>
          </p:nvPr>
        </p:nvSpPr>
        <p:spPr>
          <a:xfrm>
            <a:off x="457200" y="381000"/>
            <a:ext cx="8229600" cy="838200"/>
          </a:xfrm>
          <a:solidFill>
            <a:srgbClr val="00B050"/>
          </a:solidFill>
        </p:spPr>
        <p:txBody>
          <a:bodyPr>
            <a:normAutofit/>
          </a:bodyPr>
          <a:lstStyle/>
          <a:p>
            <a:r>
              <a:rPr lang="en-US" sz="2400" b="1" dirty="0"/>
              <a:t>Entrepreneurship and Environment</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2" name="Content Placeholder 2"/>
          <p:cNvSpPr>
            <a:spLocks noGrp="1"/>
          </p:cNvSpPr>
          <p:nvPr>
            <p:ph idx="1"/>
          </p:nvPr>
        </p:nvSpPr>
        <p:spPr>
          <a:xfrm>
            <a:off x="457200" y="1143000"/>
            <a:ext cx="8229600" cy="4983163"/>
          </a:xfrm>
          <a:ln>
            <a:solidFill>
              <a:srgbClr val="FF0000"/>
            </a:solidFill>
          </a:ln>
        </p:spPr>
        <p:txBody>
          <a:bodyPr>
            <a:normAutofit fontScale="76250" lnSpcReduction="20000"/>
          </a:bodyPr>
          <a:lstStyle/>
          <a:p>
            <a:pPr algn="ctr">
              <a:lnSpc>
                <a:spcPct val="150000"/>
              </a:lnSpc>
              <a:buNone/>
            </a:pPr>
            <a:r>
              <a:rPr lang="en-US" b="1" i="1" dirty="0">
                <a:latin typeface="Californian FB" pitchFamily="18" charset="0"/>
              </a:rPr>
              <a:t>Business environment may be classified into two broad categories:</a:t>
            </a:r>
          </a:p>
          <a:p>
            <a:pPr algn="just">
              <a:lnSpc>
                <a:spcPct val="150000"/>
              </a:lnSpc>
              <a:buNone/>
            </a:pPr>
            <a:r>
              <a:rPr lang="en-US" b="1" dirty="0">
                <a:latin typeface="Californian FB" pitchFamily="18" charset="0"/>
              </a:rPr>
              <a:t>A) External Environment:  </a:t>
            </a:r>
            <a:r>
              <a:rPr lang="en-US" dirty="0">
                <a:latin typeface="Californian FB" pitchFamily="18" charset="0"/>
              </a:rPr>
              <a:t>An environment hardly to influence independently.</a:t>
            </a:r>
          </a:p>
          <a:p>
            <a:pPr algn="just">
              <a:lnSpc>
                <a:spcPct val="150000"/>
              </a:lnSpc>
              <a:buNone/>
            </a:pPr>
            <a:r>
              <a:rPr lang="en-US" dirty="0">
                <a:latin typeface="Californian FB" pitchFamily="18" charset="0"/>
              </a:rPr>
              <a:t>The following are the components of external environment:</a:t>
            </a:r>
          </a:p>
          <a:p>
            <a:pPr algn="just">
              <a:lnSpc>
                <a:spcPct val="150000"/>
              </a:lnSpc>
              <a:buAutoNum type="arabicPeriod"/>
            </a:pPr>
            <a:r>
              <a:rPr lang="en-US" dirty="0">
                <a:latin typeface="Californian FB" pitchFamily="18" charset="0"/>
              </a:rPr>
              <a:t>Economic Environment</a:t>
            </a:r>
          </a:p>
          <a:p>
            <a:pPr algn="just">
              <a:lnSpc>
                <a:spcPct val="150000"/>
              </a:lnSpc>
              <a:buAutoNum type="arabicPeriod"/>
            </a:pPr>
            <a:r>
              <a:rPr lang="en-US" dirty="0">
                <a:latin typeface="Californian FB" pitchFamily="18" charset="0"/>
              </a:rPr>
              <a:t>Legal Environment</a:t>
            </a:r>
          </a:p>
          <a:p>
            <a:pPr algn="just">
              <a:lnSpc>
                <a:spcPct val="150000"/>
              </a:lnSpc>
              <a:buAutoNum type="arabicPeriod"/>
            </a:pPr>
            <a:r>
              <a:rPr lang="en-US" dirty="0">
                <a:latin typeface="Californian FB" pitchFamily="18" charset="0"/>
              </a:rPr>
              <a:t>Political Environment</a:t>
            </a:r>
          </a:p>
          <a:p>
            <a:pPr algn="just">
              <a:lnSpc>
                <a:spcPct val="150000"/>
              </a:lnSpc>
              <a:buAutoNum type="arabicPeriod"/>
            </a:pPr>
            <a:r>
              <a:rPr lang="en-US" dirty="0">
                <a:latin typeface="Californian FB" pitchFamily="18" charset="0"/>
              </a:rPr>
              <a:t>Socio-Cultural Environment</a:t>
            </a:r>
          </a:p>
          <a:p>
            <a:pPr algn="just">
              <a:lnSpc>
                <a:spcPct val="150000"/>
              </a:lnSpc>
              <a:buAutoNum type="arabicPeriod"/>
            </a:pPr>
            <a:r>
              <a:rPr lang="en-US" dirty="0">
                <a:latin typeface="Californian FB" pitchFamily="18" charset="0"/>
              </a:rPr>
              <a:t>Demographic Environment</a:t>
            </a:r>
          </a:p>
        </p:txBody>
      </p:sp>
      <p:sp>
        <p:nvSpPr>
          <p:cNvPr id="1048663" name="Slide Number Placeholder 3"/>
          <p:cNvSpPr>
            <a:spLocks noGrp="1"/>
          </p:cNvSpPr>
          <p:nvPr>
            <p:ph type="sldNum" sz="quarter" idx="12"/>
          </p:nvPr>
        </p:nvSpPr>
        <p:spPr/>
        <p:txBody>
          <a:bodyPr/>
          <a:lstStyle/>
          <a:p>
            <a:fld id="{291E2FA6-9605-47D5-89F4-3EA67C449664}" type="slidenum">
              <a:rPr lang="en-US" smtClean="0"/>
              <a:pPr/>
              <a:t>19</a:t>
            </a:fld>
            <a:endParaRPr lang="en-US"/>
          </a:p>
        </p:txBody>
      </p:sp>
      <p:sp>
        <p:nvSpPr>
          <p:cNvPr id="1048661" name="Title 1"/>
          <p:cNvSpPr>
            <a:spLocks noGrp="1"/>
          </p:cNvSpPr>
          <p:nvPr>
            <p:ph type="title"/>
          </p:nvPr>
        </p:nvSpPr>
        <p:spPr>
          <a:xfrm>
            <a:off x="457200" y="274638"/>
            <a:ext cx="8229600" cy="792162"/>
          </a:xfrm>
          <a:solidFill>
            <a:srgbClr val="00B050"/>
          </a:solidFill>
        </p:spPr>
        <p:txBody>
          <a:bodyPr>
            <a:normAutofit/>
          </a:bodyPr>
          <a:lstStyle/>
          <a:p>
            <a:pPr algn="just"/>
            <a:r>
              <a:rPr lang="en-US" sz="3200" b="1" dirty="0"/>
              <a:t>Phases /Type of Business Environment</a:t>
            </a:r>
            <a:endParaRPr lang="en-US" sz="3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4" name="Content Placeholder 2"/>
          <p:cNvSpPr>
            <a:spLocks noGrp="1"/>
          </p:cNvSpPr>
          <p:nvPr>
            <p:ph idx="1"/>
          </p:nvPr>
        </p:nvSpPr>
        <p:spPr>
          <a:xfrm>
            <a:off x="228600" y="609600"/>
            <a:ext cx="8458200" cy="5791200"/>
          </a:xfrm>
          <a:ln>
            <a:solidFill>
              <a:srgbClr val="FF0000"/>
            </a:solidFill>
          </a:ln>
        </p:spPr>
        <p:txBody>
          <a:bodyPr>
            <a:noAutofit/>
          </a:bodyPr>
          <a:lstStyle/>
          <a:p>
            <a:pPr algn="just">
              <a:lnSpc>
                <a:spcPct val="150000"/>
              </a:lnSpc>
              <a:buNone/>
            </a:pPr>
            <a:r>
              <a:rPr lang="en-US" sz="2000" b="1" dirty="0">
                <a:latin typeface="Californian FB" pitchFamily="18" charset="0"/>
              </a:rPr>
              <a:t>B) </a:t>
            </a:r>
            <a:r>
              <a:rPr lang="en-US" sz="2000" b="1" dirty="0">
                <a:solidFill>
                  <a:srgbClr val="002060"/>
                </a:solidFill>
                <a:latin typeface="Californian FB" pitchFamily="18" charset="0"/>
              </a:rPr>
              <a:t>Internal Environment</a:t>
            </a:r>
            <a:r>
              <a:rPr lang="en-US" sz="2000" b="1" dirty="0">
                <a:latin typeface="Californian FB" pitchFamily="18" charset="0"/>
              </a:rPr>
              <a:t>: T</a:t>
            </a:r>
            <a:r>
              <a:rPr lang="en-US" sz="2000" dirty="0">
                <a:latin typeface="Californian FB" pitchFamily="18" charset="0"/>
              </a:rPr>
              <a:t>he environment which is under the control of a given organization. Following are the components of internal environment of a business.</a:t>
            </a:r>
          </a:p>
          <a:p>
            <a:pPr algn="just">
              <a:lnSpc>
                <a:spcPct val="150000"/>
              </a:lnSpc>
              <a:buAutoNum type="arabicPeriod"/>
            </a:pPr>
            <a:r>
              <a:rPr lang="en-US" sz="2000" b="1" dirty="0">
                <a:solidFill>
                  <a:srgbClr val="002060"/>
                </a:solidFill>
                <a:effectLst>
                  <a:outerShdw blurRad="38100" dist="38100" dir="2700000" algn="tl">
                    <a:srgbClr val="000000">
                      <a:alpha val="43137"/>
                    </a:srgbClr>
                  </a:outerShdw>
                </a:effectLst>
                <a:latin typeface="Californian FB" pitchFamily="18" charset="0"/>
              </a:rPr>
              <a:t>Raw Material   2. Production/Operation  3. Finance    4. Human Resource</a:t>
            </a:r>
          </a:p>
          <a:p>
            <a:pPr algn="ctr">
              <a:lnSpc>
                <a:spcPct val="150000"/>
              </a:lnSpc>
              <a:buNone/>
            </a:pPr>
            <a:r>
              <a:rPr lang="en-US" sz="2000" i="1" dirty="0">
                <a:latin typeface="Californian FB" pitchFamily="18" charset="0"/>
              </a:rPr>
              <a:t>Some of the environmental factors which hinder entrepreneurial growth are</a:t>
            </a:r>
            <a:r>
              <a:rPr lang="en-US" sz="2000" b="1" i="1" dirty="0">
                <a:latin typeface="Californian FB" pitchFamily="18" charset="0"/>
              </a:rPr>
              <a:t>:</a:t>
            </a:r>
          </a:p>
          <a:p>
            <a:pPr algn="just">
              <a:lnSpc>
                <a:spcPct val="150000"/>
              </a:lnSpc>
            </a:pPr>
            <a:r>
              <a:rPr lang="en-US" sz="2000" dirty="0">
                <a:latin typeface="Californian FB" pitchFamily="18" charset="0"/>
              </a:rPr>
              <a:t>Sudden changes in Government policy.</a:t>
            </a:r>
          </a:p>
          <a:p>
            <a:pPr algn="just">
              <a:lnSpc>
                <a:spcPct val="150000"/>
              </a:lnSpc>
            </a:pPr>
            <a:r>
              <a:rPr lang="en-US" sz="2000" dirty="0">
                <a:latin typeface="Californian FB" pitchFamily="18" charset="0"/>
              </a:rPr>
              <a:t> Sudden /Outbreak of war or regional conflicts &amp; Ideological conflicts.</a:t>
            </a:r>
          </a:p>
          <a:p>
            <a:pPr algn="just">
              <a:lnSpc>
                <a:spcPct val="150000"/>
              </a:lnSpc>
            </a:pPr>
            <a:r>
              <a:rPr lang="en-US" sz="2000" dirty="0">
                <a:latin typeface="Californian FB" pitchFamily="18" charset="0"/>
              </a:rPr>
              <a:t>Political instability or hostile Government attitude towards industry.</a:t>
            </a:r>
          </a:p>
          <a:p>
            <a:pPr algn="just">
              <a:lnSpc>
                <a:spcPct val="150000"/>
              </a:lnSpc>
            </a:pPr>
            <a:r>
              <a:rPr lang="en-US" sz="2000" dirty="0">
                <a:latin typeface="Californian FB" pitchFamily="18" charset="0"/>
              </a:rPr>
              <a:t> Unreliable supply of power, materials, finance, labor and other inputs.</a:t>
            </a:r>
          </a:p>
          <a:p>
            <a:pPr algn="just">
              <a:lnSpc>
                <a:spcPct val="150000"/>
              </a:lnSpc>
            </a:pPr>
            <a:r>
              <a:rPr lang="en-US" sz="2000" dirty="0">
                <a:latin typeface="Californian FB" pitchFamily="18" charset="0"/>
              </a:rPr>
              <a:t> Rise in the cost of inputs &amp;Unfavorable market fluctuations.</a:t>
            </a:r>
          </a:p>
          <a:p>
            <a:pPr algn="just">
              <a:lnSpc>
                <a:spcPct val="150000"/>
              </a:lnSpc>
            </a:pPr>
            <a:r>
              <a:rPr lang="en-US" sz="2000" dirty="0">
                <a:latin typeface="Californian FB" pitchFamily="18" charset="0"/>
              </a:rPr>
              <a:t> Non-cooperative attitude of banks and financial institutions.</a:t>
            </a:r>
          </a:p>
        </p:txBody>
      </p:sp>
      <p:sp>
        <p:nvSpPr>
          <p:cNvPr id="1048665" name="Slide Number Placeholder 3"/>
          <p:cNvSpPr>
            <a:spLocks noGrp="1"/>
          </p:cNvSpPr>
          <p:nvPr>
            <p:ph type="sldNum" sz="quarter" idx="12"/>
          </p:nvPr>
        </p:nvSpPr>
        <p:spPr/>
        <p:txBody>
          <a:bodyPr/>
          <a:lstStyle/>
          <a:p>
            <a:fld id="{291E2FA6-9605-47D5-89F4-3EA67C449664}"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extLst>
          </p:cNvPr>
          <p:cNvSpPr>
            <a:spLocks noGrp="1"/>
          </p:cNvSpPr>
          <p:nvPr>
            <p:ph type="title"/>
          </p:nvPr>
        </p:nvSpPr>
        <p:spPr>
          <a:xfrm>
            <a:off x="990600" y="0"/>
            <a:ext cx="8153400" cy="1143000"/>
          </a:xfrm>
          <a:solidFill>
            <a:srgbClr val="0070C0"/>
          </a:solidFill>
        </p:spPr>
        <p:txBody>
          <a:bodyPr rtlCol="0">
            <a:normAutofit fontScale="90000"/>
          </a:bodyPr>
          <a:lstStyle/>
          <a:p>
            <a:pPr eaLnBrk="1" fontAlgn="auto" hangingPunct="1">
              <a:spcAft>
                <a:spcPts val="0"/>
              </a:spcAft>
              <a:defRPr/>
            </a:pPr>
            <a:r>
              <a:rPr lang="en-US" b="1" dirty="0">
                <a:solidFill>
                  <a:srgbClr val="FFFF00"/>
                </a:solidFill>
              </a:rPr>
              <a:t/>
            </a:r>
            <a:br>
              <a:rPr lang="en-US" b="1" dirty="0">
                <a:solidFill>
                  <a:srgbClr val="FFFF00"/>
                </a:solidFill>
              </a:rPr>
            </a:br>
            <a:r>
              <a:rPr lang="en-US" sz="3600" b="1" dirty="0">
                <a:solidFill>
                  <a:srgbClr val="FFFF00"/>
                </a:solidFill>
              </a:rPr>
              <a:t>General non-entrepreneurial profiles</a:t>
            </a:r>
            <a:r>
              <a:rPr lang="en-US" b="1" dirty="0">
                <a:solidFill>
                  <a:srgbClr val="FFFF00"/>
                </a:solidFill>
              </a:rPr>
              <a:t/>
            </a:r>
            <a:br>
              <a:rPr lang="en-US" b="1" dirty="0">
                <a:solidFill>
                  <a:srgbClr val="FFFF00"/>
                </a:solidFill>
              </a:rPr>
            </a:br>
            <a:endParaRPr lang="en-US" dirty="0">
              <a:solidFill>
                <a:srgbClr val="FFFF00"/>
              </a:solidFill>
            </a:endParaRPr>
          </a:p>
        </p:txBody>
      </p:sp>
      <p:sp>
        <p:nvSpPr>
          <p:cNvPr id="44035" name="Content Placeholder 2"/>
          <p:cNvSpPr>
            <a:spLocks noGrp="1"/>
          </p:cNvSpPr>
          <p:nvPr>
            <p:ph idx="1"/>
          </p:nvPr>
        </p:nvSpPr>
        <p:spPr>
          <a:xfrm>
            <a:off x="990600" y="1143000"/>
            <a:ext cx="8153400" cy="5486400"/>
          </a:xfrm>
        </p:spPr>
        <p:txBody>
          <a:bodyPr rtlCol="0">
            <a:normAutofit fontScale="92500" lnSpcReduction="20000"/>
          </a:bodyPr>
          <a:lstStyle/>
          <a:p>
            <a:pPr algn="just" eaLnBrk="1" fontAlgn="auto" hangingPunct="1">
              <a:spcAft>
                <a:spcPts val="0"/>
              </a:spcAft>
              <a:buFont typeface="Arial" pitchFamily="34" charset="0"/>
              <a:buChar char="•"/>
              <a:defRPr/>
            </a:pPr>
            <a:r>
              <a:rPr lang="en-US" altLang="en-US" sz="2400" b="1" dirty="0" smtClean="0">
                <a:solidFill>
                  <a:srgbClr val="002060"/>
                </a:solidFill>
              </a:rPr>
              <a:t>Shotgun Sam (</a:t>
            </a:r>
            <a:r>
              <a:rPr lang="en-US" altLang="en-US" sz="2400" b="1" dirty="0" smtClean="0">
                <a:solidFill>
                  <a:srgbClr val="00B050"/>
                </a:solidFill>
              </a:rPr>
              <a:t>lack of follow through</a:t>
            </a:r>
            <a:r>
              <a:rPr lang="en-US" altLang="en-US" sz="2400" b="1" dirty="0" smtClean="0">
                <a:solidFill>
                  <a:srgbClr val="002060"/>
                </a:solidFill>
              </a:rPr>
              <a:t>):</a:t>
            </a:r>
            <a:r>
              <a:rPr lang="en-US" altLang="en-US" sz="2400" dirty="0" smtClean="0"/>
              <a:t>an entrepreneurial type who quickly identifies new promising business opportunities but rarely if ever follows through on the opportunity to create a successful new venture.</a:t>
            </a:r>
          </a:p>
          <a:p>
            <a:pPr algn="just" eaLnBrk="1" fontAlgn="auto" hangingPunct="1">
              <a:spcAft>
                <a:spcPts val="0"/>
              </a:spcAft>
              <a:buFont typeface="Wingdings 2" pitchFamily="18" charset="2"/>
              <a:buNone/>
              <a:defRPr/>
            </a:pPr>
            <a:endParaRPr lang="en-US" altLang="en-US" sz="2400" dirty="0" smtClean="0"/>
          </a:p>
          <a:p>
            <a:pPr algn="just" eaLnBrk="1" fontAlgn="auto" hangingPunct="1">
              <a:spcAft>
                <a:spcPts val="0"/>
              </a:spcAft>
              <a:buFont typeface="Arial" pitchFamily="34" charset="0"/>
              <a:buChar char="•"/>
              <a:defRPr/>
            </a:pPr>
            <a:r>
              <a:rPr lang="en-US" altLang="en-US" sz="2400" b="1" dirty="0" smtClean="0">
                <a:solidFill>
                  <a:srgbClr val="002060"/>
                </a:solidFill>
              </a:rPr>
              <a:t>Simplicity sue</a:t>
            </a:r>
            <a:r>
              <a:rPr lang="en-US" altLang="en-US" sz="2400" b="1" i="1" dirty="0" smtClean="0">
                <a:solidFill>
                  <a:srgbClr val="00B050"/>
                </a:solidFill>
              </a:rPr>
              <a:t>(making everything much simpler than it really is) </a:t>
            </a:r>
            <a:r>
              <a:rPr lang="en-US" altLang="en-US" sz="2400" dirty="0" smtClean="0"/>
              <a:t>It is the tendency to over simplify. </a:t>
            </a:r>
          </a:p>
          <a:p>
            <a:pPr algn="just" eaLnBrk="1" fontAlgn="auto" hangingPunct="1">
              <a:spcAft>
                <a:spcPts val="0"/>
              </a:spcAft>
              <a:buFont typeface="Wingdings 2" pitchFamily="18" charset="2"/>
              <a:buNone/>
              <a:defRPr/>
            </a:pPr>
            <a:endParaRPr lang="en-US" altLang="en-US" sz="2400" dirty="0" smtClean="0"/>
          </a:p>
          <a:p>
            <a:pPr algn="just" eaLnBrk="1" fontAlgn="auto" hangingPunct="1">
              <a:spcAft>
                <a:spcPts val="0"/>
              </a:spcAft>
              <a:buFont typeface="Arial" pitchFamily="34" charset="0"/>
              <a:buChar char="•"/>
              <a:defRPr/>
            </a:pPr>
            <a:r>
              <a:rPr lang="en-US" altLang="en-US" sz="2400" b="1" dirty="0" smtClean="0">
                <a:solidFill>
                  <a:srgbClr val="002060"/>
                </a:solidFill>
              </a:rPr>
              <a:t>Prima Dona Paul</a:t>
            </a:r>
            <a:r>
              <a:rPr lang="en-US" altLang="en-US" sz="2400" dirty="0" smtClean="0">
                <a:solidFill>
                  <a:srgbClr val="002060"/>
                </a:solidFill>
              </a:rPr>
              <a:t> </a:t>
            </a:r>
            <a:r>
              <a:rPr lang="en-US" altLang="en-US" sz="2400" b="1" i="1" dirty="0" smtClean="0">
                <a:solidFill>
                  <a:srgbClr val="00B050"/>
                </a:solidFill>
              </a:rPr>
              <a:t>(falling in love with the idea itself</a:t>
            </a:r>
            <a:r>
              <a:rPr lang="en-US" altLang="en-US" sz="2400" dirty="0" smtClean="0"/>
              <a:t>) An entrepreneurial type so in love with his own idea. He feels everyone is out to take his idea and take advantage of him. </a:t>
            </a:r>
          </a:p>
          <a:p>
            <a:pPr algn="just" eaLnBrk="1" fontAlgn="auto" hangingPunct="1">
              <a:spcAft>
                <a:spcPts val="0"/>
              </a:spcAft>
              <a:buFont typeface="Wingdings 2" pitchFamily="18" charset="2"/>
              <a:buNone/>
              <a:defRPr/>
            </a:pPr>
            <a:endParaRPr lang="en-US" altLang="en-US" sz="2400" dirty="0" smtClean="0"/>
          </a:p>
          <a:p>
            <a:pPr algn="just" eaLnBrk="1" fontAlgn="auto" hangingPunct="1">
              <a:spcAft>
                <a:spcPts val="0"/>
              </a:spcAft>
              <a:buFont typeface="Arial" pitchFamily="34" charset="0"/>
              <a:buChar char="•"/>
              <a:defRPr/>
            </a:pPr>
            <a:r>
              <a:rPr lang="en-US" altLang="en-US" sz="2400" b="1" dirty="0" smtClean="0">
                <a:solidFill>
                  <a:srgbClr val="002060"/>
                </a:solidFill>
              </a:rPr>
              <a:t>Ralph the Rookie</a:t>
            </a:r>
            <a:r>
              <a:rPr lang="en-US" altLang="en-US" sz="2400" dirty="0" smtClean="0">
                <a:solidFill>
                  <a:srgbClr val="002060"/>
                </a:solidFill>
              </a:rPr>
              <a:t> </a:t>
            </a:r>
            <a:r>
              <a:rPr lang="en-US" altLang="en-US" sz="2400" dirty="0" smtClean="0"/>
              <a:t>(</a:t>
            </a:r>
            <a:r>
              <a:rPr lang="en-US" altLang="en-US" sz="2400" b="1" i="1" dirty="0" smtClean="0">
                <a:solidFill>
                  <a:srgbClr val="00B050"/>
                </a:solidFill>
              </a:rPr>
              <a:t>lacking real-world experience)</a:t>
            </a:r>
            <a:r>
              <a:rPr lang="en-US" altLang="en-US" sz="2400" dirty="0" smtClean="0"/>
              <a:t> An Entrepreneurial type who is well grounded in theory but lacked real world business experience.</a:t>
            </a:r>
          </a:p>
          <a:p>
            <a:pPr algn="just" eaLnBrk="1" fontAlgn="auto" hangingPunct="1">
              <a:spcAft>
                <a:spcPts val="0"/>
              </a:spcAft>
              <a:buFont typeface="Arial" pitchFamily="34" charset="0"/>
              <a:buChar char="•"/>
              <a:defRPr/>
            </a:pPr>
            <a:endParaRPr lang="en-US" altLang="en-US" sz="16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p:cNvSpPr>
            <a:spLocks noGrp="1"/>
          </p:cNvSpPr>
          <p:nvPr>
            <p:ph idx="1"/>
          </p:nvPr>
        </p:nvSpPr>
        <p:spPr>
          <a:xfrm>
            <a:off x="990600" y="0"/>
            <a:ext cx="7943850" cy="6629400"/>
          </a:xfrm>
        </p:spPr>
        <p:txBody>
          <a:bodyPr rtlCol="0">
            <a:normAutofit fontScale="92500" lnSpcReduction="10000"/>
          </a:bodyPr>
          <a:lstStyle/>
          <a:p>
            <a:pPr algn="just" eaLnBrk="1" fontAlgn="auto" hangingPunct="1">
              <a:spcAft>
                <a:spcPts val="0"/>
              </a:spcAft>
              <a:buFont typeface="Arial" pitchFamily="34" charset="0"/>
              <a:buChar char="•"/>
              <a:defRPr/>
            </a:pPr>
            <a:r>
              <a:rPr lang="en-US" altLang="en-US" sz="2400" b="1" dirty="0" smtClean="0">
                <a:solidFill>
                  <a:srgbClr val="0070C0"/>
                </a:solidFill>
              </a:rPr>
              <a:t>Meticulous Mary</a:t>
            </a:r>
            <a:r>
              <a:rPr lang="en-US" altLang="en-US" sz="2400" dirty="0" smtClean="0">
                <a:solidFill>
                  <a:srgbClr val="0070C0"/>
                </a:solidFill>
              </a:rPr>
              <a:t> </a:t>
            </a:r>
            <a:r>
              <a:rPr lang="en-US" altLang="en-US" sz="2400" dirty="0" smtClean="0"/>
              <a:t>(</a:t>
            </a:r>
            <a:r>
              <a:rPr lang="en-US" altLang="en-US" sz="2400" b="1" i="1" dirty="0" smtClean="0">
                <a:solidFill>
                  <a:srgbClr val="00B050"/>
                </a:solidFill>
              </a:rPr>
              <a:t>being a perfectionist) </a:t>
            </a:r>
            <a:r>
              <a:rPr lang="en-US" altLang="en-US" sz="2400" dirty="0" smtClean="0"/>
              <a:t>A perfectionist entrepreneurial type who is so used to having things under control that he or she cannot manage during a catastrophe and cannot handle periods of ambiguity and chaos. </a:t>
            </a:r>
          </a:p>
          <a:p>
            <a:pPr algn="just" eaLnBrk="1" fontAlgn="auto" hangingPunct="1">
              <a:spcAft>
                <a:spcPts val="0"/>
              </a:spcAft>
              <a:buFont typeface="Wingdings 2" pitchFamily="18" charset="2"/>
              <a:buNone/>
              <a:defRPr/>
            </a:pPr>
            <a:endParaRPr lang="en-US" altLang="en-US" sz="2000" dirty="0" smtClean="0"/>
          </a:p>
          <a:p>
            <a:pPr algn="just" eaLnBrk="1" fontAlgn="auto" hangingPunct="1">
              <a:spcAft>
                <a:spcPts val="0"/>
              </a:spcAft>
              <a:buFont typeface="Arial" pitchFamily="34" charset="0"/>
              <a:buChar char="•"/>
              <a:defRPr/>
            </a:pPr>
            <a:r>
              <a:rPr lang="en-US" altLang="en-US" sz="2400" b="1" dirty="0" smtClean="0">
                <a:solidFill>
                  <a:srgbClr val="0070C0"/>
                </a:solidFill>
              </a:rPr>
              <a:t>Under dog ED</a:t>
            </a:r>
            <a:r>
              <a:rPr lang="en-US" altLang="en-US" sz="2400" dirty="0" smtClean="0">
                <a:solidFill>
                  <a:srgbClr val="0070C0"/>
                </a:solidFill>
              </a:rPr>
              <a:t> </a:t>
            </a:r>
            <a:r>
              <a:rPr lang="en-US" altLang="en-US" sz="2400" b="1" i="1" dirty="0" smtClean="0">
                <a:solidFill>
                  <a:srgbClr val="00B050"/>
                </a:solidFill>
              </a:rPr>
              <a:t>(Lacking the ability to put things in to concrete action)</a:t>
            </a:r>
            <a:r>
              <a:rPr lang="en-US" altLang="en-US" sz="2400" dirty="0" smtClean="0"/>
              <a:t> an entrepreneurial type who is not comfortable with actually transforming the invention in to a tangible business success.</a:t>
            </a:r>
          </a:p>
          <a:p>
            <a:pPr algn="just" eaLnBrk="1" fontAlgn="auto" hangingPunct="1">
              <a:spcAft>
                <a:spcPts val="0"/>
              </a:spcAft>
              <a:buFont typeface="Wingdings 2" pitchFamily="18" charset="2"/>
              <a:buNone/>
              <a:defRPr/>
            </a:pPr>
            <a:endParaRPr lang="en-US" altLang="en-US" sz="2400" dirty="0" smtClean="0"/>
          </a:p>
          <a:p>
            <a:pPr algn="just" eaLnBrk="1" fontAlgn="auto" hangingPunct="1">
              <a:spcAft>
                <a:spcPts val="0"/>
              </a:spcAft>
              <a:buFont typeface="Arial" pitchFamily="34" charset="0"/>
              <a:buChar char="•"/>
              <a:defRPr/>
            </a:pPr>
            <a:r>
              <a:rPr lang="en-US" altLang="en-US" sz="2400" b="1" dirty="0" smtClean="0">
                <a:solidFill>
                  <a:srgbClr val="0070C0"/>
                </a:solidFill>
              </a:rPr>
              <a:t>Hidden agenda Harry</a:t>
            </a:r>
            <a:r>
              <a:rPr lang="en-US" altLang="en-US" sz="2400" dirty="0" smtClean="0">
                <a:solidFill>
                  <a:srgbClr val="0070C0"/>
                </a:solidFill>
              </a:rPr>
              <a:t> </a:t>
            </a:r>
            <a:r>
              <a:rPr lang="en-US" altLang="en-US" sz="2400" b="1" i="1" dirty="0" smtClean="0">
                <a:solidFill>
                  <a:srgbClr val="00B050"/>
                </a:solidFill>
              </a:rPr>
              <a:t>(lacking the right motives) </a:t>
            </a:r>
            <a:r>
              <a:rPr lang="en-US" altLang="en-US" sz="2400" dirty="0" smtClean="0"/>
              <a:t>an entrepreneur who does not have the right motives and objective for developing and expediting a new enterprise. </a:t>
            </a:r>
          </a:p>
          <a:p>
            <a:pPr algn="just" eaLnBrk="1" fontAlgn="auto" hangingPunct="1">
              <a:spcAft>
                <a:spcPts val="0"/>
              </a:spcAft>
              <a:buFont typeface="Wingdings 2" pitchFamily="18" charset="2"/>
              <a:buNone/>
              <a:defRPr/>
            </a:pPr>
            <a:endParaRPr lang="en-US" altLang="en-US" sz="2400" dirty="0" smtClean="0"/>
          </a:p>
          <a:p>
            <a:pPr algn="just" eaLnBrk="1" fontAlgn="auto" hangingPunct="1">
              <a:spcAft>
                <a:spcPts val="0"/>
              </a:spcAft>
              <a:buFont typeface="Arial" pitchFamily="34" charset="0"/>
              <a:buChar char="•"/>
              <a:defRPr/>
            </a:pPr>
            <a:r>
              <a:rPr lang="en-US" altLang="en-US" sz="2400" b="1" dirty="0" smtClean="0">
                <a:solidFill>
                  <a:srgbClr val="0070C0"/>
                </a:solidFill>
              </a:rPr>
              <a:t>Inventor Irving </a:t>
            </a:r>
            <a:r>
              <a:rPr lang="en-US" altLang="en-US" sz="2400" dirty="0" smtClean="0"/>
              <a:t>(</a:t>
            </a:r>
            <a:r>
              <a:rPr lang="en-US" altLang="en-US" sz="2400" b="1" i="1" dirty="0" smtClean="0">
                <a:solidFill>
                  <a:srgbClr val="00B050"/>
                </a:solidFill>
              </a:rPr>
              <a:t>Loving creating more than doing) </a:t>
            </a:r>
            <a:r>
              <a:rPr lang="en-US" altLang="en-US" sz="2400" dirty="0" smtClean="0"/>
              <a:t>an inventor more than an entrepreneur who is more concerned about the invention itself rather than expediting a business.</a:t>
            </a:r>
          </a:p>
          <a:p>
            <a:pPr algn="just" eaLnBrk="1" fontAlgn="auto" hangingPunct="1">
              <a:spcAft>
                <a:spcPts val="0"/>
              </a:spcAft>
              <a:buFont typeface="Arial" pitchFamily="34" charset="0"/>
              <a:buChar char="•"/>
              <a:defRPr/>
            </a:pPr>
            <a:endParaRPr lang="en-US" altLang="en-US" sz="2000"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extLst>
          </p:cNvPr>
          <p:cNvSpPr>
            <a:spLocks noGrp="1"/>
          </p:cNvSpPr>
          <p:nvPr>
            <p:ph type="title"/>
          </p:nvPr>
        </p:nvSpPr>
        <p:spPr>
          <a:xfrm>
            <a:off x="990600" y="0"/>
            <a:ext cx="8153400" cy="1417638"/>
          </a:xfrm>
          <a:solidFill>
            <a:srgbClr val="0070C0"/>
          </a:solidFill>
        </p:spPr>
        <p:txBody>
          <a:bodyPr rtlCol="0">
            <a:normAutofit fontScale="90000"/>
          </a:bodyPr>
          <a:lstStyle/>
          <a:p>
            <a:pPr lvl="1" eaLnBrk="1" fontAlgn="auto" hangingPunct="1">
              <a:spcBef>
                <a:spcPts val="0"/>
              </a:spcBef>
              <a:spcAft>
                <a:spcPts val="0"/>
              </a:spcAft>
              <a:defRPr/>
            </a:pPr>
            <a:r>
              <a:rPr lang="en-US" sz="2700" b="1" dirty="0">
                <a:solidFill>
                  <a:sysClr val="windowText" lastClr="000000"/>
                </a:solidFill>
              </a:rPr>
              <a:t/>
            </a:r>
            <a:br>
              <a:rPr lang="en-US" sz="2700" b="1" dirty="0">
                <a:solidFill>
                  <a:sysClr val="windowText" lastClr="000000"/>
                </a:solidFill>
              </a:rPr>
            </a:br>
            <a:r>
              <a:rPr lang="x-none" sz="3100" b="1">
                <a:solidFill>
                  <a:srgbClr val="FFFF00"/>
                </a:solidFill>
              </a:rPr>
              <a:t>Comparison between entrepreneurs and non-entrepreneurs</a:t>
            </a:r>
            <a:r>
              <a:rPr lang="en-US" sz="4900" b="1" i="1" dirty="0">
                <a:solidFill>
                  <a:srgbClr val="FFFF00"/>
                </a:solidFill>
              </a:rPr>
              <a:t/>
            </a:r>
            <a:br>
              <a:rPr lang="en-US" sz="4900" b="1" i="1" dirty="0">
                <a:solidFill>
                  <a:srgbClr val="FFFF00"/>
                </a:solidFill>
              </a:rPr>
            </a:br>
            <a:endParaRPr lang="en-US" sz="1800" dirty="0">
              <a:solidFill>
                <a:srgbClr val="FFFF00"/>
              </a:solidFill>
            </a:endParaRPr>
          </a:p>
        </p:txBody>
      </p:sp>
      <p:sp>
        <p:nvSpPr>
          <p:cNvPr id="43011" name="Content Placeholder 6"/>
          <p:cNvSpPr>
            <a:spLocks noGrp="1"/>
          </p:cNvSpPr>
          <p:nvPr>
            <p:ph sz="half" idx="1"/>
          </p:nvPr>
        </p:nvSpPr>
        <p:spPr>
          <a:xfrm>
            <a:off x="990600" y="1524000"/>
            <a:ext cx="4102100" cy="5029200"/>
          </a:xfrm>
          <a:solidFill>
            <a:schemeClr val="tx1"/>
          </a:solidFill>
        </p:spPr>
        <p:txBody>
          <a:bodyPr rtlCol="0">
            <a:normAutofit fontScale="77500" lnSpcReduction="20000"/>
          </a:bodyPr>
          <a:lstStyle/>
          <a:p>
            <a:pPr algn="ctr" eaLnBrk="1" fontAlgn="auto" hangingPunct="1">
              <a:spcAft>
                <a:spcPts val="0"/>
              </a:spcAft>
              <a:buFont typeface="Wingdings 2" pitchFamily="18" charset="2"/>
              <a:buNone/>
              <a:defRPr/>
            </a:pPr>
            <a:r>
              <a:rPr lang="en-US" altLang="en-US" sz="2600" b="1" dirty="0" smtClean="0">
                <a:solidFill>
                  <a:srgbClr val="00B0F0"/>
                </a:solidFill>
              </a:rPr>
              <a:t>Entrepreneurs</a:t>
            </a:r>
          </a:p>
          <a:p>
            <a:pPr eaLnBrk="1" fontAlgn="auto" hangingPunct="1">
              <a:spcAft>
                <a:spcPts val="0"/>
              </a:spcAft>
              <a:buFont typeface="Wingdings" pitchFamily="2" charset="2"/>
              <a:buChar char="ü"/>
              <a:defRPr/>
            </a:pPr>
            <a:r>
              <a:rPr lang="en-US" altLang="en-US" sz="2200" dirty="0" smtClean="0">
                <a:solidFill>
                  <a:srgbClr val="00B0F0"/>
                </a:solidFill>
              </a:rPr>
              <a:t>Desire for achievement                                            </a:t>
            </a:r>
          </a:p>
          <a:p>
            <a:pPr eaLnBrk="1" fontAlgn="auto" hangingPunct="1">
              <a:spcAft>
                <a:spcPts val="0"/>
              </a:spcAft>
              <a:buFont typeface="Wingdings" pitchFamily="2" charset="2"/>
              <a:buChar char="ü"/>
              <a:defRPr/>
            </a:pPr>
            <a:r>
              <a:rPr lang="en-US" altLang="en-US" sz="2200" dirty="0" smtClean="0">
                <a:solidFill>
                  <a:srgbClr val="00B0F0"/>
                </a:solidFill>
              </a:rPr>
              <a:t>Autonomous and independent                                </a:t>
            </a:r>
          </a:p>
          <a:p>
            <a:pPr eaLnBrk="1" fontAlgn="auto" hangingPunct="1">
              <a:spcAft>
                <a:spcPts val="0"/>
              </a:spcAft>
              <a:buFont typeface="Wingdings" pitchFamily="2" charset="2"/>
              <a:buChar char="ü"/>
              <a:defRPr/>
            </a:pPr>
            <a:r>
              <a:rPr lang="en-US" altLang="en-US" sz="2200" dirty="0" smtClean="0">
                <a:solidFill>
                  <a:srgbClr val="00B0F0"/>
                </a:solidFill>
              </a:rPr>
              <a:t>Motivated by task not by its reward                       </a:t>
            </a:r>
          </a:p>
          <a:p>
            <a:pPr eaLnBrk="1" fontAlgn="auto" hangingPunct="1">
              <a:spcAft>
                <a:spcPts val="0"/>
              </a:spcAft>
              <a:buFont typeface="Wingdings" pitchFamily="2" charset="2"/>
              <a:buChar char="ü"/>
              <a:defRPr/>
            </a:pPr>
            <a:r>
              <a:rPr lang="en-US" altLang="en-US" sz="2200" dirty="0" smtClean="0">
                <a:solidFill>
                  <a:srgbClr val="00B0F0"/>
                </a:solidFill>
              </a:rPr>
              <a:t>Learn from his own experience                             </a:t>
            </a:r>
          </a:p>
          <a:p>
            <a:pPr eaLnBrk="1" fontAlgn="auto" hangingPunct="1">
              <a:spcAft>
                <a:spcPts val="0"/>
              </a:spcAft>
              <a:buFont typeface="Wingdings" pitchFamily="2" charset="2"/>
              <a:buChar char="ü"/>
              <a:defRPr/>
            </a:pPr>
            <a:r>
              <a:rPr lang="en-US" altLang="en-US" sz="2200" dirty="0" smtClean="0">
                <a:solidFill>
                  <a:srgbClr val="00B0F0"/>
                </a:solidFill>
              </a:rPr>
              <a:t>Moderate risk takes                                                 </a:t>
            </a:r>
          </a:p>
          <a:p>
            <a:pPr eaLnBrk="1" fontAlgn="auto" hangingPunct="1">
              <a:spcAft>
                <a:spcPts val="0"/>
              </a:spcAft>
              <a:buFont typeface="Wingdings" pitchFamily="2" charset="2"/>
              <a:buChar char="ü"/>
              <a:defRPr/>
            </a:pPr>
            <a:r>
              <a:rPr lang="en-US" altLang="en-US" sz="2200" dirty="0" smtClean="0">
                <a:solidFill>
                  <a:srgbClr val="00B0F0"/>
                </a:solidFill>
              </a:rPr>
              <a:t>Receptive to new ideas                                             </a:t>
            </a:r>
          </a:p>
          <a:p>
            <a:pPr eaLnBrk="1" fontAlgn="auto" hangingPunct="1">
              <a:spcAft>
                <a:spcPts val="0"/>
              </a:spcAft>
              <a:buFont typeface="Wingdings" pitchFamily="2" charset="2"/>
              <a:buChar char="ü"/>
              <a:defRPr/>
            </a:pPr>
            <a:r>
              <a:rPr lang="en-US" altLang="en-US" sz="2200" dirty="0" smtClean="0">
                <a:solidFill>
                  <a:srgbClr val="00B0F0"/>
                </a:solidFill>
              </a:rPr>
              <a:t>Hardworking </a:t>
            </a:r>
          </a:p>
          <a:p>
            <a:pPr eaLnBrk="1" fontAlgn="auto" hangingPunct="1">
              <a:spcAft>
                <a:spcPts val="0"/>
              </a:spcAft>
              <a:buFont typeface="Wingdings" pitchFamily="2" charset="2"/>
              <a:buChar char="ü"/>
              <a:defRPr/>
            </a:pPr>
            <a:r>
              <a:rPr lang="en-US" altLang="en-US" sz="2200" dirty="0" smtClean="0">
                <a:solidFill>
                  <a:srgbClr val="00B0F0"/>
                </a:solidFill>
              </a:rPr>
              <a:t>Attributes success or failure for himself alone          </a:t>
            </a:r>
          </a:p>
          <a:p>
            <a:pPr eaLnBrk="1" fontAlgn="auto" hangingPunct="1">
              <a:spcAft>
                <a:spcPts val="0"/>
              </a:spcAft>
              <a:buFont typeface="Wingdings" pitchFamily="2" charset="2"/>
              <a:buChar char="ü"/>
              <a:defRPr/>
            </a:pPr>
            <a:r>
              <a:rPr lang="en-US" altLang="en-US" sz="2200" dirty="0" smtClean="0">
                <a:solidFill>
                  <a:srgbClr val="00B0F0"/>
                </a:solidFill>
              </a:rPr>
              <a:t>Optimists </a:t>
            </a:r>
          </a:p>
          <a:p>
            <a:pPr eaLnBrk="1" fontAlgn="auto" hangingPunct="1">
              <a:spcAft>
                <a:spcPts val="0"/>
              </a:spcAft>
              <a:buFont typeface="Wingdings" pitchFamily="2" charset="2"/>
              <a:buChar char="ü"/>
              <a:defRPr/>
            </a:pPr>
            <a:r>
              <a:rPr lang="en-US" altLang="en-US" sz="2200" dirty="0" smtClean="0">
                <a:solidFill>
                  <a:srgbClr val="00B0F0"/>
                </a:solidFill>
              </a:rPr>
              <a:t>flexible  (resilient) </a:t>
            </a:r>
          </a:p>
          <a:p>
            <a:pPr eaLnBrk="1" fontAlgn="auto" hangingPunct="1">
              <a:spcAft>
                <a:spcPts val="0"/>
              </a:spcAft>
              <a:buFont typeface="Wingdings" pitchFamily="2" charset="2"/>
              <a:buChar char="ü"/>
              <a:defRPr/>
            </a:pPr>
            <a:r>
              <a:rPr lang="en-US" altLang="en-US" sz="2200" dirty="0" smtClean="0">
                <a:solidFill>
                  <a:srgbClr val="00B0F0"/>
                </a:solidFill>
              </a:rPr>
              <a:t>High internal locus of control                               </a:t>
            </a:r>
          </a:p>
          <a:p>
            <a:pPr eaLnBrk="1" fontAlgn="auto" hangingPunct="1">
              <a:spcAft>
                <a:spcPts val="0"/>
              </a:spcAft>
              <a:buFont typeface="Wingdings 2" pitchFamily="18" charset="2"/>
              <a:buNone/>
              <a:defRPr/>
            </a:pPr>
            <a:r>
              <a:rPr lang="en-US" altLang="en-US" sz="1800" dirty="0" smtClean="0">
                <a:solidFill>
                  <a:srgbClr val="00B0F0"/>
                </a:solidFill>
              </a:rPr>
              <a:t>                  </a:t>
            </a:r>
            <a:r>
              <a:rPr lang="en-US" altLang="en-US" sz="1600" dirty="0" smtClean="0">
                <a:solidFill>
                  <a:srgbClr val="00B0F0"/>
                </a:solidFill>
              </a:rPr>
              <a:t>                            </a:t>
            </a:r>
          </a:p>
          <a:p>
            <a:pPr eaLnBrk="1" fontAlgn="auto" hangingPunct="1">
              <a:spcAft>
                <a:spcPts val="0"/>
              </a:spcAft>
              <a:buFont typeface="Wingdings 2" pitchFamily="18" charset="2"/>
              <a:buNone/>
              <a:defRPr/>
            </a:pPr>
            <a:r>
              <a:rPr lang="en-US" altLang="en-US" sz="1600" dirty="0" smtClean="0"/>
              <a:t>                                                                </a:t>
            </a:r>
          </a:p>
          <a:p>
            <a:pPr eaLnBrk="1" fontAlgn="auto" hangingPunct="1">
              <a:spcAft>
                <a:spcPts val="0"/>
              </a:spcAft>
              <a:buFont typeface="Wingdings 2" pitchFamily="18" charset="2"/>
              <a:buNone/>
              <a:defRPr/>
            </a:pPr>
            <a:r>
              <a:rPr lang="en-US" altLang="en-US" sz="1600" dirty="0" smtClean="0"/>
              <a:t>                                                            </a:t>
            </a:r>
          </a:p>
        </p:txBody>
      </p:sp>
      <p:sp>
        <p:nvSpPr>
          <p:cNvPr id="43012" name="Content Placeholder 7"/>
          <p:cNvSpPr>
            <a:spLocks noGrp="1"/>
          </p:cNvSpPr>
          <p:nvPr>
            <p:ph sz="half" idx="2"/>
          </p:nvPr>
        </p:nvSpPr>
        <p:spPr>
          <a:xfrm>
            <a:off x="5486400" y="1447800"/>
            <a:ext cx="3657600" cy="5181600"/>
          </a:xfrm>
          <a:solidFill>
            <a:schemeClr val="tx1"/>
          </a:solidFill>
        </p:spPr>
        <p:txBody>
          <a:bodyPr rtlCol="0">
            <a:normAutofit fontScale="77500" lnSpcReduction="20000"/>
          </a:bodyPr>
          <a:lstStyle/>
          <a:p>
            <a:pPr eaLnBrk="1" fontAlgn="auto" hangingPunct="1">
              <a:spcAft>
                <a:spcPts val="0"/>
              </a:spcAft>
              <a:buFont typeface="Wingdings 2" pitchFamily="18" charset="2"/>
              <a:buNone/>
              <a:defRPr/>
            </a:pPr>
            <a:r>
              <a:rPr lang="en-US" altLang="en-US" sz="2000" b="1" dirty="0" smtClean="0">
                <a:solidFill>
                  <a:srgbClr val="00B0F0"/>
                </a:solidFill>
              </a:rPr>
              <a:t>Non entrepreneurs</a:t>
            </a:r>
          </a:p>
          <a:p>
            <a:pPr eaLnBrk="1" fontAlgn="auto" hangingPunct="1">
              <a:spcAft>
                <a:spcPts val="0"/>
              </a:spcAft>
              <a:buFont typeface="Wingdings" pitchFamily="2" charset="2"/>
              <a:buChar char="ü"/>
              <a:defRPr/>
            </a:pPr>
            <a:r>
              <a:rPr lang="en-US" altLang="en-US" sz="2000" dirty="0" err="1" smtClean="0">
                <a:solidFill>
                  <a:srgbClr val="00B0F0"/>
                </a:solidFill>
              </a:rPr>
              <a:t>Unambitious</a:t>
            </a:r>
            <a:endParaRPr lang="en-US" altLang="en-US" sz="2000" dirty="0" smtClean="0">
              <a:solidFill>
                <a:srgbClr val="00B0F0"/>
              </a:solidFill>
            </a:endParaRPr>
          </a:p>
          <a:p>
            <a:pPr eaLnBrk="1" fontAlgn="auto" hangingPunct="1">
              <a:spcAft>
                <a:spcPts val="0"/>
              </a:spcAft>
              <a:buFont typeface="Wingdings" pitchFamily="2" charset="2"/>
              <a:buChar char="ü"/>
              <a:defRPr/>
            </a:pPr>
            <a:r>
              <a:rPr lang="en-US" altLang="en-US" sz="2000" dirty="0" smtClean="0">
                <a:solidFill>
                  <a:srgbClr val="00B0F0"/>
                </a:solidFill>
              </a:rPr>
              <a:t>Easily discovered </a:t>
            </a:r>
          </a:p>
          <a:p>
            <a:pPr eaLnBrk="1" fontAlgn="auto" hangingPunct="1">
              <a:spcAft>
                <a:spcPts val="0"/>
              </a:spcAft>
              <a:buFont typeface="Wingdings" pitchFamily="2" charset="2"/>
              <a:buChar char="ü"/>
              <a:defRPr/>
            </a:pPr>
            <a:r>
              <a:rPr lang="en-US" altLang="en-US" sz="2000" dirty="0" smtClean="0">
                <a:solidFill>
                  <a:srgbClr val="00B0F0"/>
                </a:solidFill>
              </a:rPr>
              <a:t>Pessimists</a:t>
            </a:r>
          </a:p>
          <a:p>
            <a:pPr eaLnBrk="1" fontAlgn="auto" hangingPunct="1">
              <a:spcAft>
                <a:spcPts val="0"/>
              </a:spcAft>
              <a:buFont typeface="Wingdings" pitchFamily="2" charset="2"/>
              <a:buChar char="ü"/>
              <a:defRPr/>
            </a:pPr>
            <a:r>
              <a:rPr lang="en-US" altLang="en-US" sz="2000" dirty="0" smtClean="0">
                <a:solidFill>
                  <a:srgbClr val="00B0F0"/>
                </a:solidFill>
              </a:rPr>
              <a:t>Conservative</a:t>
            </a:r>
          </a:p>
          <a:p>
            <a:pPr eaLnBrk="1" fontAlgn="auto" hangingPunct="1">
              <a:spcAft>
                <a:spcPts val="0"/>
              </a:spcAft>
              <a:buFont typeface="Wingdings" pitchFamily="2" charset="2"/>
              <a:buChar char="ü"/>
              <a:defRPr/>
            </a:pPr>
            <a:r>
              <a:rPr lang="en-US" altLang="en-US" sz="2000" dirty="0" smtClean="0">
                <a:solidFill>
                  <a:srgbClr val="00B0F0"/>
                </a:solidFill>
              </a:rPr>
              <a:t>Lazy</a:t>
            </a:r>
          </a:p>
          <a:p>
            <a:pPr eaLnBrk="1" fontAlgn="auto" hangingPunct="1">
              <a:spcAft>
                <a:spcPts val="0"/>
              </a:spcAft>
              <a:buFont typeface="Wingdings" pitchFamily="2" charset="2"/>
              <a:buChar char="ü"/>
              <a:defRPr/>
            </a:pPr>
            <a:r>
              <a:rPr lang="en-US" altLang="en-US" sz="2000" dirty="0" smtClean="0">
                <a:solidFill>
                  <a:srgbClr val="00B0F0"/>
                </a:solidFill>
              </a:rPr>
              <a:t>Ignorant needs no change</a:t>
            </a:r>
          </a:p>
          <a:p>
            <a:pPr eaLnBrk="1" fontAlgn="auto" hangingPunct="1">
              <a:spcAft>
                <a:spcPts val="0"/>
              </a:spcAft>
              <a:buFont typeface="Wingdings" pitchFamily="2" charset="2"/>
              <a:buChar char="ü"/>
              <a:defRPr/>
            </a:pPr>
            <a:r>
              <a:rPr lang="en-US" altLang="en-US" sz="2000" dirty="0" smtClean="0">
                <a:solidFill>
                  <a:srgbClr val="00B0F0"/>
                </a:solidFill>
              </a:rPr>
              <a:t>Gamblers</a:t>
            </a:r>
          </a:p>
          <a:p>
            <a:pPr eaLnBrk="1" fontAlgn="auto" hangingPunct="1">
              <a:spcAft>
                <a:spcPts val="0"/>
              </a:spcAft>
              <a:buFont typeface="Wingdings" pitchFamily="2" charset="2"/>
              <a:buChar char="ü"/>
              <a:defRPr/>
            </a:pPr>
            <a:r>
              <a:rPr lang="en-US" altLang="en-US" sz="2000" dirty="0" smtClean="0">
                <a:solidFill>
                  <a:srgbClr val="00B0F0"/>
                </a:solidFill>
              </a:rPr>
              <a:t>Resist assistance</a:t>
            </a:r>
          </a:p>
          <a:p>
            <a:pPr eaLnBrk="1" fontAlgn="auto" hangingPunct="1">
              <a:spcAft>
                <a:spcPts val="0"/>
              </a:spcAft>
              <a:buFont typeface="Wingdings" pitchFamily="2" charset="2"/>
              <a:buChar char="ü"/>
              <a:defRPr/>
            </a:pPr>
            <a:r>
              <a:rPr lang="en-US" altLang="en-US" sz="2000" dirty="0" smtClean="0">
                <a:solidFill>
                  <a:srgbClr val="00B0F0"/>
                </a:solidFill>
              </a:rPr>
              <a:t>Greedy</a:t>
            </a:r>
          </a:p>
          <a:p>
            <a:pPr eaLnBrk="1" fontAlgn="auto" hangingPunct="1">
              <a:spcAft>
                <a:spcPts val="0"/>
              </a:spcAft>
              <a:buFont typeface="Wingdings" pitchFamily="2" charset="2"/>
              <a:buChar char="ü"/>
              <a:defRPr/>
            </a:pPr>
            <a:r>
              <a:rPr lang="en-US" altLang="en-US" sz="2000" dirty="0" smtClean="0">
                <a:solidFill>
                  <a:srgbClr val="00B0F0"/>
                </a:solidFill>
              </a:rPr>
              <a:t>Dependent</a:t>
            </a:r>
          </a:p>
          <a:p>
            <a:pPr eaLnBrk="1" fontAlgn="auto" hangingPunct="1">
              <a:spcAft>
                <a:spcPts val="0"/>
              </a:spcAft>
              <a:buFont typeface="Wingdings" pitchFamily="2" charset="2"/>
              <a:buChar char="ü"/>
              <a:defRPr/>
            </a:pPr>
            <a:r>
              <a:rPr lang="en-US" altLang="en-US" sz="2000" dirty="0" smtClean="0">
                <a:solidFill>
                  <a:srgbClr val="00B0F0"/>
                </a:solidFill>
              </a:rPr>
              <a:t>High external locus of control</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noChangeArrowheads="1"/>
          </p:cNvSpPr>
          <p:nvPr>
            <p:ph type="title"/>
          </p:nvPr>
        </p:nvSpPr>
        <p:spPr>
          <a:xfrm>
            <a:off x="990600" y="0"/>
            <a:ext cx="8001000" cy="1371600"/>
          </a:xfrm>
          <a:solidFill>
            <a:srgbClr val="0070C0"/>
          </a:solidFill>
        </p:spPr>
        <p:txBody>
          <a:bodyPr/>
          <a:lstStyle/>
          <a:p>
            <a:pPr marL="342900" indent="-342900" eaLnBrk="1" hangingPunct="1"/>
            <a:r>
              <a:rPr lang="en-US" altLang="en-US" sz="2400" b="1" smtClean="0">
                <a:solidFill>
                  <a:srgbClr val="FFFF00"/>
                </a:solidFill>
              </a:rPr>
              <a:t>The Potential Drawbacks Of Entrepreneurship</a:t>
            </a:r>
            <a:endParaRPr lang="en-US" altLang="en-US" sz="2400" b="1" i="1" smtClean="0">
              <a:solidFill>
                <a:srgbClr val="FFFF00"/>
              </a:solidFill>
            </a:endParaRPr>
          </a:p>
        </p:txBody>
      </p:sp>
      <p:sp>
        <p:nvSpPr>
          <p:cNvPr id="35843" name="Content Placeholder 2"/>
          <p:cNvSpPr>
            <a:spLocks noGrp="1"/>
          </p:cNvSpPr>
          <p:nvPr>
            <p:ph idx="1"/>
          </p:nvPr>
        </p:nvSpPr>
        <p:spPr>
          <a:xfrm>
            <a:off x="990600" y="1828800"/>
            <a:ext cx="7943850" cy="5029200"/>
          </a:xfrm>
        </p:spPr>
        <p:txBody>
          <a:bodyPr/>
          <a:lstStyle/>
          <a:p>
            <a:pPr eaLnBrk="1" hangingPunct="1">
              <a:buFont typeface="Wingdings" pitchFamily="2" charset="2"/>
              <a:buChar char="ü"/>
            </a:pPr>
            <a:r>
              <a:rPr lang="en-US" altLang="en-US" sz="2800" b="1" i="1" smtClean="0">
                <a:latin typeface="Times New Roman" pitchFamily="18" charset="0"/>
                <a:cs typeface="Times New Roman" pitchFamily="18" charset="0"/>
              </a:rPr>
              <a:t>Uncertainty of Income</a:t>
            </a:r>
            <a:endParaRPr lang="en-US" altLang="en-US" sz="2800" i="1" smtClean="0">
              <a:latin typeface="Times New Roman" pitchFamily="18" charset="0"/>
              <a:cs typeface="Times New Roman" pitchFamily="18" charset="0"/>
            </a:endParaRPr>
          </a:p>
          <a:p>
            <a:pPr eaLnBrk="1" hangingPunct="1">
              <a:buFont typeface="Wingdings" pitchFamily="2" charset="2"/>
              <a:buChar char="ü"/>
            </a:pPr>
            <a:r>
              <a:rPr lang="en-US" altLang="en-US" sz="2800" b="1" i="1" smtClean="0">
                <a:latin typeface="Times New Roman" pitchFamily="18" charset="0"/>
                <a:cs typeface="Times New Roman" pitchFamily="18" charset="0"/>
              </a:rPr>
              <a:t>Risk of Losing Your Entire Invested Capital</a:t>
            </a:r>
            <a:endParaRPr lang="en-US" altLang="en-US" sz="2800" i="1" smtClean="0">
              <a:latin typeface="Times New Roman" pitchFamily="18" charset="0"/>
              <a:cs typeface="Times New Roman" pitchFamily="18" charset="0"/>
            </a:endParaRPr>
          </a:p>
          <a:p>
            <a:pPr eaLnBrk="1" hangingPunct="1">
              <a:buFont typeface="Wingdings" pitchFamily="2" charset="2"/>
              <a:buChar char="ü"/>
            </a:pPr>
            <a:r>
              <a:rPr lang="en-US" altLang="en-US" sz="2800" b="1" i="1" smtClean="0">
                <a:latin typeface="Times New Roman" pitchFamily="18" charset="0"/>
                <a:cs typeface="Times New Roman" pitchFamily="18" charset="0"/>
              </a:rPr>
              <a:t>Long Hours and Hard Work</a:t>
            </a:r>
            <a:endParaRPr lang="en-US" altLang="en-US" sz="2800" i="1" smtClean="0">
              <a:latin typeface="Times New Roman" pitchFamily="18" charset="0"/>
              <a:cs typeface="Times New Roman" pitchFamily="18" charset="0"/>
            </a:endParaRPr>
          </a:p>
          <a:p>
            <a:pPr eaLnBrk="1" hangingPunct="1">
              <a:buFont typeface="Wingdings" pitchFamily="2" charset="2"/>
              <a:buChar char="ü"/>
            </a:pPr>
            <a:r>
              <a:rPr lang="en-US" altLang="en-US" sz="2800" b="1" i="1" smtClean="0">
                <a:latin typeface="Times New Roman" pitchFamily="18" charset="0"/>
                <a:cs typeface="Times New Roman" pitchFamily="18" charset="0"/>
              </a:rPr>
              <a:t>Lower Quality of Life Until the Business Gets Established</a:t>
            </a:r>
            <a:endParaRPr lang="en-US" altLang="en-US" sz="2800" i="1" smtClean="0">
              <a:latin typeface="Times New Roman" pitchFamily="18" charset="0"/>
              <a:cs typeface="Times New Roman" pitchFamily="18" charset="0"/>
            </a:endParaRPr>
          </a:p>
          <a:p>
            <a:pPr eaLnBrk="1" hangingPunct="1">
              <a:buFont typeface="Wingdings" pitchFamily="2" charset="2"/>
              <a:buChar char="ü"/>
            </a:pPr>
            <a:r>
              <a:rPr lang="en-US" altLang="en-US" sz="2800" b="1" i="1" smtClean="0">
                <a:latin typeface="Times New Roman" pitchFamily="18" charset="0"/>
                <a:cs typeface="Times New Roman" pitchFamily="18" charset="0"/>
              </a:rPr>
              <a:t>Discouragement</a:t>
            </a:r>
            <a:endParaRPr lang="en-US" altLang="en-US" sz="2800" i="1" smtClean="0">
              <a:latin typeface="Times New Roman" pitchFamily="18" charset="0"/>
              <a:cs typeface="Times New Roman" pitchFamily="18" charset="0"/>
            </a:endParaRPr>
          </a:p>
          <a:p>
            <a:pPr eaLnBrk="1" hangingPunct="1">
              <a:buFont typeface="Wingdings" pitchFamily="2" charset="2"/>
              <a:buChar char="ü"/>
            </a:pPr>
            <a:r>
              <a:rPr lang="en-US" altLang="en-US" sz="2800" b="1" i="1" smtClean="0">
                <a:latin typeface="Times New Roman" pitchFamily="18" charset="0"/>
                <a:cs typeface="Times New Roman" pitchFamily="18" charset="0"/>
              </a:rPr>
              <a:t>Complete Responsibility</a:t>
            </a:r>
            <a:endParaRPr lang="en-US" altLang="en-US" sz="2800" i="1" smtClean="0">
              <a:latin typeface="Times New Roman" pitchFamily="18" charset="0"/>
              <a:cs typeface="Times New Roman" pitchFamily="18" charset="0"/>
            </a:endParaRPr>
          </a:p>
          <a:p>
            <a:pPr eaLnBrk="1" hangingPunct="1">
              <a:buFont typeface="Wingdings" pitchFamily="2" charset="2"/>
              <a:buChar char="ü"/>
            </a:pPr>
            <a:r>
              <a:rPr lang="en-US" altLang="en-US" sz="2800" b="1" i="1" smtClean="0">
                <a:latin typeface="Times New Roman" pitchFamily="18" charset="0"/>
                <a:cs typeface="Times New Roman" pitchFamily="18" charset="0"/>
              </a:rPr>
              <a:t>High Levels of Stress</a:t>
            </a:r>
            <a:endParaRPr lang="en-US" altLang="en-US" sz="2800" i="1" smtClean="0">
              <a:latin typeface="Times New Roman" pitchFamily="18" charset="0"/>
              <a:cs typeface="Times New Roman" pitchFamily="18" charset="0"/>
            </a:endParaRPr>
          </a:p>
          <a:p>
            <a:pPr eaLnBrk="1" hangingPunct="1"/>
            <a:endParaRPr lang="en-US" altLang="en-US"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990600" y="0"/>
            <a:ext cx="8153400" cy="1417638"/>
          </a:xfrm>
          <a:solidFill>
            <a:srgbClr val="0070C0"/>
          </a:solidFill>
        </p:spPr>
        <p:txBody>
          <a:bodyPr/>
          <a:lstStyle/>
          <a:p>
            <a:pPr eaLnBrk="1" hangingPunct="1"/>
            <a:r>
              <a:rPr lang="en-US" sz="2800" b="1" smtClean="0">
                <a:solidFill>
                  <a:srgbClr val="FFFF00"/>
                </a:solidFill>
              </a:rPr>
              <a:t>Characteristics (Qualities) of Entrepreneurs</a:t>
            </a:r>
            <a:endParaRPr lang="en-US" sz="2800" smtClean="0">
              <a:solidFill>
                <a:srgbClr val="FFFF00"/>
              </a:solidFill>
            </a:endParaRPr>
          </a:p>
        </p:txBody>
      </p:sp>
      <p:sp>
        <p:nvSpPr>
          <p:cNvPr id="20483" name="Content Placeholder 2"/>
          <p:cNvSpPr>
            <a:spLocks noGrp="1"/>
          </p:cNvSpPr>
          <p:nvPr>
            <p:ph sz="half" idx="1"/>
          </p:nvPr>
        </p:nvSpPr>
        <p:spPr>
          <a:xfrm>
            <a:off x="1066800" y="1524000"/>
            <a:ext cx="4025900" cy="5105400"/>
          </a:xfrm>
          <a:solidFill>
            <a:srgbClr val="00B0F0"/>
          </a:solidFill>
        </p:spPr>
        <p:txBody>
          <a:bodyPr/>
          <a:lstStyle/>
          <a:p>
            <a:pPr eaLnBrk="1" hangingPunct="1">
              <a:buFont typeface="Wingdings" pitchFamily="2" charset="2"/>
              <a:buChar char="ü"/>
            </a:pPr>
            <a:r>
              <a:rPr lang="en-US" altLang="en-US" sz="2400" b="1" i="1" dirty="0" smtClean="0"/>
              <a:t>Desire and willingness to take initiative.</a:t>
            </a:r>
            <a:endParaRPr lang="en-US" altLang="en-US" sz="2400" dirty="0" smtClean="0"/>
          </a:p>
          <a:p>
            <a:pPr eaLnBrk="1" hangingPunct="1">
              <a:buFont typeface="Wingdings" pitchFamily="2" charset="2"/>
              <a:buChar char="ü"/>
            </a:pPr>
            <a:r>
              <a:rPr lang="en-US" altLang="en-US" sz="2400" b="1" i="1" dirty="0" smtClean="0"/>
              <a:t>Preference for moderate risk</a:t>
            </a:r>
            <a:endParaRPr lang="en-US" altLang="en-US" sz="2400" dirty="0" smtClean="0"/>
          </a:p>
          <a:p>
            <a:pPr eaLnBrk="1" hangingPunct="1">
              <a:buFont typeface="Wingdings" pitchFamily="2" charset="2"/>
              <a:buChar char="ü"/>
            </a:pPr>
            <a:r>
              <a:rPr lang="en-US" altLang="en-US" sz="2400" b="1" i="1" dirty="0" smtClean="0"/>
              <a:t>Confidence in their ability to succeed</a:t>
            </a:r>
            <a:endParaRPr lang="en-US" altLang="en-US" sz="2400" dirty="0" smtClean="0"/>
          </a:p>
          <a:p>
            <a:pPr eaLnBrk="1" hangingPunct="1">
              <a:buFont typeface="Wingdings" pitchFamily="2" charset="2"/>
              <a:buChar char="ü"/>
            </a:pPr>
            <a:r>
              <a:rPr lang="en-US" altLang="en-US" sz="2400" b="1" i="1" dirty="0" smtClean="0"/>
              <a:t>Self-reliance</a:t>
            </a:r>
            <a:endParaRPr lang="en-US" altLang="en-US" sz="2400" dirty="0" smtClean="0"/>
          </a:p>
          <a:p>
            <a:pPr eaLnBrk="1" hangingPunct="1">
              <a:buFont typeface="Wingdings" pitchFamily="2" charset="2"/>
              <a:buChar char="ü"/>
            </a:pPr>
            <a:r>
              <a:rPr lang="en-US" altLang="en-US" sz="2400" b="1" i="1" dirty="0" smtClean="0"/>
              <a:t>Perseverance</a:t>
            </a:r>
            <a:endParaRPr lang="en-US" altLang="en-US" sz="2400" dirty="0" smtClean="0"/>
          </a:p>
          <a:p>
            <a:pPr eaLnBrk="1" hangingPunct="1">
              <a:buFont typeface="Wingdings" pitchFamily="2" charset="2"/>
              <a:buChar char="ü"/>
            </a:pPr>
            <a:r>
              <a:rPr lang="en-US" altLang="en-US" sz="2400" b="1" i="1" dirty="0" smtClean="0"/>
              <a:t>Desire for immediate feedback</a:t>
            </a:r>
            <a:endParaRPr lang="en-US" altLang="en-US" sz="2400" dirty="0" smtClean="0"/>
          </a:p>
          <a:p>
            <a:pPr eaLnBrk="1" hangingPunct="1">
              <a:buFont typeface="Wingdings" pitchFamily="2" charset="2"/>
              <a:buChar char="ü"/>
            </a:pPr>
            <a:r>
              <a:rPr lang="en-US" altLang="en-US" sz="2400" b="1" i="1" dirty="0" smtClean="0"/>
              <a:t>High level of energy</a:t>
            </a:r>
            <a:endParaRPr lang="en-US" altLang="en-US" sz="2400" dirty="0" smtClean="0"/>
          </a:p>
          <a:p>
            <a:pPr eaLnBrk="1" hangingPunct="1">
              <a:buFont typeface="Wingdings" pitchFamily="2" charset="2"/>
              <a:buChar char="ü"/>
            </a:pPr>
            <a:endParaRPr lang="en-US" altLang="en-US" sz="2400" dirty="0" smtClean="0"/>
          </a:p>
          <a:p>
            <a:pPr eaLnBrk="1" hangingPunct="1">
              <a:buFont typeface="Wingdings" pitchFamily="2" charset="2"/>
              <a:buChar char="ü"/>
            </a:pPr>
            <a:endParaRPr lang="en-US" altLang="en-US" sz="2400" dirty="0" smtClean="0"/>
          </a:p>
          <a:p>
            <a:pPr eaLnBrk="1" hangingPunct="1"/>
            <a:endParaRPr lang="en-US" altLang="en-US" sz="2400" dirty="0" smtClean="0"/>
          </a:p>
        </p:txBody>
      </p:sp>
      <p:sp>
        <p:nvSpPr>
          <p:cNvPr id="20484" name="Content Placeholder 3"/>
          <p:cNvSpPr>
            <a:spLocks noGrp="1"/>
          </p:cNvSpPr>
          <p:nvPr>
            <p:ph sz="half" idx="2"/>
          </p:nvPr>
        </p:nvSpPr>
        <p:spPr>
          <a:xfrm>
            <a:off x="5276850" y="1524000"/>
            <a:ext cx="3657600" cy="5105400"/>
          </a:xfrm>
          <a:solidFill>
            <a:srgbClr val="00B0F0"/>
          </a:solidFill>
        </p:spPr>
        <p:txBody>
          <a:bodyPr/>
          <a:lstStyle/>
          <a:p>
            <a:pPr eaLnBrk="1" hangingPunct="1">
              <a:buFont typeface="Wingdings" pitchFamily="2" charset="2"/>
              <a:buChar char="ü"/>
            </a:pPr>
            <a:r>
              <a:rPr lang="en-US" altLang="en-US" sz="2400" b="1" i="1" dirty="0" smtClean="0"/>
              <a:t>Competitiveness</a:t>
            </a:r>
            <a:endParaRPr lang="en-US" altLang="en-US" sz="2400" dirty="0" smtClean="0"/>
          </a:p>
          <a:p>
            <a:pPr eaLnBrk="1" hangingPunct="1">
              <a:buFont typeface="Wingdings" pitchFamily="2" charset="2"/>
              <a:buChar char="ü"/>
            </a:pPr>
            <a:r>
              <a:rPr lang="en-US" altLang="en-US" sz="2400" b="1" i="1" dirty="0" smtClean="0"/>
              <a:t>Future orientation</a:t>
            </a:r>
            <a:endParaRPr lang="en-US" altLang="en-US" sz="2400" dirty="0" smtClean="0"/>
          </a:p>
          <a:p>
            <a:pPr eaLnBrk="1" hangingPunct="1">
              <a:buFont typeface="Wingdings" pitchFamily="2" charset="2"/>
              <a:buChar char="ü"/>
            </a:pPr>
            <a:r>
              <a:rPr lang="en-US" altLang="en-US" sz="2400" b="1" i="1" dirty="0" smtClean="0"/>
              <a:t>Skill at organizing</a:t>
            </a:r>
          </a:p>
          <a:p>
            <a:pPr eaLnBrk="1" hangingPunct="1">
              <a:buFont typeface="Wingdings" pitchFamily="2" charset="2"/>
              <a:buChar char="ü"/>
            </a:pPr>
            <a:r>
              <a:rPr lang="en-US" altLang="en-US" sz="2400" b="1" i="1" dirty="0" smtClean="0"/>
              <a:t>Value of achievement over money</a:t>
            </a:r>
          </a:p>
          <a:p>
            <a:pPr eaLnBrk="1" hangingPunct="1">
              <a:buFont typeface="Wingdings 2" pitchFamily="18" charset="2"/>
              <a:buChar char=""/>
            </a:pPr>
            <a:r>
              <a:rPr lang="en-US" altLang="en-US" sz="2400" b="1" i="1" dirty="0" smtClean="0"/>
              <a:t>Tenacity</a:t>
            </a:r>
            <a:endParaRPr lang="en-US" altLang="en-US" sz="2400" dirty="0" smtClean="0"/>
          </a:p>
          <a:p>
            <a:pPr eaLnBrk="1" hangingPunct="1">
              <a:buFont typeface="Wingdings 2" pitchFamily="18" charset="2"/>
              <a:buChar char=""/>
            </a:pPr>
            <a:r>
              <a:rPr lang="en-US" altLang="en-US" sz="2400" b="1" i="1" dirty="0" smtClean="0"/>
              <a:t>Tolerance for ambiguity</a:t>
            </a:r>
            <a:endParaRPr lang="en-US" altLang="en-US" sz="2400" dirty="0" smtClean="0"/>
          </a:p>
          <a:p>
            <a:pPr eaLnBrk="1" hangingPunct="1">
              <a:buFont typeface="Wingdings 2" pitchFamily="18" charset="2"/>
              <a:buChar char=""/>
            </a:pPr>
            <a:r>
              <a:rPr lang="en-US" altLang="en-US" sz="2400" b="1" i="1" dirty="0" smtClean="0"/>
              <a:t>Flexibility</a:t>
            </a:r>
            <a:endParaRPr lang="en-US" altLang="en-US" sz="2400" dirty="0" smtClean="0"/>
          </a:p>
          <a:p>
            <a:pPr eaLnBrk="1" hangingPunct="1">
              <a:buFont typeface="Wingdings 2" pitchFamily="18" charset="2"/>
              <a:buChar char=""/>
            </a:pPr>
            <a:r>
              <a:rPr lang="en-US" altLang="en-US" sz="2400" b="1" i="1" dirty="0" smtClean="0"/>
              <a:t>High degree of commitment</a:t>
            </a:r>
            <a:endParaRPr lang="en-US" altLang="en-US" sz="2400"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extLst>
          </p:cNvPr>
          <p:cNvSpPr>
            <a:spLocks noGrp="1"/>
          </p:cNvSpPr>
          <p:nvPr>
            <p:ph type="title"/>
          </p:nvPr>
        </p:nvSpPr>
        <p:spPr>
          <a:xfrm>
            <a:off x="990600" y="0"/>
            <a:ext cx="8153400" cy="1417638"/>
          </a:xfrm>
          <a:solidFill>
            <a:srgbClr val="0070C0"/>
          </a:solidFill>
        </p:spPr>
        <p:txBody>
          <a:bodyPr rtlCol="0">
            <a:normAutofit fontScale="90000"/>
          </a:bodyPr>
          <a:lstStyle/>
          <a:p>
            <a:pPr eaLnBrk="1" fontAlgn="auto" hangingPunct="1">
              <a:spcAft>
                <a:spcPts val="0"/>
              </a:spcAft>
              <a:defRPr/>
            </a:pPr>
            <a:r>
              <a:rPr lang="en-US" b="1" dirty="0">
                <a:solidFill>
                  <a:schemeClr val="tx2">
                    <a:satMod val="130000"/>
                  </a:schemeClr>
                </a:solidFill>
              </a:rPr>
              <a:t/>
            </a:r>
            <a:br>
              <a:rPr lang="en-US" b="1" dirty="0">
                <a:solidFill>
                  <a:schemeClr val="tx2">
                    <a:satMod val="130000"/>
                  </a:schemeClr>
                </a:solidFill>
              </a:rPr>
            </a:br>
            <a:r>
              <a:rPr lang="en-US" b="1" dirty="0">
                <a:solidFill>
                  <a:srgbClr val="FFFF00"/>
                </a:solidFill>
              </a:rPr>
              <a:t>Characteristics cont’d…</a:t>
            </a:r>
            <a:r>
              <a:rPr lang="en-US" dirty="0">
                <a:solidFill>
                  <a:schemeClr val="tx2">
                    <a:satMod val="130000"/>
                  </a:schemeClr>
                </a:solidFill>
              </a:rPr>
              <a:t/>
            </a:r>
            <a:br>
              <a:rPr lang="en-US" dirty="0">
                <a:solidFill>
                  <a:schemeClr val="tx2">
                    <a:satMod val="130000"/>
                  </a:schemeClr>
                </a:solidFill>
              </a:rPr>
            </a:br>
            <a:endParaRPr lang="en-US" dirty="0">
              <a:solidFill>
                <a:schemeClr val="tx2">
                  <a:satMod val="130000"/>
                </a:schemeClr>
              </a:solidFill>
            </a:endParaRPr>
          </a:p>
        </p:txBody>
      </p:sp>
      <p:sp>
        <p:nvSpPr>
          <p:cNvPr id="3" name="Content Placeholder 2">
            <a:extLst>
              <a:ext uri="{FF2B5EF4-FFF2-40B4-BE49-F238E27FC236}"/>
            </a:extLst>
          </p:cNvPr>
          <p:cNvSpPr>
            <a:spLocks noGrp="1"/>
          </p:cNvSpPr>
          <p:nvPr>
            <p:ph sz="half" idx="1"/>
          </p:nvPr>
        </p:nvSpPr>
        <p:spPr>
          <a:xfrm>
            <a:off x="1066800" y="1524000"/>
            <a:ext cx="4025900" cy="5181600"/>
          </a:xfrm>
          <a:solidFill>
            <a:srgbClr val="00B0F0"/>
          </a:solidFill>
        </p:spPr>
        <p:txBody>
          <a:bodyPr rtlCol="0">
            <a:noAutofit/>
          </a:bodyPr>
          <a:lstStyle/>
          <a:p>
            <a:pPr marL="365760" indent="-283464" eaLnBrk="1" fontAlgn="auto" hangingPunct="1">
              <a:spcAft>
                <a:spcPts val="0"/>
              </a:spcAft>
              <a:buFont typeface="Wingdings" pitchFamily="2" charset="2"/>
              <a:buChar char="ü"/>
              <a:defRPr/>
            </a:pPr>
            <a:r>
              <a:rPr lang="en-US" sz="2400" b="1" i="1" dirty="0">
                <a:latin typeface="Times New Roman" pitchFamily="18" charset="0"/>
                <a:cs typeface="Times New Roman" pitchFamily="18" charset="0"/>
              </a:rPr>
              <a:t>Mental Ability </a:t>
            </a:r>
            <a:r>
              <a:rPr lang="en-US" sz="2400" i="1" dirty="0">
                <a:latin typeface="Times New Roman" pitchFamily="18" charset="0"/>
                <a:cs typeface="Times New Roman" pitchFamily="18" charset="0"/>
              </a:rPr>
              <a:t> </a:t>
            </a:r>
          </a:p>
          <a:p>
            <a:pPr marL="365760" indent="-283464" eaLnBrk="1" fontAlgn="auto" hangingPunct="1">
              <a:spcAft>
                <a:spcPts val="0"/>
              </a:spcAft>
              <a:buFont typeface="Wingdings" pitchFamily="2" charset="2"/>
              <a:buChar char="ü"/>
              <a:defRPr/>
            </a:pPr>
            <a:r>
              <a:rPr lang="en-US" sz="2400" b="1" i="1" dirty="0">
                <a:latin typeface="Times New Roman" pitchFamily="18" charset="0"/>
                <a:cs typeface="Times New Roman" pitchFamily="18" charset="0"/>
              </a:rPr>
              <a:t>Clear Objectives</a:t>
            </a:r>
            <a:endParaRPr lang="en-US" sz="2400" i="1" dirty="0">
              <a:latin typeface="Times New Roman" pitchFamily="18" charset="0"/>
              <a:cs typeface="Times New Roman" pitchFamily="18" charset="0"/>
            </a:endParaRPr>
          </a:p>
          <a:p>
            <a:pPr marL="365760" indent="-283464" eaLnBrk="1" fontAlgn="auto" hangingPunct="1">
              <a:spcAft>
                <a:spcPts val="0"/>
              </a:spcAft>
              <a:buFont typeface="Wingdings" pitchFamily="2" charset="2"/>
              <a:buChar char="ü"/>
              <a:defRPr/>
            </a:pPr>
            <a:r>
              <a:rPr lang="en-US" sz="2400" b="1" i="1" dirty="0">
                <a:latin typeface="Times New Roman" pitchFamily="18" charset="0"/>
                <a:cs typeface="Times New Roman" pitchFamily="18" charset="0"/>
              </a:rPr>
              <a:t>Business Secrecy</a:t>
            </a:r>
            <a:r>
              <a:rPr lang="en-US" sz="2400" i="1" dirty="0">
                <a:latin typeface="Times New Roman" pitchFamily="18" charset="0"/>
                <a:cs typeface="Times New Roman" pitchFamily="18" charset="0"/>
              </a:rPr>
              <a:t> </a:t>
            </a:r>
          </a:p>
          <a:p>
            <a:pPr marL="365760" indent="-283464" eaLnBrk="1" fontAlgn="auto" hangingPunct="1">
              <a:spcAft>
                <a:spcPts val="0"/>
              </a:spcAft>
              <a:buFont typeface="Wingdings" pitchFamily="2" charset="2"/>
              <a:buChar char="ü"/>
              <a:defRPr/>
            </a:pPr>
            <a:r>
              <a:rPr lang="en-US" sz="2400" b="1" i="1" dirty="0">
                <a:latin typeface="Times New Roman" pitchFamily="18" charset="0"/>
                <a:cs typeface="Times New Roman" pitchFamily="18" charset="0"/>
              </a:rPr>
              <a:t>Human Relation Ability</a:t>
            </a:r>
            <a:r>
              <a:rPr lang="en-US" sz="2400" i="1" dirty="0">
                <a:latin typeface="Times New Roman" pitchFamily="18" charset="0"/>
                <a:cs typeface="Times New Roman" pitchFamily="18" charset="0"/>
              </a:rPr>
              <a:t> </a:t>
            </a:r>
          </a:p>
          <a:p>
            <a:pPr marL="365760" indent="-283464" eaLnBrk="1" fontAlgn="auto" hangingPunct="1">
              <a:spcAft>
                <a:spcPts val="0"/>
              </a:spcAft>
              <a:buFont typeface="Wingdings" pitchFamily="2" charset="2"/>
              <a:buChar char="ü"/>
              <a:defRPr/>
            </a:pPr>
            <a:r>
              <a:rPr lang="en-US" sz="2400" b="1" i="1" dirty="0">
                <a:latin typeface="Times New Roman" pitchFamily="18" charset="0"/>
                <a:cs typeface="Times New Roman" pitchFamily="18" charset="0"/>
              </a:rPr>
              <a:t>Technical Knowledge</a:t>
            </a:r>
            <a:endParaRPr lang="en-US" sz="2400" i="1" dirty="0">
              <a:latin typeface="Times New Roman" pitchFamily="18" charset="0"/>
              <a:cs typeface="Times New Roman" pitchFamily="18" charset="0"/>
            </a:endParaRPr>
          </a:p>
          <a:p>
            <a:pPr marL="365760" indent="-283464" eaLnBrk="1" fontAlgn="auto" hangingPunct="1">
              <a:spcAft>
                <a:spcPts val="0"/>
              </a:spcAft>
              <a:buFont typeface="Wingdings" pitchFamily="2" charset="2"/>
              <a:buChar char="ü"/>
              <a:defRPr/>
            </a:pPr>
            <a:r>
              <a:rPr lang="en-US" sz="2400" b="1" i="1" dirty="0">
                <a:latin typeface="Times New Roman" pitchFamily="18" charset="0"/>
                <a:cs typeface="Times New Roman" pitchFamily="18" charset="0"/>
              </a:rPr>
              <a:t>High Need for achievement</a:t>
            </a:r>
          </a:p>
          <a:p>
            <a:pPr eaLnBrk="1" fontAlgn="auto" hangingPunct="1">
              <a:spcAft>
                <a:spcPts val="0"/>
              </a:spcAft>
              <a:buFont typeface="Wingdings" pitchFamily="2" charset="2"/>
              <a:buChar char="ü"/>
              <a:defRPr/>
            </a:pPr>
            <a:r>
              <a:rPr lang="en-US" sz="2400" b="1" i="1" dirty="0">
                <a:latin typeface="Times New Roman" pitchFamily="18" charset="0"/>
                <a:cs typeface="Times New Roman" pitchFamily="18" charset="0"/>
              </a:rPr>
              <a:t>Hard Working</a:t>
            </a:r>
            <a:endParaRPr lang="en-US" sz="2400" dirty="0">
              <a:latin typeface="Times New Roman" pitchFamily="18" charset="0"/>
              <a:cs typeface="Times New Roman" pitchFamily="18" charset="0"/>
            </a:endParaRPr>
          </a:p>
          <a:p>
            <a:pPr eaLnBrk="1" fontAlgn="auto" hangingPunct="1">
              <a:spcAft>
                <a:spcPts val="0"/>
              </a:spcAft>
              <a:buFont typeface="Wingdings" pitchFamily="2" charset="2"/>
              <a:buChar char="ü"/>
              <a:defRPr/>
            </a:pPr>
            <a:r>
              <a:rPr lang="en-US" sz="2400" b="1" i="1" dirty="0">
                <a:latin typeface="Times New Roman" pitchFamily="18" charset="0"/>
                <a:cs typeface="Times New Roman" pitchFamily="18" charset="0"/>
              </a:rPr>
              <a:t>Builds for the Future</a:t>
            </a:r>
            <a:endParaRPr lang="en-US" sz="2400" dirty="0">
              <a:latin typeface="Times New Roman" pitchFamily="18" charset="0"/>
              <a:cs typeface="Times New Roman" pitchFamily="18" charset="0"/>
            </a:endParaRPr>
          </a:p>
          <a:p>
            <a:pPr eaLnBrk="1" fontAlgn="auto" hangingPunct="1">
              <a:spcAft>
                <a:spcPts val="0"/>
              </a:spcAft>
              <a:buFont typeface="Wingdings" pitchFamily="2" charset="2"/>
              <a:buChar char="ü"/>
              <a:defRPr/>
            </a:pPr>
            <a:r>
              <a:rPr lang="en-US" sz="2400" b="1" i="1" dirty="0">
                <a:latin typeface="Times New Roman" pitchFamily="18" charset="0"/>
                <a:cs typeface="Times New Roman" pitchFamily="18" charset="0"/>
              </a:rPr>
              <a:t>Profit-Oriented</a:t>
            </a:r>
            <a:endParaRPr lang="en-US" sz="2400" dirty="0">
              <a:latin typeface="Times New Roman" pitchFamily="18" charset="0"/>
              <a:cs typeface="Times New Roman" pitchFamily="18" charset="0"/>
            </a:endParaRPr>
          </a:p>
          <a:p>
            <a:pPr eaLnBrk="1" fontAlgn="auto" hangingPunct="1">
              <a:spcAft>
                <a:spcPts val="0"/>
              </a:spcAft>
              <a:buFont typeface="Wingdings" pitchFamily="2" charset="2"/>
              <a:buChar char="ü"/>
              <a:defRPr/>
            </a:pPr>
            <a:r>
              <a:rPr lang="en-US" sz="2400" b="1" i="1" dirty="0">
                <a:latin typeface="Times New Roman" pitchFamily="18" charset="0"/>
                <a:cs typeface="Times New Roman" pitchFamily="18" charset="0"/>
              </a:rPr>
              <a:t>Builds on Strengths</a:t>
            </a:r>
            <a:endParaRPr lang="en-US" sz="2400" dirty="0">
              <a:latin typeface="Times New Roman" pitchFamily="18" charset="0"/>
              <a:cs typeface="Times New Roman" pitchFamily="18" charset="0"/>
            </a:endParaRPr>
          </a:p>
          <a:p>
            <a:pPr marL="365760" indent="-283464" eaLnBrk="1" fontAlgn="auto" hangingPunct="1">
              <a:spcAft>
                <a:spcPts val="0"/>
              </a:spcAft>
              <a:buFont typeface="Wingdings" pitchFamily="2" charset="2"/>
              <a:buChar char="ü"/>
              <a:defRPr/>
            </a:pPr>
            <a:endParaRPr lang="en-US" sz="2400" b="1" i="1" dirty="0">
              <a:latin typeface="Times New Roman" pitchFamily="18" charset="0"/>
              <a:cs typeface="Times New Roman" pitchFamily="18" charset="0"/>
            </a:endParaRPr>
          </a:p>
        </p:txBody>
      </p:sp>
      <p:sp>
        <p:nvSpPr>
          <p:cNvPr id="4" name="Content Placeholder 3">
            <a:extLst>
              <a:ext uri="{FF2B5EF4-FFF2-40B4-BE49-F238E27FC236}"/>
            </a:extLst>
          </p:cNvPr>
          <p:cNvSpPr>
            <a:spLocks noGrp="1"/>
          </p:cNvSpPr>
          <p:nvPr>
            <p:ph sz="half" idx="2"/>
          </p:nvPr>
        </p:nvSpPr>
        <p:spPr>
          <a:xfrm>
            <a:off x="5276850" y="1524000"/>
            <a:ext cx="3657600" cy="5105400"/>
          </a:xfrm>
          <a:solidFill>
            <a:srgbClr val="00B0F0"/>
          </a:solidFill>
        </p:spPr>
        <p:txBody>
          <a:bodyPr rtlCol="0">
            <a:normAutofit/>
          </a:bodyPr>
          <a:lstStyle/>
          <a:p>
            <a:pPr marL="365760" indent="-283464" eaLnBrk="1" fontAlgn="auto" hangingPunct="1">
              <a:spcAft>
                <a:spcPts val="0"/>
              </a:spcAft>
              <a:buFont typeface="Wingdings" pitchFamily="2" charset="2"/>
              <a:buChar char="ü"/>
              <a:defRPr/>
            </a:pPr>
            <a:r>
              <a:rPr lang="en-US" sz="2400" b="1" i="1" dirty="0">
                <a:solidFill>
                  <a:srgbClr val="00B0F0"/>
                </a:solidFill>
                <a:latin typeface="Times New Roman" pitchFamily="18" charset="0"/>
                <a:cs typeface="Times New Roman" pitchFamily="18" charset="0"/>
              </a:rPr>
              <a:t>Innovativeness</a:t>
            </a:r>
            <a:endParaRPr lang="en-US" sz="2400" i="1" dirty="0">
              <a:solidFill>
                <a:srgbClr val="00B0F0"/>
              </a:solidFill>
              <a:latin typeface="Times New Roman" pitchFamily="18" charset="0"/>
              <a:cs typeface="Times New Roman" pitchFamily="18" charset="0"/>
            </a:endParaRPr>
          </a:p>
          <a:p>
            <a:pPr marL="365760" indent="-283464" eaLnBrk="1" fontAlgn="auto" hangingPunct="1">
              <a:spcAft>
                <a:spcPts val="0"/>
              </a:spcAft>
              <a:buFont typeface="Wingdings" pitchFamily="2" charset="2"/>
              <a:buChar char="ü"/>
              <a:defRPr/>
            </a:pPr>
            <a:r>
              <a:rPr lang="en-US" sz="2400" b="1" i="1" dirty="0">
                <a:solidFill>
                  <a:schemeClr val="bg1"/>
                </a:solidFill>
                <a:latin typeface="Times New Roman" pitchFamily="18" charset="0"/>
                <a:cs typeface="Times New Roman" pitchFamily="18" charset="0"/>
              </a:rPr>
              <a:t>Opportunity seeking</a:t>
            </a:r>
          </a:p>
          <a:p>
            <a:pPr marL="365760" indent="-283464" eaLnBrk="1" fontAlgn="auto" hangingPunct="1">
              <a:spcAft>
                <a:spcPts val="0"/>
              </a:spcAft>
              <a:buFont typeface="Wingdings" pitchFamily="2" charset="2"/>
              <a:buChar char="ü"/>
              <a:defRPr/>
            </a:pPr>
            <a:r>
              <a:rPr lang="en-US" sz="2400" b="1" i="1" dirty="0">
                <a:solidFill>
                  <a:schemeClr val="bg1"/>
                </a:solidFill>
                <a:latin typeface="Times New Roman" pitchFamily="18" charset="0"/>
                <a:cs typeface="Times New Roman" pitchFamily="18" charset="0"/>
              </a:rPr>
              <a:t>Initiative taking</a:t>
            </a:r>
            <a:endParaRPr lang="en-US" sz="2400" i="1" dirty="0">
              <a:solidFill>
                <a:schemeClr val="bg1"/>
              </a:solidFill>
              <a:latin typeface="Times New Roman" pitchFamily="18" charset="0"/>
              <a:cs typeface="Times New Roman" pitchFamily="18" charset="0"/>
            </a:endParaRPr>
          </a:p>
          <a:p>
            <a:pPr marL="365760" indent="-283464" eaLnBrk="1" fontAlgn="auto" hangingPunct="1">
              <a:spcAft>
                <a:spcPts val="0"/>
              </a:spcAft>
              <a:buFont typeface="Wingdings" pitchFamily="2" charset="2"/>
              <a:buChar char="ü"/>
              <a:defRPr/>
            </a:pPr>
            <a:r>
              <a:rPr lang="en-US" sz="2400" b="1" i="1" dirty="0">
                <a:solidFill>
                  <a:schemeClr val="bg1"/>
                </a:solidFill>
                <a:latin typeface="Times New Roman" pitchFamily="18" charset="0"/>
                <a:cs typeface="Times New Roman" pitchFamily="18" charset="0"/>
              </a:rPr>
              <a:t>Internal locus of control </a:t>
            </a:r>
          </a:p>
          <a:p>
            <a:pPr marL="365760" indent="-283464" eaLnBrk="1" fontAlgn="auto" hangingPunct="1">
              <a:spcAft>
                <a:spcPts val="0"/>
              </a:spcAft>
              <a:buFont typeface="Wingdings" pitchFamily="2" charset="2"/>
              <a:buChar char="ü"/>
              <a:defRPr/>
            </a:pPr>
            <a:r>
              <a:rPr lang="en-US" sz="2400" b="1" i="1" dirty="0">
                <a:solidFill>
                  <a:schemeClr val="bg1"/>
                </a:solidFill>
                <a:latin typeface="Times New Roman" pitchFamily="18" charset="0"/>
                <a:cs typeface="Times New Roman" pitchFamily="18" charset="0"/>
              </a:rPr>
              <a:t>Information seeking a net working </a:t>
            </a:r>
            <a:endParaRPr lang="en-US" sz="2400" i="1" dirty="0">
              <a:solidFill>
                <a:schemeClr val="bg1"/>
              </a:solidFill>
              <a:latin typeface="Times New Roman" pitchFamily="18" charset="0"/>
              <a:cs typeface="Times New Roman" pitchFamily="18" charset="0"/>
            </a:endParaRPr>
          </a:p>
          <a:p>
            <a:pPr marL="365760" indent="-283464" eaLnBrk="1" fontAlgn="auto" hangingPunct="1">
              <a:spcAft>
                <a:spcPts val="0"/>
              </a:spcAft>
              <a:buFont typeface="Wingdings" pitchFamily="2" charset="2"/>
              <a:buChar char="ü"/>
              <a:defRPr/>
            </a:pPr>
            <a:r>
              <a:rPr lang="en-US" sz="2400" b="1" i="1" dirty="0">
                <a:solidFill>
                  <a:schemeClr val="bg1"/>
                </a:solidFill>
                <a:latin typeface="Times New Roman" pitchFamily="18" charset="0"/>
                <a:cs typeface="Times New Roman" pitchFamily="18" charset="0"/>
              </a:rPr>
              <a:t>Emotional stability</a:t>
            </a:r>
            <a:endParaRPr lang="en-US" sz="2400" i="1" dirty="0">
              <a:solidFill>
                <a:schemeClr val="bg1"/>
              </a:solidFill>
              <a:latin typeface="Times New Roman" pitchFamily="18" charset="0"/>
              <a:cs typeface="Times New Roman" pitchFamily="18" charset="0"/>
            </a:endParaRPr>
          </a:p>
          <a:p>
            <a:pPr eaLnBrk="1" fontAlgn="auto" hangingPunct="1">
              <a:spcAft>
                <a:spcPts val="0"/>
              </a:spcAft>
              <a:buFont typeface="Wingdings" pitchFamily="2" charset="2"/>
              <a:buChar char="ü"/>
              <a:defRPr/>
            </a:pPr>
            <a:r>
              <a:rPr lang="en-US" sz="2400" b="1" i="1" dirty="0">
                <a:solidFill>
                  <a:schemeClr val="bg1"/>
                </a:solidFill>
                <a:latin typeface="Times New Roman" pitchFamily="18" charset="0"/>
                <a:cs typeface="Times New Roman" pitchFamily="18" charset="0"/>
              </a:rPr>
              <a:t>Copes with Failure:</a:t>
            </a:r>
            <a:r>
              <a:rPr lang="en-US" sz="2400" dirty="0">
                <a:solidFill>
                  <a:schemeClr val="bg1"/>
                </a:solidFill>
                <a:latin typeface="Times New Roman" pitchFamily="18" charset="0"/>
                <a:cs typeface="Times New Roman" pitchFamily="18" charset="0"/>
              </a:rPr>
              <a:t> </a:t>
            </a:r>
          </a:p>
          <a:p>
            <a:pPr eaLnBrk="1" fontAlgn="auto" hangingPunct="1">
              <a:spcAft>
                <a:spcPts val="0"/>
              </a:spcAft>
              <a:buFont typeface="Wingdings" pitchFamily="2" charset="2"/>
              <a:buChar char="ü"/>
              <a:defRPr/>
            </a:pPr>
            <a:r>
              <a:rPr lang="en-US" sz="2400" b="1" i="1" dirty="0">
                <a:solidFill>
                  <a:schemeClr val="bg1"/>
                </a:solidFill>
                <a:latin typeface="Times New Roman" pitchFamily="18" charset="0"/>
                <a:cs typeface="Times New Roman" pitchFamily="18" charset="0"/>
              </a:rPr>
              <a:t>Sets Own Standards</a:t>
            </a:r>
            <a:r>
              <a:rPr lang="en-US" sz="2400" dirty="0">
                <a:solidFill>
                  <a:schemeClr val="bg1"/>
                </a:solidFill>
                <a:latin typeface="Times New Roman" pitchFamily="18" charset="0"/>
                <a:cs typeface="Times New Roman" pitchFamily="18" charset="0"/>
              </a:rPr>
              <a:t>:</a:t>
            </a:r>
          </a:p>
          <a:p>
            <a:pPr eaLnBrk="1" fontAlgn="auto" hangingPunct="1">
              <a:spcAft>
                <a:spcPts val="0"/>
              </a:spcAft>
              <a:buFont typeface="Wingdings" pitchFamily="2" charset="2"/>
              <a:buChar char="ü"/>
              <a:defRPr/>
            </a:pPr>
            <a:r>
              <a:rPr lang="en-US" sz="2400" b="1" i="1" dirty="0">
                <a:solidFill>
                  <a:schemeClr val="bg1"/>
                </a:solidFill>
                <a:latin typeface="Times New Roman" pitchFamily="18" charset="0"/>
                <a:cs typeface="Times New Roman" pitchFamily="18" charset="0"/>
              </a:rPr>
              <a:t>Copes with Uncertainty</a:t>
            </a:r>
            <a:endParaRPr lang="en-US" sz="2400" dirty="0">
              <a:solidFill>
                <a:schemeClr val="bg1"/>
              </a:solidFill>
              <a:latin typeface="Times New Roman" pitchFamily="18" charset="0"/>
              <a:cs typeface="Times New Roman" pitchFamily="18" charset="0"/>
            </a:endParaRPr>
          </a:p>
          <a:p>
            <a:pPr marL="365760" indent="-283464" eaLnBrk="1" fontAlgn="auto" hangingPunct="1">
              <a:spcAft>
                <a:spcPts val="0"/>
              </a:spcAft>
              <a:buFont typeface="Wingdings" pitchFamily="2" charset="2"/>
              <a:buChar char="ü"/>
              <a:defRPr/>
            </a:pPr>
            <a:r>
              <a:rPr lang="en-US" sz="2400" b="1" i="1" dirty="0">
                <a:solidFill>
                  <a:schemeClr val="bg1"/>
                </a:solidFill>
                <a:latin typeface="Times New Roman" pitchFamily="18" charset="0"/>
                <a:cs typeface="Times New Roman" pitchFamily="18" charset="0"/>
              </a:rPr>
              <a:t>Reliable and Has </a:t>
            </a:r>
            <a:r>
              <a:rPr lang="en-US" sz="2400" b="1" i="1" dirty="0">
                <a:solidFill>
                  <a:srgbClr val="00B0F0"/>
                </a:solidFill>
                <a:latin typeface="Times New Roman" pitchFamily="18" charset="0"/>
                <a:cs typeface="Times New Roman" pitchFamily="18" charset="0"/>
              </a:rPr>
              <a:t>Integrity</a:t>
            </a:r>
            <a:endParaRPr lang="en-US" sz="2400" dirty="0">
              <a:solidFill>
                <a:srgbClr val="00B0F0"/>
              </a:solidFill>
              <a:latin typeface="Times New Roman" pitchFamily="18" charset="0"/>
              <a:cs typeface="Times New Roman" pitchFamily="18" charset="0"/>
            </a:endParaRPr>
          </a:p>
          <a:p>
            <a:pPr marL="365760" indent="-283464" eaLnBrk="1" fontAlgn="auto" hangingPunct="1">
              <a:spcAft>
                <a:spcPts val="0"/>
              </a:spcAft>
              <a:buFont typeface="Wingdings 2"/>
              <a:buChar char=""/>
              <a:defRPr/>
            </a:pPr>
            <a:endParaRPr lang="en-US" b="1" i="1" dirty="0">
              <a:latin typeface="Times New Roman" pitchFamily="18" charset="0"/>
              <a:cs typeface="Times New Roman" pitchFamily="18" charset="0"/>
            </a:endParaRPr>
          </a:p>
          <a:p>
            <a:pPr eaLnBrk="1" fontAlgn="auto" hangingPunct="1">
              <a:spcAft>
                <a:spcPts val="0"/>
              </a:spcAft>
              <a:buFont typeface="Arial" pitchFamily="34" charset="0"/>
              <a:buChar char="•"/>
              <a:defRPr/>
            </a:pP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smtClean="0">
                <a:solidFill>
                  <a:srgbClr val="FF0000"/>
                </a:solidFill>
              </a:rPr>
              <a:t>THE JOHARI WINDOW</a:t>
            </a:r>
          </a:p>
        </p:txBody>
      </p:sp>
      <p:graphicFrame>
        <p:nvGraphicFramePr>
          <p:cNvPr id="28" name="Content Placeholder 27">
            <a:extLst>
              <a:ext uri="{FF2B5EF4-FFF2-40B4-BE49-F238E27FC236}"/>
            </a:extLst>
          </p:cNvPr>
          <p:cNvGraphicFramePr>
            <a:graphicFrameLocks noGrp="1"/>
          </p:cNvGraphicFramePr>
          <p:nvPr>
            <p:ph idx="1"/>
          </p:nvPr>
        </p:nvGraphicFramePr>
        <p:xfrm>
          <a:off x="838200" y="1219199"/>
          <a:ext cx="7696200" cy="4191719"/>
        </p:xfrm>
        <a:graphic>
          <a:graphicData uri="http://schemas.openxmlformats.org/drawingml/2006/table">
            <a:tbl>
              <a:tblPr firstRow="1" bandRow="1">
                <a:effectLst/>
                <a:tableStyleId>{10A1B5D5-9B99-4C35-A422-299274C87663}</a:tableStyleId>
              </a:tblPr>
              <a:tblGrid>
                <a:gridCol w="1828800">
                  <a:extLst>
                    <a:ext uri="{9D8B030D-6E8A-4147-A177-3AD203B41FA5}"/>
                  </a:extLst>
                </a:gridCol>
                <a:gridCol w="2819400">
                  <a:extLst>
                    <a:ext uri="{9D8B030D-6E8A-4147-A177-3AD203B41FA5}"/>
                  </a:extLst>
                </a:gridCol>
                <a:gridCol w="3048000">
                  <a:extLst>
                    <a:ext uri="{9D8B030D-6E8A-4147-A177-3AD203B41FA5}"/>
                  </a:extLst>
                </a:gridCol>
              </a:tblGrid>
              <a:tr h="1554480">
                <a:tc>
                  <a:txBody>
                    <a:bodyPr/>
                    <a:lstStyle/>
                    <a:p>
                      <a:endParaRPr lang="en-US" sz="2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r>
                        <a:rPr lang="en-US" sz="2800" dirty="0">
                          <a:solidFill>
                            <a:srgbClr val="7030A0"/>
                          </a:solidFill>
                        </a:rPr>
                        <a:t>Known by self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800" dirty="0">
                          <a:solidFill>
                            <a:srgbClr val="7030A0"/>
                          </a:solidFill>
                        </a:rPr>
                        <a:t>Unknown by self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extLst>
              </a:tr>
              <a:tr h="1379724">
                <a:tc>
                  <a:txBody>
                    <a:bodyPr/>
                    <a:lstStyle/>
                    <a:p>
                      <a:r>
                        <a:rPr lang="en-US" sz="2800" dirty="0">
                          <a:solidFill>
                            <a:srgbClr val="00B0F0"/>
                          </a:solidFill>
                        </a:rPr>
                        <a:t>Known by others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400" b="1" dirty="0">
                          <a:solidFill>
                            <a:srgbClr val="00B050"/>
                          </a:solidFill>
                        </a:rPr>
                        <a:t>OPEN/PUBLIC 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n-US" sz="2400" b="1" dirty="0">
                          <a:solidFill>
                            <a:srgbClr val="00B050"/>
                          </a:solidFill>
                        </a:rPr>
                        <a:t>BLIND</a:t>
                      </a:r>
                      <a:r>
                        <a:rPr lang="en-US" sz="2400" b="1" baseline="0" dirty="0">
                          <a:solidFill>
                            <a:srgbClr val="00B050"/>
                          </a:solidFill>
                        </a:rPr>
                        <a:t> AREA/BAD BREATH AREA</a:t>
                      </a:r>
                      <a:endParaRPr lang="en-US" sz="2400" b="1" dirty="0">
                        <a:solidFill>
                          <a:srgbClr val="00B05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extLst>
              </a:tr>
              <a:tr h="1257515">
                <a:tc>
                  <a:txBody>
                    <a:bodyPr/>
                    <a:lstStyle/>
                    <a:p>
                      <a:r>
                        <a:rPr lang="en-US" sz="2800" dirty="0">
                          <a:solidFill>
                            <a:srgbClr val="00B0F0"/>
                          </a:solidFill>
                        </a:rPr>
                        <a:t>Unknown by others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400" b="1" dirty="0">
                          <a:solidFill>
                            <a:srgbClr val="FF0000"/>
                          </a:solidFill>
                        </a:rPr>
                        <a:t>SECRET/HIDDEN 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n-US" sz="2400" b="1" dirty="0">
                          <a:solidFill>
                            <a:srgbClr val="FF0000"/>
                          </a:solidFill>
                        </a:rPr>
                        <a:t>UNKNOWN</a:t>
                      </a:r>
                      <a:r>
                        <a:rPr lang="en-US" sz="2400" b="1" baseline="0" dirty="0">
                          <a:solidFill>
                            <a:srgbClr val="FF0000"/>
                          </a:solidFill>
                        </a:rPr>
                        <a:t> AREA/THE FUTURE</a:t>
                      </a:r>
                      <a:endParaRPr lang="en-US" sz="24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extLst>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2"/>
          <p:cNvSpPr>
            <a:spLocks noGrp="1"/>
          </p:cNvSpPr>
          <p:nvPr>
            <p:ph idx="1"/>
          </p:nvPr>
        </p:nvSpPr>
        <p:spPr>
          <a:xfrm>
            <a:off x="1066800" y="457200"/>
            <a:ext cx="7867650" cy="6248400"/>
          </a:xfrm>
        </p:spPr>
        <p:txBody>
          <a:bodyPr>
            <a:normAutofit lnSpcReduction="10000"/>
          </a:bodyPr>
          <a:lstStyle/>
          <a:p>
            <a:pPr algn="just" eaLnBrk="1" hangingPunct="1">
              <a:buFont typeface="Wingdings 2" pitchFamily="18" charset="2"/>
              <a:buNone/>
            </a:pPr>
            <a:endParaRPr lang="en-US" altLang="en-US" sz="2000" b="1" smtClean="0"/>
          </a:p>
          <a:p>
            <a:pPr algn="just" eaLnBrk="1" hangingPunct="1">
              <a:buFont typeface="Wingdings 2" pitchFamily="18" charset="2"/>
              <a:buNone/>
            </a:pPr>
            <a:r>
              <a:rPr lang="en-US" altLang="en-US" sz="2800" b="1" smtClean="0"/>
              <a:t>The following questions will help you determine whether owning a small business is a good fit for you:</a:t>
            </a:r>
          </a:p>
          <a:p>
            <a:pPr eaLnBrk="1" hangingPunct="1">
              <a:lnSpc>
                <a:spcPct val="150000"/>
              </a:lnSpc>
              <a:buFont typeface="Wingdings" pitchFamily="2" charset="2"/>
              <a:buChar char="ü"/>
            </a:pPr>
            <a:r>
              <a:rPr lang="en-US" altLang="en-US" sz="2800" i="1" smtClean="0"/>
              <a:t>Am I passionate about my product or service?</a:t>
            </a:r>
          </a:p>
          <a:p>
            <a:pPr eaLnBrk="1" hangingPunct="1">
              <a:lnSpc>
                <a:spcPct val="150000"/>
              </a:lnSpc>
              <a:buFont typeface="Wingdings" pitchFamily="2" charset="2"/>
              <a:buChar char="ü"/>
            </a:pPr>
            <a:r>
              <a:rPr lang="en-US" altLang="en-US" sz="2800" i="1" smtClean="0"/>
              <a:t>What is my tolerance for risk?</a:t>
            </a:r>
          </a:p>
          <a:p>
            <a:pPr eaLnBrk="1" hangingPunct="1">
              <a:lnSpc>
                <a:spcPct val="150000"/>
              </a:lnSpc>
              <a:buFont typeface="Wingdings" pitchFamily="2" charset="2"/>
              <a:buChar char="ü"/>
            </a:pPr>
            <a:r>
              <a:rPr lang="en-US" altLang="en-US" sz="2800" i="1" smtClean="0"/>
              <a:t>Am I effective in making decisions?</a:t>
            </a:r>
          </a:p>
          <a:p>
            <a:pPr eaLnBrk="1" hangingPunct="1">
              <a:lnSpc>
                <a:spcPct val="150000"/>
              </a:lnSpc>
              <a:buFont typeface="Wingdings" pitchFamily="2" charset="2"/>
              <a:buChar char="ü"/>
            </a:pPr>
            <a:r>
              <a:rPr lang="en-US" altLang="en-US" sz="2800" i="1" smtClean="0"/>
              <a:t>Am I willing to take on numerous responsibilities?</a:t>
            </a:r>
          </a:p>
          <a:p>
            <a:pPr eaLnBrk="1" hangingPunct="1">
              <a:lnSpc>
                <a:spcPct val="150000"/>
              </a:lnSpc>
              <a:buFont typeface="Wingdings" pitchFamily="2" charset="2"/>
              <a:buChar char="ü"/>
            </a:pPr>
            <a:r>
              <a:rPr lang="en-US" altLang="en-US" sz="2800" i="1" smtClean="0"/>
              <a:t>Will I be able to avoid burnout?</a:t>
            </a:r>
          </a:p>
          <a:p>
            <a:pPr eaLnBrk="1" hangingPunct="1">
              <a:buFont typeface="Wingdings 2" pitchFamily="18" charset="2"/>
              <a:buNone/>
            </a:pPr>
            <a:endParaRPr lang="en-US" altLang="en-US"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990600" y="0"/>
            <a:ext cx="8153400" cy="1143000"/>
          </a:xfrm>
          <a:solidFill>
            <a:srgbClr val="0070C0"/>
          </a:solidFill>
        </p:spPr>
        <p:txBody>
          <a:bodyPr/>
          <a:lstStyle/>
          <a:p>
            <a:pPr eaLnBrk="1" hangingPunct="1"/>
            <a:r>
              <a:rPr lang="en-US" sz="2800" b="1" smtClean="0">
                <a:solidFill>
                  <a:srgbClr val="FFFF00"/>
                </a:solidFill>
              </a:rPr>
              <a:t>The payoffs (rewards) of being an entrepreneur</a:t>
            </a:r>
            <a:endParaRPr lang="en-US" sz="2800" smtClean="0"/>
          </a:p>
        </p:txBody>
      </p:sp>
      <p:pic>
        <p:nvPicPr>
          <p:cNvPr id="33795" name="Picture 3"/>
          <p:cNvPicPr>
            <a:picLocks noGrp="1" noChangeAspect="1" noChangeArrowheads="1"/>
          </p:cNvPicPr>
          <p:nvPr>
            <p:ph idx="1"/>
          </p:nvPr>
        </p:nvPicPr>
        <p:blipFill>
          <a:blip r:embed="rId2"/>
          <a:srcRect/>
          <a:stretch>
            <a:fillRect/>
          </a:stretch>
        </p:blipFill>
        <p:spPr>
          <a:xfrm>
            <a:off x="609600" y="1981200"/>
            <a:ext cx="7667625" cy="3619500"/>
          </a:xfr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7" name="Content Placeholder 2"/>
          <p:cNvSpPr>
            <a:spLocks noGrp="1"/>
          </p:cNvSpPr>
          <p:nvPr>
            <p:ph idx="1"/>
          </p:nvPr>
        </p:nvSpPr>
        <p:spPr>
          <a:xfrm>
            <a:off x="457200" y="1143000"/>
            <a:ext cx="8229600" cy="5181600"/>
          </a:xfrm>
          <a:ln>
            <a:solidFill>
              <a:srgbClr val="FF0000"/>
            </a:solidFill>
          </a:ln>
        </p:spPr>
        <p:txBody>
          <a:bodyPr>
            <a:noAutofit/>
          </a:bodyPr>
          <a:lstStyle/>
          <a:p>
            <a:pPr algn="just">
              <a:lnSpc>
                <a:spcPct val="150000"/>
              </a:lnSpc>
              <a:buNone/>
            </a:pPr>
            <a:r>
              <a:rPr lang="en-US" sz="2000" b="1" dirty="0" smtClean="0">
                <a:solidFill>
                  <a:srgbClr val="00B0F0"/>
                </a:solidFill>
                <a:latin typeface="Californian FB" pitchFamily="18" charset="0"/>
              </a:rPr>
              <a:t>1.6.1 </a:t>
            </a:r>
            <a:r>
              <a:rPr lang="en-US" sz="2000" b="1" dirty="0">
                <a:solidFill>
                  <a:srgbClr val="00B0F0"/>
                </a:solidFill>
                <a:latin typeface="Californian FB" pitchFamily="18" charset="0"/>
              </a:rPr>
              <a:t>Creativity</a:t>
            </a:r>
          </a:p>
          <a:p>
            <a:pPr algn="just">
              <a:lnSpc>
                <a:spcPct val="150000"/>
              </a:lnSpc>
              <a:buNone/>
            </a:pPr>
            <a:r>
              <a:rPr lang="en-US" sz="2000" b="1" dirty="0">
                <a:latin typeface="Californian FB" pitchFamily="18" charset="0"/>
              </a:rPr>
              <a:t>. </a:t>
            </a:r>
            <a:r>
              <a:rPr lang="en-US" sz="2000" dirty="0">
                <a:solidFill>
                  <a:srgbClr val="002060"/>
                </a:solidFill>
                <a:effectLst>
                  <a:outerShdw blurRad="38100" dist="38100" dir="2700000" algn="tl">
                    <a:srgbClr val="000000">
                      <a:alpha val="43137"/>
                    </a:srgbClr>
                  </a:outerShdw>
                </a:effectLst>
                <a:latin typeface="Californian FB" pitchFamily="18" charset="0"/>
              </a:rPr>
              <a:t>Creativity</a:t>
            </a:r>
            <a:r>
              <a:rPr lang="en-US" sz="1800" dirty="0">
                <a:latin typeface="Californian FB" pitchFamily="18" charset="0"/>
              </a:rPr>
              <a:t> is defined as the tendency to generate or recognize ideas, alternatives, or possibilities that may be useful in solving problems, communicating with others, and entertaining ourselves and others</a:t>
            </a:r>
            <a:r>
              <a:rPr lang="en-US" sz="2000" dirty="0">
                <a:latin typeface="Californian FB" pitchFamily="18" charset="0"/>
              </a:rPr>
              <a:t>.</a:t>
            </a:r>
          </a:p>
          <a:p>
            <a:pPr algn="just">
              <a:lnSpc>
                <a:spcPct val="150000"/>
              </a:lnSpc>
            </a:pPr>
            <a:r>
              <a:rPr lang="en-US" sz="1800" dirty="0">
                <a:latin typeface="Californian FB" pitchFamily="18" charset="0"/>
              </a:rPr>
              <a:t>Creativity is the ability to come up with new idea and to identify new and different ways of looking at a problem and opportunities.</a:t>
            </a:r>
          </a:p>
          <a:p>
            <a:pPr algn="just">
              <a:lnSpc>
                <a:spcPct val="150000"/>
              </a:lnSpc>
              <a:buNone/>
            </a:pPr>
            <a:r>
              <a:rPr lang="en-US" sz="1800" dirty="0">
                <a:latin typeface="Californian FB" pitchFamily="18" charset="0"/>
              </a:rPr>
              <a:t>This definition has several key elements that are worth considering:</a:t>
            </a:r>
          </a:p>
          <a:p>
            <a:pPr algn="just">
              <a:lnSpc>
                <a:spcPct val="150000"/>
              </a:lnSpc>
              <a:buNone/>
            </a:pPr>
            <a:r>
              <a:rPr lang="en-US" sz="1800" b="1" dirty="0">
                <a:effectLst>
                  <a:outerShdw blurRad="38100" dist="38100" dir="2700000" algn="tl">
                    <a:srgbClr val="000000">
                      <a:alpha val="43137"/>
                    </a:srgbClr>
                  </a:outerShdw>
                </a:effectLst>
                <a:latin typeface="Californian FB" pitchFamily="18" charset="0"/>
              </a:rPr>
              <a:t>. </a:t>
            </a:r>
            <a:r>
              <a:rPr lang="en-US" sz="2000" b="1" dirty="0">
                <a:solidFill>
                  <a:srgbClr val="002060"/>
                </a:solidFill>
                <a:effectLst>
                  <a:outerShdw blurRad="38100" dist="38100" dir="2700000" algn="tl">
                    <a:srgbClr val="000000">
                      <a:alpha val="43137"/>
                    </a:srgbClr>
                  </a:outerShdw>
                </a:effectLst>
                <a:latin typeface="Californian FB" pitchFamily="18" charset="0"/>
              </a:rPr>
              <a:t>Process</a:t>
            </a:r>
            <a:r>
              <a:rPr lang="en-US" sz="1800" b="1" dirty="0">
                <a:latin typeface="Californian FB" pitchFamily="18" charset="0"/>
              </a:rPr>
              <a:t>: </a:t>
            </a:r>
            <a:r>
              <a:rPr lang="en-US" sz="1800" dirty="0">
                <a:latin typeface="Californian FB" pitchFamily="18" charset="0"/>
              </a:rPr>
              <a:t>creativity is a process</a:t>
            </a:r>
          </a:p>
          <a:p>
            <a:pPr algn="just">
              <a:lnSpc>
                <a:spcPct val="150000"/>
              </a:lnSpc>
              <a:buNone/>
            </a:pPr>
            <a:r>
              <a:rPr lang="en-US" sz="2000" b="1" dirty="0">
                <a:solidFill>
                  <a:srgbClr val="002060"/>
                </a:solidFill>
                <a:effectLst>
                  <a:outerShdw blurRad="38100" dist="38100" dir="2700000" algn="tl">
                    <a:srgbClr val="000000">
                      <a:alpha val="43137"/>
                    </a:srgbClr>
                  </a:outerShdw>
                </a:effectLst>
                <a:latin typeface="Californian FB" pitchFamily="18" charset="0"/>
              </a:rPr>
              <a:t>. Ideas</a:t>
            </a:r>
            <a:r>
              <a:rPr lang="en-US" sz="1800" b="1" dirty="0">
                <a:latin typeface="Californian FB" pitchFamily="18" charset="0"/>
              </a:rPr>
              <a:t>: </a:t>
            </a:r>
            <a:r>
              <a:rPr lang="en-US" sz="1800" dirty="0">
                <a:latin typeface="Californian FB" pitchFamily="18" charset="0"/>
              </a:rPr>
              <a:t>creativity results in ideas that have potential value.</a:t>
            </a:r>
          </a:p>
          <a:p>
            <a:pPr algn="just">
              <a:lnSpc>
                <a:spcPct val="150000"/>
              </a:lnSpc>
              <a:buNone/>
            </a:pPr>
            <a:r>
              <a:rPr lang="en-US" sz="1800" dirty="0">
                <a:latin typeface="Californian FB" pitchFamily="18" charset="0"/>
              </a:rPr>
              <a:t>.  </a:t>
            </a:r>
            <a:r>
              <a:rPr lang="en-US" sz="2000" b="1" dirty="0">
                <a:solidFill>
                  <a:srgbClr val="002060"/>
                </a:solidFill>
                <a:effectLst>
                  <a:outerShdw blurRad="38100" dist="38100" dir="2700000" algn="tl">
                    <a:srgbClr val="000000">
                      <a:alpha val="43137"/>
                    </a:srgbClr>
                  </a:outerShdw>
                </a:effectLst>
                <a:latin typeface="Californian FB" pitchFamily="18" charset="0"/>
              </a:rPr>
              <a:t>Recombining</a:t>
            </a:r>
            <a:r>
              <a:rPr lang="en-US" sz="1800" b="1" dirty="0">
                <a:latin typeface="Californian FB" pitchFamily="18" charset="0"/>
              </a:rPr>
              <a:t>: </a:t>
            </a:r>
            <a:r>
              <a:rPr lang="en-US" sz="1800" dirty="0">
                <a:latin typeface="Californian FB" pitchFamily="18" charset="0"/>
              </a:rPr>
              <a:t>the creative process is one of putting things together in unexpected ways</a:t>
            </a:r>
          </a:p>
        </p:txBody>
      </p:sp>
      <p:sp>
        <p:nvSpPr>
          <p:cNvPr id="1048668" name="Slide Number Placeholder 3"/>
          <p:cNvSpPr>
            <a:spLocks noGrp="1"/>
          </p:cNvSpPr>
          <p:nvPr>
            <p:ph type="sldNum" sz="quarter" idx="12"/>
          </p:nvPr>
        </p:nvSpPr>
        <p:spPr/>
        <p:txBody>
          <a:bodyPr/>
          <a:lstStyle/>
          <a:p>
            <a:fld id="{291E2FA6-9605-47D5-89F4-3EA67C449664}" type="slidenum">
              <a:rPr lang="en-US" smtClean="0"/>
              <a:pPr/>
              <a:t>30</a:t>
            </a:fld>
            <a:endParaRPr lang="en-US"/>
          </a:p>
        </p:txBody>
      </p:sp>
      <p:sp>
        <p:nvSpPr>
          <p:cNvPr id="1048666" name="Title 1"/>
          <p:cNvSpPr>
            <a:spLocks noGrp="1"/>
          </p:cNvSpPr>
          <p:nvPr>
            <p:ph type="title"/>
          </p:nvPr>
        </p:nvSpPr>
        <p:spPr>
          <a:xfrm>
            <a:off x="457200" y="274638"/>
            <a:ext cx="8229600" cy="944562"/>
          </a:xfrm>
          <a:solidFill>
            <a:srgbClr val="00B050"/>
          </a:solidFill>
        </p:spPr>
        <p:txBody>
          <a:bodyPr>
            <a:normAutofit/>
          </a:bodyPr>
          <a:lstStyle/>
          <a:p>
            <a:r>
              <a:rPr lang="en-US" sz="2400" b="1" dirty="0" smtClean="0"/>
              <a:t>1.6 </a:t>
            </a:r>
            <a:r>
              <a:rPr lang="en-US" sz="2400" b="1" dirty="0"/>
              <a:t>Creativity, Innovation and Entrepreneurship</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9" name="Title 1"/>
          <p:cNvSpPr>
            <a:spLocks noGrp="1"/>
          </p:cNvSpPr>
          <p:nvPr>
            <p:ph idx="1"/>
          </p:nvPr>
        </p:nvSpPr>
        <p:spPr>
          <a:xfrm>
            <a:off x="457200" y="381000"/>
            <a:ext cx="8229600" cy="5867400"/>
          </a:xfrm>
          <a:ln>
            <a:solidFill>
              <a:srgbClr val="FF0000"/>
            </a:solidFill>
          </a:ln>
        </p:spPr>
        <p:txBody>
          <a:bodyPr>
            <a:noAutofit/>
          </a:bodyPr>
          <a:lstStyle/>
          <a:p>
            <a:pPr algn="just">
              <a:lnSpc>
                <a:spcPct val="150000"/>
              </a:lnSpc>
              <a:buNone/>
            </a:pPr>
            <a:r>
              <a:rPr lang="en-US" sz="2000" b="1" dirty="0" smtClean="0">
                <a:latin typeface="Californian FB" pitchFamily="18" charset="0"/>
              </a:rPr>
              <a:t>1.6.1.1 </a:t>
            </a:r>
            <a:r>
              <a:rPr lang="en-US" sz="2000" b="1" dirty="0">
                <a:latin typeface="Californian FB" pitchFamily="18" charset="0"/>
              </a:rPr>
              <a:t>Steps in the Creative Process: </a:t>
            </a:r>
          </a:p>
          <a:p>
            <a:pPr algn="just">
              <a:lnSpc>
                <a:spcPct val="150000"/>
              </a:lnSpc>
              <a:buNone/>
            </a:pPr>
            <a:r>
              <a:rPr lang="en-US" sz="2000" dirty="0">
                <a:latin typeface="Californian FB" pitchFamily="18" charset="0"/>
              </a:rPr>
              <a:t>The following are process:</a:t>
            </a:r>
          </a:p>
          <a:p>
            <a:pPr algn="just">
              <a:lnSpc>
                <a:spcPct val="150000"/>
              </a:lnSpc>
              <a:buNone/>
            </a:pPr>
            <a:r>
              <a:rPr lang="en-US" sz="2000" dirty="0">
                <a:latin typeface="Californian FB" pitchFamily="18" charset="0"/>
              </a:rPr>
              <a:t>Step1. Opportunity or problem Recognition</a:t>
            </a:r>
          </a:p>
          <a:p>
            <a:pPr algn="just">
              <a:lnSpc>
                <a:spcPct val="150000"/>
              </a:lnSpc>
              <a:buNone/>
            </a:pPr>
            <a:r>
              <a:rPr lang="en-US" sz="2000" dirty="0">
                <a:latin typeface="Californian FB" pitchFamily="18" charset="0"/>
              </a:rPr>
              <a:t>Step2: </a:t>
            </a:r>
            <a:r>
              <a:rPr lang="en-US" sz="2000" dirty="0" smtClean="0">
                <a:latin typeface="Californian FB" pitchFamily="18" charset="0"/>
              </a:rPr>
              <a:t>Immersion( deep mental involvement) </a:t>
            </a:r>
            <a:endParaRPr lang="en-US" sz="2000" dirty="0">
              <a:latin typeface="Californian FB" pitchFamily="18" charset="0"/>
            </a:endParaRPr>
          </a:p>
          <a:p>
            <a:pPr algn="just">
              <a:lnSpc>
                <a:spcPct val="150000"/>
              </a:lnSpc>
              <a:buNone/>
            </a:pPr>
            <a:r>
              <a:rPr lang="en-US" sz="2000" dirty="0">
                <a:latin typeface="Californian FB" pitchFamily="18" charset="0"/>
              </a:rPr>
              <a:t>Step 3: Incubation</a:t>
            </a:r>
          </a:p>
          <a:p>
            <a:pPr algn="just">
              <a:lnSpc>
                <a:spcPct val="150000"/>
              </a:lnSpc>
              <a:buNone/>
            </a:pPr>
            <a:r>
              <a:rPr lang="en-US" sz="2000" dirty="0">
                <a:latin typeface="Californian FB" pitchFamily="18" charset="0"/>
              </a:rPr>
              <a:t>Step 4: </a:t>
            </a:r>
            <a:r>
              <a:rPr lang="en-US" sz="2000" dirty="0" smtClean="0">
                <a:latin typeface="Californian FB" pitchFamily="18" charset="0"/>
              </a:rPr>
              <a:t>Insight (deep understanding)</a:t>
            </a:r>
            <a:endParaRPr lang="en-US" sz="2000" dirty="0">
              <a:latin typeface="Californian FB" pitchFamily="18" charset="0"/>
            </a:endParaRPr>
          </a:p>
          <a:p>
            <a:pPr algn="just">
              <a:lnSpc>
                <a:spcPct val="150000"/>
              </a:lnSpc>
              <a:buNone/>
            </a:pPr>
            <a:r>
              <a:rPr lang="en-US" sz="2000" dirty="0">
                <a:latin typeface="Californian FB" pitchFamily="18" charset="0"/>
              </a:rPr>
              <a:t>Step 5: Verification and Application</a:t>
            </a:r>
          </a:p>
          <a:p>
            <a:pPr algn="just">
              <a:lnSpc>
                <a:spcPct val="150000"/>
              </a:lnSpc>
              <a:buNone/>
            </a:pPr>
            <a:endParaRPr lang="en-US" sz="2000" b="1" dirty="0">
              <a:latin typeface="Californian FB" pitchFamily="18" charset="0"/>
            </a:endParaRPr>
          </a:p>
          <a:p>
            <a:pPr algn="just">
              <a:lnSpc>
                <a:spcPct val="150000"/>
              </a:lnSpc>
              <a:buNone/>
            </a:pPr>
            <a:r>
              <a:rPr lang="en-US" sz="2000" b="1" dirty="0" smtClean="0">
                <a:latin typeface="Californian FB" pitchFamily="18" charset="0"/>
              </a:rPr>
              <a:t>1.6.1.2 </a:t>
            </a:r>
            <a:r>
              <a:rPr lang="en-US" sz="2000" b="1" dirty="0">
                <a:latin typeface="Californian FB" pitchFamily="18" charset="0"/>
              </a:rPr>
              <a:t>Barriers to Creativity: </a:t>
            </a:r>
            <a:r>
              <a:rPr lang="en-US" sz="2400" i="1" dirty="0">
                <a:solidFill>
                  <a:srgbClr val="FF0000"/>
                </a:solidFill>
                <a:latin typeface="Californian FB" pitchFamily="18" charset="0"/>
              </a:rPr>
              <a:t>Reading assignment</a:t>
            </a:r>
          </a:p>
        </p:txBody>
      </p:sp>
      <p:sp>
        <p:nvSpPr>
          <p:cNvPr id="1048670" name="Slide Number Placeholder 6"/>
          <p:cNvSpPr>
            <a:spLocks noGrp="1"/>
          </p:cNvSpPr>
          <p:nvPr>
            <p:ph type="sldNum" sz="quarter" idx="12"/>
          </p:nvPr>
        </p:nvSpPr>
        <p:spPr/>
        <p:txBody>
          <a:bodyPr/>
          <a:lstStyle/>
          <a:p>
            <a:fld id="{291E2FA6-9605-47D5-89F4-3EA67C449664}"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2" name="Content Placeholder 2"/>
          <p:cNvSpPr>
            <a:spLocks noGrp="1"/>
          </p:cNvSpPr>
          <p:nvPr>
            <p:ph idx="1"/>
          </p:nvPr>
        </p:nvSpPr>
        <p:spPr>
          <a:xfrm>
            <a:off x="457200" y="1143000"/>
            <a:ext cx="8229600" cy="4983163"/>
          </a:xfrm>
          <a:ln>
            <a:solidFill>
              <a:srgbClr val="FF0000"/>
            </a:solidFill>
          </a:ln>
        </p:spPr>
        <p:txBody>
          <a:bodyPr>
            <a:noAutofit/>
          </a:bodyPr>
          <a:lstStyle/>
          <a:p>
            <a:pPr algn="just">
              <a:lnSpc>
                <a:spcPct val="150000"/>
              </a:lnSpc>
              <a:buNone/>
            </a:pPr>
            <a:r>
              <a:rPr lang="en-US" sz="2000" b="1" dirty="0">
                <a:solidFill>
                  <a:srgbClr val="002060"/>
                </a:solidFill>
                <a:effectLst>
                  <a:outerShdw blurRad="38100" dist="38100" dir="2700000" algn="tl">
                    <a:srgbClr val="000000">
                      <a:alpha val="43137"/>
                    </a:srgbClr>
                  </a:outerShdw>
                </a:effectLst>
                <a:latin typeface="Californian FB" pitchFamily="18" charset="0"/>
              </a:rPr>
              <a:t>Innovation</a:t>
            </a:r>
            <a:r>
              <a:rPr lang="en-US" sz="2000" dirty="0">
                <a:latin typeface="Californian FB" pitchFamily="18" charset="0"/>
              </a:rPr>
              <a:t> lies at the heart of the entrepreneurial process and is a means to the exploitation of opportunity. It is the implementation of new idea at the individual, group or organizational level.</a:t>
            </a:r>
          </a:p>
          <a:p>
            <a:pPr algn="just">
              <a:lnSpc>
                <a:spcPct val="150000"/>
              </a:lnSpc>
              <a:buNone/>
            </a:pPr>
            <a:r>
              <a:rPr lang="en-US" sz="2000" b="1" i="1" dirty="0">
                <a:latin typeface="Californian FB" pitchFamily="18" charset="0"/>
              </a:rPr>
              <a:t>There are four distinct types of innovation, these are as follows:</a:t>
            </a:r>
          </a:p>
          <a:p>
            <a:pPr algn="just">
              <a:lnSpc>
                <a:spcPct val="150000"/>
              </a:lnSpc>
              <a:buAutoNum type="arabicPeriod"/>
            </a:pPr>
            <a:r>
              <a:rPr lang="en-US" sz="2000" b="1" dirty="0">
                <a:solidFill>
                  <a:srgbClr val="002060"/>
                </a:solidFill>
                <a:effectLst>
                  <a:outerShdw blurRad="38100" dist="38100" dir="2700000" algn="tl">
                    <a:srgbClr val="000000">
                      <a:alpha val="43137"/>
                    </a:srgbClr>
                  </a:outerShdw>
                </a:effectLst>
                <a:latin typeface="Californian FB" pitchFamily="18" charset="0"/>
              </a:rPr>
              <a:t>Invention</a:t>
            </a:r>
            <a:r>
              <a:rPr lang="en-US" sz="2000" b="1" dirty="0">
                <a:latin typeface="Californian FB" pitchFamily="18" charset="0"/>
              </a:rPr>
              <a:t> </a:t>
            </a:r>
            <a:r>
              <a:rPr lang="en-US" sz="2000" dirty="0"/>
              <a:t>-</a:t>
            </a:r>
            <a:r>
              <a:rPr lang="en-US" sz="2000" dirty="0">
                <a:latin typeface="Californian FB" pitchFamily="18" charset="0"/>
              </a:rPr>
              <a:t> described as the creation of a new product, service or process</a:t>
            </a:r>
          </a:p>
          <a:p>
            <a:pPr algn="just">
              <a:lnSpc>
                <a:spcPct val="150000"/>
              </a:lnSpc>
              <a:buAutoNum type="arabicPeriod"/>
            </a:pPr>
            <a:r>
              <a:rPr lang="en-US" sz="2000" b="1" dirty="0">
                <a:solidFill>
                  <a:srgbClr val="002060"/>
                </a:solidFill>
                <a:effectLst>
                  <a:outerShdw blurRad="38100" dist="38100" dir="2700000" algn="tl">
                    <a:srgbClr val="000000">
                      <a:alpha val="43137"/>
                    </a:srgbClr>
                  </a:outerShdw>
                </a:effectLst>
                <a:latin typeface="Californian FB" pitchFamily="18" charset="0"/>
              </a:rPr>
              <a:t>Extension</a:t>
            </a:r>
            <a:r>
              <a:rPr lang="en-US" sz="2000" dirty="0">
                <a:latin typeface="Californian FB" pitchFamily="18" charset="0"/>
              </a:rPr>
              <a:t> </a:t>
            </a:r>
            <a:r>
              <a:rPr lang="en-US" sz="2000" dirty="0"/>
              <a:t>- </a:t>
            </a:r>
            <a:r>
              <a:rPr lang="en-US" sz="2000" dirty="0">
                <a:latin typeface="Californian FB" pitchFamily="18" charset="0"/>
              </a:rPr>
              <a:t>the expansion of a product, service or process</a:t>
            </a:r>
          </a:p>
          <a:p>
            <a:pPr algn="just">
              <a:lnSpc>
                <a:spcPct val="150000"/>
              </a:lnSpc>
              <a:buAutoNum type="arabicPeriod"/>
            </a:pPr>
            <a:r>
              <a:rPr lang="en-US" sz="2000" b="1" dirty="0">
                <a:solidFill>
                  <a:srgbClr val="002060"/>
                </a:solidFill>
                <a:effectLst>
                  <a:outerShdw blurRad="38100" dist="38100" dir="2700000" algn="tl">
                    <a:srgbClr val="000000">
                      <a:alpha val="43137"/>
                    </a:srgbClr>
                  </a:outerShdw>
                </a:effectLst>
                <a:latin typeface="Californian FB" pitchFamily="18" charset="0"/>
              </a:rPr>
              <a:t>Duplication</a:t>
            </a:r>
            <a:r>
              <a:rPr lang="en-US" sz="2000" b="1" dirty="0">
                <a:latin typeface="Californian FB" pitchFamily="18" charset="0"/>
              </a:rPr>
              <a:t> </a:t>
            </a:r>
            <a:r>
              <a:rPr lang="en-US" sz="2000" dirty="0"/>
              <a:t>–</a:t>
            </a:r>
            <a:r>
              <a:rPr lang="en-US" sz="2000" dirty="0">
                <a:latin typeface="Californian FB" pitchFamily="18" charset="0"/>
              </a:rPr>
              <a:t> replication of an already existing product, service or process</a:t>
            </a:r>
          </a:p>
          <a:p>
            <a:pPr algn="just">
              <a:lnSpc>
                <a:spcPct val="150000"/>
              </a:lnSpc>
              <a:buAutoNum type="arabicPeriod"/>
            </a:pPr>
            <a:r>
              <a:rPr lang="en-US" sz="2000" b="1" dirty="0">
                <a:solidFill>
                  <a:srgbClr val="002060"/>
                </a:solidFill>
                <a:effectLst>
                  <a:outerShdw blurRad="38100" dist="38100" dir="2700000" algn="tl">
                    <a:srgbClr val="000000">
                      <a:alpha val="43137"/>
                    </a:srgbClr>
                  </a:outerShdw>
                </a:effectLst>
                <a:latin typeface="Californian FB" pitchFamily="18" charset="0"/>
              </a:rPr>
              <a:t>Synthesis</a:t>
            </a:r>
            <a:r>
              <a:rPr lang="en-US" sz="2000" b="1" dirty="0">
                <a:latin typeface="Californian FB" pitchFamily="18" charset="0"/>
              </a:rPr>
              <a:t> </a:t>
            </a:r>
            <a:r>
              <a:rPr lang="en-US" sz="2000" b="1" dirty="0">
                <a:latin typeface="+mj-lt"/>
              </a:rPr>
              <a:t>-</a:t>
            </a:r>
            <a:r>
              <a:rPr lang="en-US" sz="2000" b="1" dirty="0">
                <a:latin typeface="Californian FB" pitchFamily="18" charset="0"/>
              </a:rPr>
              <a:t> </a:t>
            </a:r>
            <a:r>
              <a:rPr lang="en-US" sz="2000" dirty="0">
                <a:latin typeface="Californian FB" pitchFamily="18" charset="0"/>
              </a:rPr>
              <a:t>the combination of existing concepts and factors into a new 	              formulation</a:t>
            </a:r>
          </a:p>
        </p:txBody>
      </p:sp>
      <p:sp>
        <p:nvSpPr>
          <p:cNvPr id="1048673" name="Slide Number Placeholder 3"/>
          <p:cNvSpPr>
            <a:spLocks noGrp="1"/>
          </p:cNvSpPr>
          <p:nvPr>
            <p:ph type="sldNum" sz="quarter" idx="12"/>
          </p:nvPr>
        </p:nvSpPr>
        <p:spPr/>
        <p:txBody>
          <a:bodyPr/>
          <a:lstStyle/>
          <a:p>
            <a:fld id="{291E2FA6-9605-47D5-89F4-3EA67C449664}" type="slidenum">
              <a:rPr lang="en-US" smtClean="0"/>
              <a:pPr/>
              <a:t>32</a:t>
            </a:fld>
            <a:endParaRPr lang="en-US"/>
          </a:p>
        </p:txBody>
      </p:sp>
      <p:sp>
        <p:nvSpPr>
          <p:cNvPr id="1048671" name="Title 1"/>
          <p:cNvSpPr>
            <a:spLocks noGrp="1"/>
          </p:cNvSpPr>
          <p:nvPr>
            <p:ph type="title"/>
          </p:nvPr>
        </p:nvSpPr>
        <p:spPr>
          <a:xfrm>
            <a:off x="457200" y="457200"/>
            <a:ext cx="8229600" cy="609600"/>
          </a:xfrm>
          <a:solidFill>
            <a:srgbClr val="00B050"/>
          </a:solidFill>
          <a:ln>
            <a:solidFill>
              <a:srgbClr val="FF0000"/>
            </a:solidFill>
          </a:ln>
        </p:spPr>
        <p:txBody>
          <a:bodyPr>
            <a:normAutofit/>
          </a:bodyPr>
          <a:lstStyle/>
          <a:p>
            <a:pPr algn="l"/>
            <a:r>
              <a:rPr lang="en-US" sz="2800" b="1" dirty="0" smtClean="0"/>
              <a:t>1.6. </a:t>
            </a:r>
            <a:r>
              <a:rPr lang="en-US" sz="2800" b="1" dirty="0"/>
              <a:t>2 Innovation</a:t>
            </a:r>
            <a:endParaRPr 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4" name="Content Placeholder 2"/>
          <p:cNvSpPr>
            <a:spLocks noGrp="1"/>
          </p:cNvSpPr>
          <p:nvPr>
            <p:ph idx="1"/>
          </p:nvPr>
        </p:nvSpPr>
        <p:spPr>
          <a:xfrm>
            <a:off x="457200" y="685800"/>
            <a:ext cx="8229600" cy="5440363"/>
          </a:xfrm>
          <a:ln>
            <a:solidFill>
              <a:srgbClr val="FF0000"/>
            </a:solidFill>
          </a:ln>
        </p:spPr>
        <p:txBody>
          <a:bodyPr>
            <a:noAutofit/>
          </a:bodyPr>
          <a:lstStyle/>
          <a:p>
            <a:pPr algn="just">
              <a:lnSpc>
                <a:spcPct val="160000"/>
              </a:lnSpc>
              <a:buNone/>
            </a:pPr>
            <a:r>
              <a:rPr lang="en-US" sz="2400" b="1" dirty="0" smtClean="0">
                <a:solidFill>
                  <a:srgbClr val="00B0F0"/>
                </a:solidFill>
                <a:latin typeface="Californian FB" pitchFamily="18" charset="0"/>
              </a:rPr>
              <a:t>1.6.2.1 </a:t>
            </a:r>
            <a:r>
              <a:rPr lang="en-US" sz="2400" b="1" dirty="0">
                <a:solidFill>
                  <a:srgbClr val="00B0F0"/>
                </a:solidFill>
                <a:effectLst>
                  <a:outerShdw blurRad="38100" dist="38100" dir="2700000" algn="tl">
                    <a:srgbClr val="000000">
                      <a:alpha val="43137"/>
                    </a:srgbClr>
                  </a:outerShdw>
                </a:effectLst>
                <a:latin typeface="Californian FB" pitchFamily="18" charset="0"/>
              </a:rPr>
              <a:t>The Innovation Process</a:t>
            </a:r>
          </a:p>
          <a:p>
            <a:pPr algn="just">
              <a:lnSpc>
                <a:spcPct val="160000"/>
              </a:lnSpc>
              <a:buNone/>
            </a:pPr>
            <a:r>
              <a:rPr lang="en-US" sz="2000" dirty="0">
                <a:latin typeface="Californian FB" pitchFamily="18" charset="0"/>
              </a:rPr>
              <a:t>1. </a:t>
            </a:r>
            <a:r>
              <a:rPr lang="en-US" sz="2000" b="1" dirty="0">
                <a:solidFill>
                  <a:srgbClr val="002060"/>
                </a:solidFill>
                <a:effectLst>
                  <a:outerShdw blurRad="38100" dist="38100" dir="2700000" algn="tl">
                    <a:srgbClr val="000000">
                      <a:alpha val="43137"/>
                    </a:srgbClr>
                  </a:outerShdw>
                </a:effectLst>
                <a:latin typeface="Californian FB" pitchFamily="18" charset="0"/>
              </a:rPr>
              <a:t>Analytical planning</a:t>
            </a:r>
            <a:r>
              <a:rPr lang="en-US" sz="2000" b="1" dirty="0">
                <a:latin typeface="Californian FB" pitchFamily="18" charset="0"/>
              </a:rPr>
              <a:t>: </a:t>
            </a:r>
            <a:r>
              <a:rPr lang="en-US" sz="2000" dirty="0">
                <a:latin typeface="Californian FB" pitchFamily="18" charset="0"/>
              </a:rPr>
              <a:t>carefully identifying the product or service features, design as</a:t>
            </a:r>
            <a:r>
              <a:rPr lang="en-US" sz="2000" b="1" dirty="0">
                <a:latin typeface="Californian FB" pitchFamily="18" charset="0"/>
              </a:rPr>
              <a:t> </a:t>
            </a:r>
            <a:r>
              <a:rPr lang="en-US" sz="2000" dirty="0">
                <a:latin typeface="Californian FB" pitchFamily="18" charset="0"/>
              </a:rPr>
              <a:t>well as the resources that will be needed.</a:t>
            </a:r>
          </a:p>
          <a:p>
            <a:pPr algn="just">
              <a:lnSpc>
                <a:spcPct val="160000"/>
              </a:lnSpc>
              <a:buNone/>
            </a:pPr>
            <a:r>
              <a:rPr lang="en-US" sz="2000" dirty="0">
                <a:latin typeface="Californian FB" pitchFamily="18" charset="0"/>
              </a:rPr>
              <a:t>2. </a:t>
            </a:r>
            <a:r>
              <a:rPr lang="en-US" sz="2000" b="1" dirty="0">
                <a:solidFill>
                  <a:srgbClr val="002060"/>
                </a:solidFill>
                <a:effectLst>
                  <a:outerShdw blurRad="38100" dist="38100" dir="2700000" algn="tl">
                    <a:srgbClr val="000000">
                      <a:alpha val="43137"/>
                    </a:srgbClr>
                  </a:outerShdw>
                </a:effectLst>
                <a:latin typeface="Californian FB" pitchFamily="18" charset="0"/>
              </a:rPr>
              <a:t>Resources organization</a:t>
            </a:r>
            <a:r>
              <a:rPr lang="en-US" sz="2000" b="1" dirty="0">
                <a:latin typeface="Californian FB" pitchFamily="18" charset="0"/>
              </a:rPr>
              <a:t>: </a:t>
            </a:r>
            <a:r>
              <a:rPr lang="en-US" sz="2000" dirty="0">
                <a:latin typeface="Californian FB" pitchFamily="18" charset="0"/>
              </a:rPr>
              <a:t>materials, technology, human or capital resources</a:t>
            </a:r>
          </a:p>
          <a:p>
            <a:pPr algn="just">
              <a:lnSpc>
                <a:spcPct val="160000"/>
              </a:lnSpc>
              <a:buNone/>
            </a:pPr>
            <a:r>
              <a:rPr lang="en-US" sz="2000" dirty="0">
                <a:latin typeface="Californian FB" pitchFamily="18" charset="0"/>
              </a:rPr>
              <a:t>3. </a:t>
            </a:r>
            <a:r>
              <a:rPr lang="en-US" sz="2000" b="1" dirty="0">
                <a:solidFill>
                  <a:srgbClr val="002060"/>
                </a:solidFill>
                <a:effectLst>
                  <a:outerShdw blurRad="38100" dist="38100" dir="2700000" algn="tl">
                    <a:srgbClr val="000000">
                      <a:alpha val="43137"/>
                    </a:srgbClr>
                  </a:outerShdw>
                </a:effectLst>
                <a:latin typeface="Californian FB" pitchFamily="18" charset="0"/>
              </a:rPr>
              <a:t>Implementation</a:t>
            </a:r>
            <a:r>
              <a:rPr lang="en-US" sz="2000" b="1" dirty="0">
                <a:latin typeface="Californian FB" pitchFamily="18" charset="0"/>
              </a:rPr>
              <a:t>: </a:t>
            </a:r>
            <a:r>
              <a:rPr lang="en-US" sz="2000" dirty="0">
                <a:latin typeface="Californian FB" pitchFamily="18" charset="0"/>
              </a:rPr>
              <a:t>applying the resources in order to accomplish the plans</a:t>
            </a:r>
          </a:p>
          <a:p>
            <a:pPr algn="just">
              <a:lnSpc>
                <a:spcPct val="160000"/>
              </a:lnSpc>
              <a:buNone/>
            </a:pPr>
            <a:r>
              <a:rPr lang="en-US" sz="2000" dirty="0">
                <a:latin typeface="Californian FB" pitchFamily="18" charset="0"/>
              </a:rPr>
              <a:t>4. </a:t>
            </a:r>
            <a:r>
              <a:rPr lang="en-US" sz="2000" b="1" dirty="0">
                <a:solidFill>
                  <a:srgbClr val="002060"/>
                </a:solidFill>
                <a:effectLst>
                  <a:outerShdw blurRad="38100" dist="38100" dir="2700000" algn="tl">
                    <a:srgbClr val="000000">
                      <a:alpha val="43137"/>
                    </a:srgbClr>
                  </a:outerShdw>
                </a:effectLst>
                <a:latin typeface="Californian FB" pitchFamily="18" charset="0"/>
              </a:rPr>
              <a:t>Commercial application</a:t>
            </a:r>
            <a:r>
              <a:rPr lang="en-US" sz="2000" b="1" dirty="0">
                <a:latin typeface="Californian FB" pitchFamily="18" charset="0"/>
              </a:rPr>
              <a:t>: </a:t>
            </a:r>
            <a:r>
              <a:rPr lang="en-US" sz="2000" dirty="0">
                <a:latin typeface="Californian FB" pitchFamily="18" charset="0"/>
              </a:rPr>
              <a:t>the provision of values to customers, reward employees and satisfy the stakeholders.</a:t>
            </a:r>
          </a:p>
        </p:txBody>
      </p:sp>
      <p:sp>
        <p:nvSpPr>
          <p:cNvPr id="1048675" name="Slide Number Placeholder 3"/>
          <p:cNvSpPr>
            <a:spLocks noGrp="1"/>
          </p:cNvSpPr>
          <p:nvPr>
            <p:ph type="sldNum" sz="quarter" idx="12"/>
          </p:nvPr>
        </p:nvSpPr>
        <p:spPr/>
        <p:txBody>
          <a:bodyPr/>
          <a:lstStyle/>
          <a:p>
            <a:fld id="{291E2FA6-9605-47D5-89F4-3EA67C449664}"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6" name="Content Placeholder 2"/>
          <p:cNvSpPr>
            <a:spLocks noGrp="1"/>
          </p:cNvSpPr>
          <p:nvPr>
            <p:ph idx="1"/>
          </p:nvPr>
        </p:nvSpPr>
        <p:spPr>
          <a:xfrm>
            <a:off x="533400" y="685800"/>
            <a:ext cx="8229600" cy="5440363"/>
          </a:xfrm>
          <a:ln>
            <a:solidFill>
              <a:srgbClr val="FF0000"/>
            </a:solidFill>
          </a:ln>
        </p:spPr>
        <p:txBody>
          <a:bodyPr>
            <a:normAutofit fontScale="25000" lnSpcReduction="20000"/>
          </a:bodyPr>
          <a:lstStyle/>
          <a:p>
            <a:pPr>
              <a:lnSpc>
                <a:spcPct val="150000"/>
              </a:lnSpc>
              <a:buNone/>
            </a:pPr>
            <a:r>
              <a:rPr lang="en-US" sz="9600" b="1" dirty="0" smtClean="0">
                <a:latin typeface="Californian FB" pitchFamily="18" charset="0"/>
              </a:rPr>
              <a:t>1.6.3  </a:t>
            </a:r>
            <a:r>
              <a:rPr lang="en-US" sz="9600" b="1" dirty="0" smtClean="0">
                <a:solidFill>
                  <a:srgbClr val="7030A0"/>
                </a:solidFill>
                <a:effectLst>
                  <a:outerShdw blurRad="38100" dist="38100" dir="2700000" algn="tl">
                    <a:srgbClr val="000000">
                      <a:alpha val="43137"/>
                    </a:srgbClr>
                  </a:outerShdw>
                </a:effectLst>
                <a:latin typeface="Californian FB" pitchFamily="18" charset="0"/>
              </a:rPr>
              <a:t>From </a:t>
            </a:r>
            <a:r>
              <a:rPr lang="en-US" sz="9600" b="1" dirty="0">
                <a:solidFill>
                  <a:srgbClr val="7030A0"/>
                </a:solidFill>
                <a:effectLst>
                  <a:outerShdw blurRad="38100" dist="38100" dir="2700000" algn="tl">
                    <a:srgbClr val="000000">
                      <a:alpha val="43137"/>
                    </a:srgbClr>
                  </a:outerShdw>
                </a:effectLst>
                <a:latin typeface="Californian FB" pitchFamily="18" charset="0"/>
              </a:rPr>
              <a:t>Creativity to Entrepreneurship</a:t>
            </a:r>
          </a:p>
          <a:p>
            <a:pPr algn="just">
              <a:lnSpc>
                <a:spcPct val="150000"/>
              </a:lnSpc>
              <a:buNone/>
            </a:pPr>
            <a:r>
              <a:rPr lang="en-US" sz="8000" b="1" dirty="0">
                <a:solidFill>
                  <a:srgbClr val="002060"/>
                </a:solidFill>
                <a:effectLst>
                  <a:outerShdw blurRad="38100" dist="38100" dir="2700000" algn="tl">
                    <a:srgbClr val="000000">
                      <a:alpha val="43137"/>
                    </a:srgbClr>
                  </a:outerShdw>
                </a:effectLst>
                <a:latin typeface="Californian FB" pitchFamily="18" charset="0"/>
              </a:rPr>
              <a:t>Creativity</a:t>
            </a:r>
            <a:r>
              <a:rPr lang="en-US" sz="8000" b="1" dirty="0">
                <a:latin typeface="Californian FB" pitchFamily="18" charset="0"/>
              </a:rPr>
              <a:t> is </a:t>
            </a:r>
            <a:r>
              <a:rPr lang="en-US" sz="8000" dirty="0">
                <a:latin typeface="Californian FB" pitchFamily="18" charset="0"/>
              </a:rPr>
              <a:t>the ability to develop new ideas and to discover new ways of looking at problems and opportunities. </a:t>
            </a:r>
          </a:p>
          <a:p>
            <a:pPr algn="just">
              <a:lnSpc>
                <a:spcPct val="150000"/>
              </a:lnSpc>
              <a:buNone/>
            </a:pPr>
            <a:r>
              <a:rPr lang="en-US" sz="8000" b="1" dirty="0">
                <a:solidFill>
                  <a:srgbClr val="002060"/>
                </a:solidFill>
                <a:effectLst>
                  <a:outerShdw blurRad="38100" dist="38100" dir="2700000" algn="tl">
                    <a:srgbClr val="000000">
                      <a:alpha val="43137"/>
                    </a:srgbClr>
                  </a:outerShdw>
                </a:effectLst>
                <a:latin typeface="Californian FB" pitchFamily="18" charset="0"/>
              </a:rPr>
              <a:t>Innovation</a:t>
            </a:r>
            <a:r>
              <a:rPr lang="en-US" sz="8000" dirty="0">
                <a:latin typeface="Californian FB" pitchFamily="18" charset="0"/>
              </a:rPr>
              <a:t> is the ability to apply creative solution to those problems and</a:t>
            </a:r>
            <a:r>
              <a:rPr lang="en-US" sz="8000" b="1" dirty="0">
                <a:latin typeface="Californian FB" pitchFamily="18" charset="0"/>
              </a:rPr>
              <a:t> </a:t>
            </a:r>
            <a:r>
              <a:rPr lang="en-US" sz="8000" dirty="0">
                <a:latin typeface="Californian FB" pitchFamily="18" charset="0"/>
              </a:rPr>
              <a:t>opportunities in order to enhance people’s lives or to enrich society</a:t>
            </a:r>
            <a:r>
              <a:rPr lang="en-US" sz="8000" b="1" dirty="0">
                <a:latin typeface="Californian FB" pitchFamily="18" charset="0"/>
              </a:rPr>
              <a:t>.</a:t>
            </a:r>
          </a:p>
          <a:p>
            <a:pPr algn="just">
              <a:lnSpc>
                <a:spcPct val="150000"/>
              </a:lnSpc>
              <a:buNone/>
            </a:pPr>
            <a:r>
              <a:rPr lang="en-US" sz="8000" b="1" i="1" u="sng" dirty="0">
                <a:latin typeface="Californian FB" pitchFamily="18" charset="0"/>
              </a:rPr>
              <a:t>Based on this </a:t>
            </a:r>
          </a:p>
          <a:p>
            <a:pPr algn="just">
              <a:lnSpc>
                <a:spcPct val="150000"/>
              </a:lnSpc>
              <a:buNone/>
            </a:pPr>
            <a:r>
              <a:rPr lang="en-US" sz="8000" b="1" dirty="0">
                <a:latin typeface="Californian FB" pitchFamily="18" charset="0"/>
              </a:rPr>
              <a:t>Creativity : </a:t>
            </a:r>
            <a:r>
              <a:rPr lang="en-US" sz="8000" dirty="0">
                <a:solidFill>
                  <a:srgbClr val="002060"/>
                </a:solidFill>
                <a:effectLst>
                  <a:outerShdw blurRad="38100" dist="38100" dir="2700000" algn="tl">
                    <a:srgbClr val="000000">
                      <a:alpha val="43137"/>
                    </a:srgbClr>
                  </a:outerShdw>
                </a:effectLst>
                <a:latin typeface="Californian FB" pitchFamily="18" charset="0"/>
              </a:rPr>
              <a:t>Thinking new thing </a:t>
            </a:r>
          </a:p>
          <a:p>
            <a:pPr algn="just">
              <a:lnSpc>
                <a:spcPct val="150000"/>
              </a:lnSpc>
              <a:buNone/>
            </a:pPr>
            <a:endParaRPr lang="en-US" sz="8000" dirty="0">
              <a:latin typeface="Californian FB" pitchFamily="18" charset="0"/>
            </a:endParaRPr>
          </a:p>
          <a:p>
            <a:pPr algn="just">
              <a:lnSpc>
                <a:spcPct val="150000"/>
              </a:lnSpc>
              <a:buNone/>
            </a:pPr>
            <a:r>
              <a:rPr lang="en-US" sz="8000" b="1" dirty="0">
                <a:latin typeface="Californian FB" pitchFamily="18" charset="0"/>
              </a:rPr>
              <a:t>Innovation: </a:t>
            </a:r>
            <a:r>
              <a:rPr lang="en-US" sz="8000" dirty="0">
                <a:solidFill>
                  <a:srgbClr val="002060"/>
                </a:solidFill>
                <a:effectLst>
                  <a:outerShdw blurRad="38100" dist="38100" dir="2700000" algn="tl">
                    <a:srgbClr val="000000">
                      <a:alpha val="43137"/>
                    </a:srgbClr>
                  </a:outerShdw>
                </a:effectLst>
                <a:latin typeface="Californian FB" pitchFamily="18" charset="0"/>
              </a:rPr>
              <a:t>Doing new thing </a:t>
            </a:r>
          </a:p>
          <a:p>
            <a:pPr algn="just">
              <a:lnSpc>
                <a:spcPct val="150000"/>
              </a:lnSpc>
              <a:buNone/>
            </a:pPr>
            <a:endParaRPr lang="en-US" sz="8000" dirty="0">
              <a:latin typeface="Californian FB" pitchFamily="18" charset="0"/>
            </a:endParaRPr>
          </a:p>
          <a:p>
            <a:pPr algn="just">
              <a:lnSpc>
                <a:spcPct val="150000"/>
              </a:lnSpc>
              <a:buNone/>
            </a:pPr>
            <a:r>
              <a:rPr lang="en-US" sz="8000" b="1" dirty="0">
                <a:latin typeface="Californian FB" pitchFamily="18" charset="0"/>
              </a:rPr>
              <a:t>Entrepreneurship: </a:t>
            </a:r>
            <a:r>
              <a:rPr lang="en-US" sz="8000" b="1" dirty="0">
                <a:solidFill>
                  <a:srgbClr val="002060"/>
                </a:solidFill>
                <a:effectLst>
                  <a:outerShdw blurRad="38100" dist="38100" dir="2700000" algn="tl">
                    <a:srgbClr val="000000">
                      <a:alpha val="43137"/>
                    </a:srgbClr>
                  </a:outerShdw>
                </a:effectLst>
                <a:latin typeface="Californian FB" pitchFamily="18" charset="0"/>
              </a:rPr>
              <a:t>Creating value in the market place </a:t>
            </a:r>
            <a:r>
              <a:rPr lang="en-US" sz="8000" dirty="0">
                <a:solidFill>
                  <a:srgbClr val="002060"/>
                </a:solidFill>
                <a:effectLst>
                  <a:outerShdw blurRad="38100" dist="38100" dir="2700000" algn="tl">
                    <a:srgbClr val="000000">
                      <a:alpha val="43137"/>
                    </a:srgbClr>
                  </a:outerShdw>
                </a:effectLst>
                <a:latin typeface="Californian FB" pitchFamily="18" charset="0"/>
              </a:rPr>
              <a:t> </a:t>
            </a:r>
          </a:p>
          <a:p>
            <a:pPr algn="just">
              <a:lnSpc>
                <a:spcPct val="150000"/>
              </a:lnSpc>
              <a:buNone/>
            </a:pPr>
            <a:r>
              <a:rPr lang="en-US" sz="8000" b="1" dirty="0">
                <a:solidFill>
                  <a:srgbClr val="C00000"/>
                </a:solidFill>
                <a:latin typeface="Californian FB" pitchFamily="18" charset="0"/>
              </a:rPr>
              <a:t>Entrepreneurship = creativity + innovation</a:t>
            </a:r>
          </a:p>
          <a:p>
            <a:pPr algn="just">
              <a:lnSpc>
                <a:spcPct val="150000"/>
              </a:lnSpc>
              <a:buNone/>
            </a:pPr>
            <a:endParaRPr lang="en-US" sz="1800" b="1" dirty="0"/>
          </a:p>
          <a:p>
            <a:pPr algn="just">
              <a:lnSpc>
                <a:spcPct val="150000"/>
              </a:lnSpc>
              <a:buNone/>
            </a:pPr>
            <a:endParaRPr lang="en-US" sz="1800" b="1" dirty="0"/>
          </a:p>
          <a:p>
            <a:pPr algn="just">
              <a:lnSpc>
                <a:spcPct val="150000"/>
              </a:lnSpc>
              <a:buNone/>
            </a:pPr>
            <a:endParaRPr lang="en-US" sz="1800" dirty="0"/>
          </a:p>
        </p:txBody>
      </p:sp>
      <p:sp>
        <p:nvSpPr>
          <p:cNvPr id="1048677" name="Slide Number Placeholder 9"/>
          <p:cNvSpPr>
            <a:spLocks noGrp="1"/>
          </p:cNvSpPr>
          <p:nvPr>
            <p:ph type="sldNum" sz="quarter" idx="12"/>
          </p:nvPr>
        </p:nvSpPr>
        <p:spPr/>
        <p:txBody>
          <a:bodyPr/>
          <a:lstStyle/>
          <a:p>
            <a:fld id="{291E2FA6-9605-47D5-89F4-3EA67C449664}" type="slidenum">
              <a:rPr lang="en-US" smtClean="0"/>
              <a:pPr/>
              <a:t>34</a:t>
            </a:fld>
            <a:endParaRPr lang="en-US"/>
          </a:p>
        </p:txBody>
      </p:sp>
      <p:sp>
        <p:nvSpPr>
          <p:cNvPr id="1048678" name="Down Arrow 1"/>
          <p:cNvSpPr/>
          <p:nvPr/>
        </p:nvSpPr>
        <p:spPr>
          <a:xfrm>
            <a:off x="990600" y="3810000"/>
            <a:ext cx="457200" cy="609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79" name="Down Arrow 3"/>
          <p:cNvSpPr/>
          <p:nvPr/>
        </p:nvSpPr>
        <p:spPr>
          <a:xfrm>
            <a:off x="990600" y="4724400"/>
            <a:ext cx="484632" cy="533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Content Placeholder 2"/>
          <p:cNvSpPr>
            <a:spLocks noGrp="1"/>
          </p:cNvSpPr>
          <p:nvPr>
            <p:ph idx="1"/>
          </p:nvPr>
        </p:nvSpPr>
        <p:spPr>
          <a:xfrm>
            <a:off x="457200" y="1143000"/>
            <a:ext cx="8229600" cy="5410200"/>
          </a:xfrm>
          <a:ln>
            <a:solidFill>
              <a:srgbClr val="FF0000"/>
            </a:solidFill>
          </a:ln>
        </p:spPr>
        <p:txBody>
          <a:bodyPr>
            <a:normAutofit/>
          </a:bodyPr>
          <a:lstStyle/>
          <a:p>
            <a:pPr algn="just"/>
            <a:r>
              <a:rPr lang="en-US" sz="2400" b="1" dirty="0">
                <a:latin typeface="Californian FB" pitchFamily="18" charset="0"/>
              </a:rPr>
              <a:t>2.1 </a:t>
            </a:r>
            <a:r>
              <a:rPr lang="en-US" sz="2400" b="1" dirty="0" smtClean="0">
                <a:latin typeface="Californian FB" pitchFamily="18" charset="0"/>
              </a:rPr>
              <a:t>Introduction: </a:t>
            </a:r>
            <a:r>
              <a:rPr lang="en-US" sz="1800" dirty="0">
                <a:latin typeface="Californian FB" pitchFamily="18" charset="0"/>
              </a:rPr>
              <a:t>This unit will help you to understand the concept of opportunity identification and evaluation, business idea development and how to prepare a business plan</a:t>
            </a:r>
            <a:r>
              <a:rPr lang="en-US" sz="1800" dirty="0" smtClean="0">
                <a:latin typeface="Californian FB" pitchFamily="18" charset="0"/>
              </a:rPr>
              <a:t>.</a:t>
            </a:r>
          </a:p>
          <a:p>
            <a:pPr algn="just">
              <a:buFont typeface="Wingdings" pitchFamily="2" charset="2"/>
              <a:buChar char="v"/>
            </a:pPr>
            <a:r>
              <a:rPr lang="en-US" sz="1800" dirty="0" smtClean="0">
                <a:latin typeface="Californian FB" pitchFamily="18" charset="0"/>
              </a:rPr>
              <a:t>Lack of proper opportunity identification and evaluation, idea development process and business planning are the </a:t>
            </a:r>
            <a:r>
              <a:rPr lang="en-US" sz="1800" dirty="0" smtClean="0">
                <a:solidFill>
                  <a:srgbClr val="FF0000"/>
                </a:solidFill>
                <a:latin typeface="Californian FB" pitchFamily="18" charset="0"/>
              </a:rPr>
              <a:t>most often cited reasons for business failure.</a:t>
            </a:r>
            <a:endParaRPr lang="en-US" sz="1800" dirty="0">
              <a:solidFill>
                <a:srgbClr val="FF0000"/>
              </a:solidFill>
              <a:latin typeface="Californian FB" pitchFamily="18" charset="0"/>
            </a:endParaRPr>
          </a:p>
          <a:p>
            <a:pPr algn="just">
              <a:lnSpc>
                <a:spcPct val="150000"/>
              </a:lnSpc>
              <a:buNone/>
            </a:pPr>
            <a:r>
              <a:rPr lang="en-US" sz="1800" dirty="0">
                <a:solidFill>
                  <a:srgbClr val="FF0000"/>
                </a:solidFill>
                <a:latin typeface="Californian FB" pitchFamily="18" charset="0"/>
              </a:rPr>
              <a:t>Group assignment </a:t>
            </a:r>
            <a:r>
              <a:rPr lang="en-US" sz="1800" dirty="0" smtClean="0">
                <a:solidFill>
                  <a:srgbClr val="FF0000"/>
                </a:solidFill>
                <a:latin typeface="Californian FB" pitchFamily="18" charset="0"/>
              </a:rPr>
              <a:t> out of (20%) document 10% presentation 10%</a:t>
            </a:r>
            <a:endParaRPr lang="en-US" sz="1800" dirty="0">
              <a:solidFill>
                <a:srgbClr val="FF0000"/>
              </a:solidFill>
              <a:latin typeface="Californian FB" pitchFamily="18" charset="0"/>
            </a:endParaRPr>
          </a:p>
          <a:p>
            <a:pPr algn="just">
              <a:lnSpc>
                <a:spcPct val="150000"/>
              </a:lnSpc>
              <a:buFont typeface="Wingdings" pitchFamily="2" charset="2"/>
              <a:buChar char="v"/>
            </a:pPr>
            <a:r>
              <a:rPr lang="en-US" sz="1800" dirty="0">
                <a:solidFill>
                  <a:srgbClr val="FF0000"/>
                </a:solidFill>
                <a:latin typeface="Californian FB" pitchFamily="18" charset="0"/>
              </a:rPr>
              <a:t>Prepare a business plan based on the business plan format on your </a:t>
            </a:r>
            <a:r>
              <a:rPr lang="en-US" sz="1800" dirty="0" smtClean="0">
                <a:solidFill>
                  <a:srgbClr val="FF0000"/>
                </a:solidFill>
                <a:latin typeface="Californian FB" pitchFamily="18" charset="0"/>
              </a:rPr>
              <a:t>module &amp; by referring different business plan format</a:t>
            </a:r>
            <a:endParaRPr lang="en-US" sz="1800" dirty="0">
              <a:solidFill>
                <a:srgbClr val="FF0000"/>
              </a:solidFill>
              <a:latin typeface="Californian FB" pitchFamily="18" charset="0"/>
            </a:endParaRPr>
          </a:p>
          <a:p>
            <a:pPr algn="just">
              <a:lnSpc>
                <a:spcPct val="150000"/>
              </a:lnSpc>
              <a:buNone/>
            </a:pPr>
            <a:endParaRPr lang="en-US" sz="1800" dirty="0"/>
          </a:p>
          <a:p>
            <a:pPr algn="just">
              <a:lnSpc>
                <a:spcPct val="150000"/>
              </a:lnSpc>
              <a:buNone/>
            </a:pPr>
            <a:r>
              <a:rPr lang="en-US" sz="1800" b="1" dirty="0"/>
              <a:t> </a:t>
            </a:r>
            <a:endParaRPr lang="en-US" sz="1800" dirty="0"/>
          </a:p>
        </p:txBody>
      </p:sp>
      <p:sp>
        <p:nvSpPr>
          <p:cNvPr id="1048682" name="Slide Number Placeholder 3"/>
          <p:cNvSpPr>
            <a:spLocks noGrp="1"/>
          </p:cNvSpPr>
          <p:nvPr>
            <p:ph type="sldNum" sz="quarter" idx="12"/>
          </p:nvPr>
        </p:nvSpPr>
        <p:spPr/>
        <p:txBody>
          <a:bodyPr/>
          <a:lstStyle/>
          <a:p>
            <a:fld id="{291E2FA6-9605-47D5-89F4-3EA67C449664}" type="slidenum">
              <a:rPr lang="en-US" smtClean="0"/>
              <a:pPr/>
              <a:t>35</a:t>
            </a:fld>
            <a:endParaRPr lang="en-US"/>
          </a:p>
        </p:txBody>
      </p:sp>
      <p:sp>
        <p:nvSpPr>
          <p:cNvPr id="1048680" name="Title 1"/>
          <p:cNvSpPr>
            <a:spLocks noGrp="1"/>
          </p:cNvSpPr>
          <p:nvPr>
            <p:ph type="title"/>
          </p:nvPr>
        </p:nvSpPr>
        <p:spPr>
          <a:xfrm>
            <a:off x="457200" y="274638"/>
            <a:ext cx="8229600" cy="944562"/>
          </a:xfrm>
          <a:solidFill>
            <a:srgbClr val="FFFF00"/>
          </a:solidFill>
        </p:spPr>
        <p:txBody>
          <a:bodyPr>
            <a:normAutofit/>
          </a:bodyPr>
          <a:lstStyle/>
          <a:p>
            <a:r>
              <a:rPr lang="en-US" sz="2800" b="1" dirty="0"/>
              <a:t>CHAPTER </a:t>
            </a:r>
            <a:r>
              <a:rPr lang="en-US" sz="2800" dirty="0" smtClean="0"/>
              <a:t>TWO</a:t>
            </a:r>
            <a:r>
              <a:rPr lang="en-US" sz="2800" b="1" dirty="0" smtClean="0"/>
              <a:t>: </a:t>
            </a:r>
            <a:r>
              <a:rPr lang="en-US" sz="2800" b="1" dirty="0"/>
              <a:t>BUSINESS PLANNING</a:t>
            </a:r>
            <a:endParaRPr lang="en-US"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extLst>
          </p:cNvPr>
          <p:cNvSpPr>
            <a:spLocks noGrp="1"/>
          </p:cNvSpPr>
          <p:nvPr>
            <p:ph type="title"/>
          </p:nvPr>
        </p:nvSpPr>
        <p:spPr>
          <a:xfrm>
            <a:off x="990600" y="0"/>
            <a:ext cx="8153400" cy="1417638"/>
          </a:xfrm>
          <a:solidFill>
            <a:schemeClr val="accent4">
              <a:lumMod val="50000"/>
            </a:schemeClr>
          </a:solidFill>
        </p:spPr>
        <p:txBody>
          <a:bodyPr rtlCol="0">
            <a:normAutofit fontScale="90000"/>
          </a:bodyPr>
          <a:lstStyle/>
          <a:p>
            <a:pPr eaLnBrk="1" fontAlgn="auto" hangingPunct="1">
              <a:spcAft>
                <a:spcPts val="0"/>
              </a:spcAft>
              <a:defRPr/>
            </a:pPr>
            <a:r>
              <a:rPr lang="en-US" sz="3600" b="1" dirty="0">
                <a:solidFill>
                  <a:srgbClr val="00B0F0"/>
                </a:solidFill>
              </a:rPr>
              <a:t/>
            </a:r>
            <a:br>
              <a:rPr lang="en-US" sz="3600" b="1" dirty="0">
                <a:solidFill>
                  <a:srgbClr val="00B0F0"/>
                </a:solidFill>
              </a:rPr>
            </a:br>
            <a:r>
              <a:rPr lang="en-US" sz="3600" b="1" dirty="0">
                <a:solidFill>
                  <a:srgbClr val="00B0F0"/>
                </a:solidFill>
              </a:rPr>
              <a:t>Why Write A Business Plan?</a:t>
            </a:r>
            <a:r>
              <a:rPr lang="en-US" dirty="0">
                <a:solidFill>
                  <a:srgbClr val="00B0F0"/>
                </a:solidFill>
              </a:rPr>
              <a:t/>
            </a:r>
            <a:br>
              <a:rPr lang="en-US" dirty="0">
                <a:solidFill>
                  <a:srgbClr val="00B0F0"/>
                </a:solidFill>
              </a:rPr>
            </a:br>
            <a:endParaRPr lang="en-US" dirty="0">
              <a:solidFill>
                <a:srgbClr val="00B0F0"/>
              </a:solidFill>
            </a:endParaRPr>
          </a:p>
        </p:txBody>
      </p:sp>
      <p:sp>
        <p:nvSpPr>
          <p:cNvPr id="97283" name="Content Placeholder 2">
            <a:extLst>
              <a:ext uri="{FF2B5EF4-FFF2-40B4-BE49-F238E27FC236}"/>
            </a:extLst>
          </p:cNvPr>
          <p:cNvSpPr>
            <a:spLocks noGrp="1"/>
          </p:cNvSpPr>
          <p:nvPr>
            <p:ph idx="1"/>
          </p:nvPr>
        </p:nvSpPr>
        <p:spPr>
          <a:xfrm>
            <a:off x="990600" y="1447800"/>
            <a:ext cx="8077200" cy="5410200"/>
          </a:xfrm>
        </p:spPr>
        <p:txBody>
          <a:bodyPr rtlCol="0">
            <a:normAutofit/>
          </a:bodyPr>
          <a:lstStyle/>
          <a:p>
            <a:pPr algn="just" eaLnBrk="1" fontAlgn="auto" hangingPunct="1">
              <a:spcAft>
                <a:spcPts val="0"/>
              </a:spcAft>
              <a:buFont typeface="Wingdings" panose="05000000000000000000" pitchFamily="2" charset="2"/>
              <a:buChar char="Ø"/>
              <a:defRPr/>
            </a:pPr>
            <a:r>
              <a:rPr lang="en-US" dirty="0"/>
              <a:t>to help you determine the feasibility of your business idea, </a:t>
            </a:r>
          </a:p>
          <a:p>
            <a:pPr algn="just" eaLnBrk="1" fontAlgn="auto" hangingPunct="1">
              <a:spcAft>
                <a:spcPts val="0"/>
              </a:spcAft>
              <a:buFont typeface="Wingdings" panose="05000000000000000000" pitchFamily="2" charset="2"/>
              <a:buChar char="Ø"/>
              <a:defRPr/>
            </a:pPr>
            <a:r>
              <a:rPr lang="en-US" dirty="0"/>
              <a:t>to attract capital for starting up the business, (</a:t>
            </a:r>
            <a:r>
              <a:rPr lang="en-US" altLang="en-US" dirty="0">
                <a:solidFill>
                  <a:srgbClr val="C00000"/>
                </a:solidFill>
              </a:rPr>
              <a:t>Seeking Investment Funds)</a:t>
            </a:r>
            <a:endParaRPr lang="en-US" dirty="0"/>
          </a:p>
          <a:p>
            <a:pPr algn="just" eaLnBrk="1" fontAlgn="auto" hangingPunct="1">
              <a:spcAft>
                <a:spcPts val="0"/>
              </a:spcAft>
              <a:buFont typeface="Wingdings" panose="05000000000000000000" pitchFamily="2" charset="2"/>
              <a:buChar char="Ø"/>
              <a:defRPr/>
            </a:pPr>
            <a:r>
              <a:rPr lang="en-US" altLang="en-US" dirty="0">
                <a:solidFill>
                  <a:srgbClr val="C00000"/>
                </a:solidFill>
              </a:rPr>
              <a:t>Obtaining Bank Financing</a:t>
            </a:r>
            <a:endParaRPr lang="en-US" dirty="0"/>
          </a:p>
          <a:p>
            <a:pPr algn="just" eaLnBrk="1" fontAlgn="auto" hangingPunct="1">
              <a:spcAft>
                <a:spcPts val="0"/>
              </a:spcAft>
              <a:buFont typeface="Wingdings" panose="05000000000000000000" pitchFamily="2" charset="2"/>
              <a:buChar char="Ø"/>
              <a:defRPr/>
            </a:pPr>
            <a:r>
              <a:rPr lang="en-US" dirty="0"/>
              <a:t>to provide direction for your business after it is in operation.</a:t>
            </a:r>
          </a:p>
          <a:p>
            <a:pPr algn="just" eaLnBrk="1" fontAlgn="auto" hangingPunct="1">
              <a:spcAft>
                <a:spcPts val="0"/>
              </a:spcAft>
              <a:buFont typeface="Wingdings" panose="05000000000000000000" pitchFamily="2" charset="2"/>
              <a:buChar char="Ø"/>
              <a:defRPr/>
            </a:pPr>
            <a:r>
              <a:rPr lang="en-US" altLang="en-US" dirty="0"/>
              <a:t>It provides guidance to the entrepreneur in organizing his or her planning activities </a:t>
            </a:r>
          </a:p>
          <a:p>
            <a:pPr marL="82550" indent="0" eaLnBrk="1" fontAlgn="auto" hangingPunct="1">
              <a:spcAft>
                <a:spcPts val="0"/>
              </a:spcAft>
              <a:buFont typeface="Wingdings 2" pitchFamily="18" charset="2"/>
              <a:buNone/>
              <a:defRPr/>
            </a:pPr>
            <a:endParaRPr lang="en-US" alt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extLst>
          </p:cNvPr>
          <p:cNvSpPr>
            <a:spLocks noGrp="1"/>
          </p:cNvSpPr>
          <p:nvPr>
            <p:ph type="title"/>
          </p:nvPr>
        </p:nvSpPr>
        <p:spPr>
          <a:xfrm>
            <a:off x="1066800" y="0"/>
            <a:ext cx="8077200" cy="1417638"/>
          </a:xfrm>
          <a:solidFill>
            <a:schemeClr val="accent4">
              <a:lumMod val="50000"/>
            </a:schemeClr>
          </a:solidFill>
        </p:spPr>
        <p:txBody>
          <a:bodyPr rtlCol="0">
            <a:normAutofit fontScale="90000"/>
          </a:bodyPr>
          <a:lstStyle/>
          <a:p>
            <a:pPr eaLnBrk="1" fontAlgn="auto" hangingPunct="1">
              <a:spcAft>
                <a:spcPts val="0"/>
              </a:spcAft>
              <a:defRPr/>
            </a:pPr>
            <a:r>
              <a:rPr lang="en-US" sz="4000" b="1" dirty="0">
                <a:solidFill>
                  <a:srgbClr val="00B0F0"/>
                </a:solidFill>
              </a:rPr>
              <a:t>When to prepare a business plan</a:t>
            </a:r>
            <a:r>
              <a:rPr lang="en-US" sz="4000" dirty="0">
                <a:solidFill>
                  <a:srgbClr val="FF0000"/>
                </a:solidFill>
              </a:rPr>
              <a:t/>
            </a:r>
            <a:br>
              <a:rPr lang="en-US" sz="4000" dirty="0">
                <a:solidFill>
                  <a:srgbClr val="FF0000"/>
                </a:solidFill>
              </a:rPr>
            </a:br>
            <a:endParaRPr lang="en-US" dirty="0">
              <a:solidFill>
                <a:srgbClr val="FF0000"/>
              </a:solidFill>
            </a:endParaRPr>
          </a:p>
        </p:txBody>
      </p:sp>
      <p:sp>
        <p:nvSpPr>
          <p:cNvPr id="76803" name="Content Placeholder 2"/>
          <p:cNvSpPr>
            <a:spLocks noGrp="1"/>
          </p:cNvSpPr>
          <p:nvPr>
            <p:ph idx="1"/>
          </p:nvPr>
        </p:nvSpPr>
        <p:spPr>
          <a:xfrm>
            <a:off x="1066800" y="1447800"/>
            <a:ext cx="7867650" cy="5410200"/>
          </a:xfrm>
        </p:spPr>
        <p:txBody>
          <a:bodyPr>
            <a:normAutofit/>
          </a:bodyPr>
          <a:lstStyle/>
          <a:p>
            <a:pPr eaLnBrk="1" hangingPunct="1">
              <a:buFont typeface="Wingdings" pitchFamily="2" charset="2"/>
              <a:buChar char="ü"/>
            </a:pPr>
            <a:r>
              <a:rPr lang="en-US" altLang="en-US" b="1" dirty="0" smtClean="0">
                <a:latin typeface="Times New Roman" pitchFamily="18" charset="0"/>
                <a:cs typeface="Times New Roman" pitchFamily="18" charset="0"/>
              </a:rPr>
              <a:t>Ongoing </a:t>
            </a:r>
            <a:endParaRPr lang="en-US" altLang="en-US" dirty="0" smtClean="0">
              <a:latin typeface="Times New Roman" pitchFamily="18" charset="0"/>
              <a:cs typeface="Times New Roman" pitchFamily="18" charset="0"/>
            </a:endParaRPr>
          </a:p>
          <a:p>
            <a:pPr eaLnBrk="1" hangingPunct="1">
              <a:buFont typeface="Wingdings" pitchFamily="2" charset="2"/>
              <a:buChar char="ü"/>
            </a:pPr>
            <a:r>
              <a:rPr lang="en-US" altLang="en-US" b="1" dirty="0" smtClean="0">
                <a:latin typeface="Times New Roman" pitchFamily="18" charset="0"/>
                <a:cs typeface="Times New Roman" pitchFamily="18" charset="0"/>
              </a:rPr>
              <a:t>At the start up of a new business</a:t>
            </a:r>
            <a:endParaRPr lang="en-US" altLang="en-US" dirty="0" smtClean="0">
              <a:latin typeface="Times New Roman" pitchFamily="18" charset="0"/>
              <a:cs typeface="Times New Roman" pitchFamily="18" charset="0"/>
            </a:endParaRPr>
          </a:p>
          <a:p>
            <a:pPr eaLnBrk="1" hangingPunct="1">
              <a:buFont typeface="Wingdings" pitchFamily="2" charset="2"/>
              <a:buChar char="ü"/>
            </a:pPr>
            <a:r>
              <a:rPr lang="en-US" altLang="en-US" b="1" dirty="0" smtClean="0">
                <a:latin typeface="Times New Roman" pitchFamily="18" charset="0"/>
                <a:cs typeface="Times New Roman" pitchFamily="18" charset="0"/>
              </a:rPr>
              <a:t>Major decision</a:t>
            </a:r>
            <a:endParaRPr lang="en-US" altLang="en-US" dirty="0" smtClean="0">
              <a:latin typeface="Times New Roman" pitchFamily="18" charset="0"/>
              <a:cs typeface="Times New Roman" pitchFamily="18" charset="0"/>
            </a:endParaRPr>
          </a:p>
          <a:p>
            <a:pPr eaLnBrk="1" hangingPunct="1">
              <a:buFont typeface="Wingdings" pitchFamily="2" charset="2"/>
              <a:buChar char="ü"/>
            </a:pPr>
            <a:r>
              <a:rPr lang="en-US" altLang="en-US" b="1" dirty="0" smtClean="0">
                <a:latin typeface="Times New Roman" pitchFamily="18" charset="0"/>
                <a:cs typeface="Times New Roman" pitchFamily="18" charset="0"/>
              </a:rPr>
              <a:t>Business purchase</a:t>
            </a:r>
          </a:p>
          <a:p>
            <a:pPr>
              <a:buNone/>
            </a:pPr>
            <a:r>
              <a:rPr lang="en-US" sz="2800" b="1" dirty="0" smtClean="0">
                <a:solidFill>
                  <a:srgbClr val="00B0F0"/>
                </a:solidFill>
              </a:rPr>
              <a:t>Who are interested in your business plan? </a:t>
            </a:r>
            <a:br>
              <a:rPr lang="en-US" sz="2800" b="1" dirty="0" smtClean="0">
                <a:solidFill>
                  <a:srgbClr val="00B0F0"/>
                </a:solidFill>
              </a:rPr>
            </a:br>
            <a:r>
              <a:rPr lang="en-US" sz="2800" b="1" dirty="0" smtClean="0">
                <a:solidFill>
                  <a:srgbClr val="00B0F0"/>
                </a:solidFill>
              </a:rPr>
              <a:t>(Users of the business plan)</a:t>
            </a:r>
          </a:p>
          <a:p>
            <a:pPr>
              <a:buFont typeface="Wingdings" pitchFamily="2" charset="2"/>
              <a:buChar char="Ø"/>
            </a:pPr>
            <a:r>
              <a:rPr lang="en-US" altLang="en-US" b="1" dirty="0" smtClean="0"/>
              <a:t>Managers</a:t>
            </a:r>
          </a:p>
          <a:p>
            <a:pPr>
              <a:buFont typeface="Wingdings" pitchFamily="2" charset="2"/>
              <a:buChar char="Ø"/>
            </a:pPr>
            <a:r>
              <a:rPr lang="en-US" altLang="en-US" b="1" dirty="0" smtClean="0"/>
              <a:t>Owners</a:t>
            </a:r>
          </a:p>
          <a:p>
            <a:pPr>
              <a:buFont typeface="Wingdings" pitchFamily="2" charset="2"/>
              <a:buChar char="Ø"/>
            </a:pPr>
            <a:r>
              <a:rPr lang="en-US" altLang="en-US" b="1" dirty="0" smtClean="0"/>
              <a:t>Lenders</a:t>
            </a:r>
          </a:p>
          <a:p>
            <a:pPr>
              <a:buFont typeface="Wingdings" pitchFamily="2" charset="2"/>
              <a:buChar char="Ø"/>
            </a:pPr>
            <a:r>
              <a:rPr lang="en-US" altLang="en-US" b="1" dirty="0" smtClean="0"/>
              <a:t>Investors</a:t>
            </a:r>
            <a:endParaRPr lang="en-US" altLang="en-US" dirty="0" smtClean="0"/>
          </a:p>
          <a:p>
            <a:pPr>
              <a:buFont typeface="Wingdings" pitchFamily="2" charset="2"/>
              <a:buChar char="Ø"/>
            </a:pPr>
            <a:endParaRPr lang="en-US" altLang="en-US" dirty="0" smtClean="0"/>
          </a:p>
          <a:p>
            <a:pPr>
              <a:buNone/>
            </a:pPr>
            <a:endParaRPr lang="en-US" altLang="en-US" dirty="0" smtClean="0"/>
          </a:p>
          <a:p>
            <a:pPr>
              <a:buNone/>
            </a:pPr>
            <a:endParaRPr lang="en-US" altLang="en-US" dirty="0" smtClean="0">
              <a:latin typeface="Times New Roman" pitchFamily="18" charset="0"/>
              <a:cs typeface="Times New Roman" pitchFamily="18" charset="0"/>
            </a:endParaRPr>
          </a:p>
          <a:p>
            <a:pPr eaLnBrk="1" hangingPunct="1">
              <a:buFont typeface="Wingdings" pitchFamily="2" charset="2"/>
              <a:buChar char="Ø"/>
            </a:pPr>
            <a:endParaRPr lang="en-US" altLang="en-US" dirty="0" smtClean="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extLst>
          </p:cNvPr>
          <p:cNvSpPr>
            <a:spLocks noGrp="1"/>
          </p:cNvSpPr>
          <p:nvPr>
            <p:ph type="title"/>
          </p:nvPr>
        </p:nvSpPr>
        <p:spPr>
          <a:xfrm>
            <a:off x="1066800" y="274638"/>
            <a:ext cx="7867650" cy="1143000"/>
          </a:xfrm>
          <a:solidFill>
            <a:schemeClr val="accent4">
              <a:lumMod val="50000"/>
            </a:schemeClr>
          </a:solidFill>
        </p:spPr>
        <p:txBody>
          <a:bodyPr rtlCol="0">
            <a:normAutofit/>
          </a:bodyPr>
          <a:lstStyle/>
          <a:p>
            <a:pPr eaLnBrk="1" fontAlgn="auto" hangingPunct="1">
              <a:spcAft>
                <a:spcPts val="0"/>
              </a:spcAft>
              <a:defRPr/>
            </a:pPr>
            <a:r>
              <a:rPr lang="en-US" b="1" dirty="0">
                <a:solidFill>
                  <a:srgbClr val="00B0F0"/>
                </a:solidFill>
              </a:rPr>
              <a:t>The  three basic questions</a:t>
            </a:r>
            <a:r>
              <a:rPr lang="en-US" dirty="0"/>
              <a:t>	</a:t>
            </a:r>
          </a:p>
        </p:txBody>
      </p:sp>
      <p:sp>
        <p:nvSpPr>
          <p:cNvPr id="78851" name="Content Placeholder 2"/>
          <p:cNvSpPr>
            <a:spLocks noGrp="1"/>
          </p:cNvSpPr>
          <p:nvPr>
            <p:ph idx="1"/>
          </p:nvPr>
        </p:nvSpPr>
        <p:spPr>
          <a:xfrm>
            <a:off x="1066800" y="1447800"/>
            <a:ext cx="7867650" cy="5410200"/>
          </a:xfrm>
        </p:spPr>
        <p:txBody>
          <a:bodyPr/>
          <a:lstStyle/>
          <a:p>
            <a:pPr eaLnBrk="1" hangingPunct="1">
              <a:buFont typeface="Wingdings" pitchFamily="2" charset="2"/>
              <a:buChar char="Ø"/>
            </a:pPr>
            <a:endParaRPr lang="en-US" altLang="en-US" smtClean="0">
              <a:solidFill>
                <a:srgbClr val="7030A0"/>
              </a:solidFill>
              <a:latin typeface="Times New Roman" pitchFamily="18" charset="0"/>
              <a:cs typeface="Times New Roman" pitchFamily="18" charset="0"/>
            </a:endParaRPr>
          </a:p>
          <a:p>
            <a:pPr eaLnBrk="1" hangingPunct="1">
              <a:buFont typeface="Wingdings" pitchFamily="2" charset="2"/>
              <a:buChar char="Ø"/>
            </a:pPr>
            <a:r>
              <a:rPr lang="en-US" altLang="en-US" smtClean="0">
                <a:solidFill>
                  <a:srgbClr val="7030A0"/>
                </a:solidFill>
                <a:latin typeface="Times New Roman" pitchFamily="18" charset="0"/>
                <a:cs typeface="Times New Roman" pitchFamily="18" charset="0"/>
              </a:rPr>
              <a:t>Where are we now?</a:t>
            </a:r>
          </a:p>
          <a:p>
            <a:pPr lvl="1" eaLnBrk="1" hangingPunct="1">
              <a:buFont typeface="Courier New" pitchFamily="49" charset="0"/>
              <a:buChar char="o"/>
            </a:pPr>
            <a:r>
              <a:rPr lang="en-US" altLang="en-US" smtClean="0">
                <a:latin typeface="Times New Roman" pitchFamily="18" charset="0"/>
                <a:cs typeface="Times New Roman" pitchFamily="18" charset="0"/>
              </a:rPr>
              <a:t>The current situational analysis</a:t>
            </a:r>
          </a:p>
          <a:p>
            <a:pPr eaLnBrk="1" hangingPunct="1">
              <a:buFont typeface="Wingdings" pitchFamily="2" charset="2"/>
              <a:buChar char="Ø"/>
            </a:pPr>
            <a:r>
              <a:rPr lang="en-US" altLang="en-US" smtClean="0">
                <a:solidFill>
                  <a:srgbClr val="7030A0"/>
                </a:solidFill>
                <a:latin typeface="Times New Roman" pitchFamily="18" charset="0"/>
                <a:cs typeface="Times New Roman" pitchFamily="18" charset="0"/>
              </a:rPr>
              <a:t>Where we intend going?</a:t>
            </a:r>
          </a:p>
          <a:p>
            <a:pPr lvl="1" eaLnBrk="1" hangingPunct="1">
              <a:buFont typeface="Courier New" pitchFamily="49" charset="0"/>
              <a:buChar char="o"/>
            </a:pPr>
            <a:r>
              <a:rPr lang="en-US" altLang="en-US" smtClean="0">
                <a:latin typeface="Times New Roman" pitchFamily="18" charset="0"/>
                <a:cs typeface="Times New Roman" pitchFamily="18" charset="0"/>
              </a:rPr>
              <a:t>The vision, the goals/objectives or the destination of our business</a:t>
            </a:r>
          </a:p>
          <a:p>
            <a:pPr eaLnBrk="1" hangingPunct="1">
              <a:buFont typeface="Wingdings" pitchFamily="2" charset="2"/>
              <a:buChar char="Ø"/>
            </a:pPr>
            <a:r>
              <a:rPr lang="en-US" altLang="en-US" smtClean="0">
                <a:solidFill>
                  <a:srgbClr val="7030A0"/>
                </a:solidFill>
                <a:latin typeface="Times New Roman" pitchFamily="18" charset="0"/>
                <a:cs typeface="Times New Roman" pitchFamily="18" charset="0"/>
              </a:rPr>
              <a:t>How do we get there?</a:t>
            </a:r>
          </a:p>
          <a:p>
            <a:pPr lvl="1" eaLnBrk="1" hangingPunct="1">
              <a:buFont typeface="Courier New" pitchFamily="49" charset="0"/>
              <a:buChar char="o"/>
            </a:pPr>
            <a:r>
              <a:rPr lang="en-US" altLang="en-US" smtClean="0">
                <a:latin typeface="Times New Roman" pitchFamily="18" charset="0"/>
                <a:cs typeface="Times New Roman" pitchFamily="18" charset="0"/>
              </a:rPr>
              <a:t>The strategy, methods, and systems</a:t>
            </a:r>
          </a:p>
          <a:p>
            <a:pPr lvl="1" eaLnBrk="1" hangingPunct="1"/>
            <a:endParaRPr lang="en-US" altLang="en-US"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extLst>
          </p:cNvPr>
          <p:cNvSpPr>
            <a:spLocks noGrp="1"/>
          </p:cNvSpPr>
          <p:nvPr>
            <p:ph type="title"/>
          </p:nvPr>
        </p:nvSpPr>
        <p:spPr>
          <a:xfrm>
            <a:off x="990600" y="0"/>
            <a:ext cx="8153400" cy="1417638"/>
          </a:xfrm>
          <a:solidFill>
            <a:srgbClr val="7030A0"/>
          </a:solidFill>
        </p:spPr>
        <p:txBody>
          <a:bodyPr rtlCol="0">
            <a:normAutofit fontScale="90000"/>
          </a:bodyPr>
          <a:lstStyle/>
          <a:p>
            <a:pPr eaLnBrk="1" fontAlgn="auto" hangingPunct="1">
              <a:spcAft>
                <a:spcPts val="0"/>
              </a:spcAft>
              <a:defRPr/>
            </a:pPr>
            <a:r>
              <a:rPr lang="en-US" b="1" dirty="0">
                <a:solidFill>
                  <a:srgbClr val="FFFF00"/>
                </a:solidFill>
                <a:latin typeface="Times New Roman" panose="02020603050405020304" pitchFamily="18" charset="0"/>
                <a:cs typeface="Times New Roman" panose="02020603050405020304" pitchFamily="18" charset="0"/>
              </a:rPr>
              <a:t/>
            </a:r>
            <a:br>
              <a:rPr lang="en-US" b="1" dirty="0">
                <a:solidFill>
                  <a:srgbClr val="FFFF00"/>
                </a:solidFill>
                <a:latin typeface="Times New Roman" panose="02020603050405020304" pitchFamily="18" charset="0"/>
                <a:cs typeface="Times New Roman" panose="02020603050405020304" pitchFamily="18" charset="0"/>
              </a:rPr>
            </a:br>
            <a:r>
              <a:rPr lang="en-US" b="1" dirty="0">
                <a:solidFill>
                  <a:srgbClr val="FFFF00"/>
                </a:solidFill>
                <a:latin typeface="Times New Roman" panose="02020603050405020304" pitchFamily="18" charset="0"/>
                <a:cs typeface="Times New Roman" panose="02020603050405020304" pitchFamily="18" charset="0"/>
              </a:rPr>
              <a:t>Basic Information needs</a:t>
            </a:r>
            <a:r>
              <a:rPr lang="en-US" dirty="0">
                <a:solidFill>
                  <a:srgbClr val="FFFF00"/>
                </a:solidFill>
                <a:latin typeface="Times New Roman" panose="02020603050405020304" pitchFamily="18" charset="0"/>
                <a:cs typeface="Times New Roman" panose="02020603050405020304" pitchFamily="18" charset="0"/>
              </a:rPr>
              <a:t> </a:t>
            </a:r>
            <a:r>
              <a:rPr lang="en-US" dirty="0">
                <a:solidFill>
                  <a:srgbClr val="FFFF00"/>
                </a:solidFill>
              </a:rPr>
              <a:t/>
            </a:r>
            <a:br>
              <a:rPr lang="en-US" dirty="0">
                <a:solidFill>
                  <a:srgbClr val="FFFF00"/>
                </a:solidFill>
              </a:rPr>
            </a:br>
            <a:endParaRPr lang="en-US" dirty="0">
              <a:solidFill>
                <a:srgbClr val="FFFF00"/>
              </a:solidFill>
            </a:endParaRPr>
          </a:p>
        </p:txBody>
      </p:sp>
      <p:sp>
        <p:nvSpPr>
          <p:cNvPr id="79875" name="Content Placeholder 2"/>
          <p:cNvSpPr>
            <a:spLocks noGrp="1"/>
          </p:cNvSpPr>
          <p:nvPr>
            <p:ph idx="1"/>
          </p:nvPr>
        </p:nvSpPr>
        <p:spPr>
          <a:xfrm>
            <a:off x="990600" y="1417638"/>
            <a:ext cx="8153400" cy="5440362"/>
          </a:xfrm>
        </p:spPr>
        <p:txBody>
          <a:bodyPr/>
          <a:lstStyle/>
          <a:p>
            <a:pPr eaLnBrk="1" hangingPunct="1">
              <a:buFont typeface="Wingdings 2" pitchFamily="18" charset="2"/>
              <a:buNone/>
            </a:pPr>
            <a:endParaRPr lang="en-US" altLang="en-US" b="1" dirty="0" smtClean="0">
              <a:solidFill>
                <a:srgbClr val="FF0000"/>
              </a:solidFill>
            </a:endParaRPr>
          </a:p>
          <a:p>
            <a:pPr eaLnBrk="1" hangingPunct="1">
              <a:buFont typeface="Wingdings 2" pitchFamily="18" charset="2"/>
              <a:buNone/>
            </a:pPr>
            <a:r>
              <a:rPr lang="en-US" altLang="en-US" b="1" dirty="0" smtClean="0">
                <a:solidFill>
                  <a:srgbClr val="FF0000"/>
                </a:solidFill>
              </a:rPr>
              <a:t>1. Market Information </a:t>
            </a:r>
          </a:p>
          <a:p>
            <a:pPr lvl="1" eaLnBrk="1" hangingPunct="1">
              <a:buFont typeface="Wingdings" pitchFamily="2" charset="2"/>
              <a:buChar char="Ø"/>
            </a:pPr>
            <a:r>
              <a:rPr lang="en-US" altLang="en-US" sz="2400" b="1" dirty="0" smtClean="0">
                <a:latin typeface="Times New Roman" pitchFamily="18" charset="0"/>
                <a:cs typeface="Times New Roman" pitchFamily="18" charset="0"/>
              </a:rPr>
              <a:t>Size of the market</a:t>
            </a:r>
          </a:p>
          <a:p>
            <a:pPr lvl="1" eaLnBrk="1" hangingPunct="1">
              <a:buFont typeface="Wingdings" pitchFamily="2" charset="2"/>
              <a:buChar char="Ø"/>
            </a:pPr>
            <a:r>
              <a:rPr lang="en-US" altLang="en-US" sz="2400" b="1" dirty="0" smtClean="0">
                <a:latin typeface="Times New Roman" pitchFamily="18" charset="0"/>
                <a:cs typeface="Times New Roman" pitchFamily="18" charset="0"/>
              </a:rPr>
              <a:t>Level of price sensitivity of the customers</a:t>
            </a:r>
          </a:p>
          <a:p>
            <a:pPr lvl="1" eaLnBrk="1" hangingPunct="1">
              <a:buFont typeface="Wingdings" pitchFamily="2" charset="2"/>
              <a:buChar char="Ø"/>
            </a:pPr>
            <a:r>
              <a:rPr lang="en-US" altLang="en-US" sz="2400" b="1" dirty="0" smtClean="0">
                <a:latin typeface="Times New Roman" pitchFamily="18" charset="0"/>
                <a:cs typeface="Times New Roman" pitchFamily="18" charset="0"/>
              </a:rPr>
              <a:t>Distribution preference of the potential customers</a:t>
            </a:r>
          </a:p>
          <a:p>
            <a:pPr lvl="1" eaLnBrk="1" hangingPunct="1">
              <a:buFont typeface="Wingdings" pitchFamily="2" charset="2"/>
              <a:buChar char="Ø"/>
            </a:pPr>
            <a:r>
              <a:rPr lang="en-US" altLang="en-US" sz="2400" b="1" dirty="0" smtClean="0">
                <a:latin typeface="Times New Roman" pitchFamily="18" charset="0"/>
                <a:cs typeface="Times New Roman" pitchFamily="18" charset="0"/>
              </a:rPr>
              <a:t>Trends in demand, i.e. increasing, decreasing, or constant</a:t>
            </a:r>
          </a:p>
          <a:p>
            <a:pPr lvl="1" eaLnBrk="1" hangingPunct="1">
              <a:buFont typeface="Wingdings" pitchFamily="2" charset="2"/>
              <a:buChar char="Ø"/>
            </a:pPr>
            <a:r>
              <a:rPr lang="en-US" altLang="en-US" sz="2400" b="1" dirty="0" smtClean="0">
                <a:latin typeface="Times New Roman" pitchFamily="18" charset="0"/>
                <a:cs typeface="Times New Roman" pitchFamily="18" charset="0"/>
              </a:rPr>
              <a:t>competition, margins for distribution, market trends, and growth potential.</a:t>
            </a:r>
          </a:p>
          <a:p>
            <a:pPr lvl="1" eaLnBrk="1" hangingPunct="1"/>
            <a:endParaRPr lang="en-US" altLang="en-US" sz="2400" b="1" dirty="0" smtClean="0">
              <a:solidFill>
                <a:srgbClr val="0070C0"/>
              </a:solidFill>
            </a:endParaRPr>
          </a:p>
          <a:p>
            <a:pPr lvl="1" eaLnBrk="1" hangingPunct="1"/>
            <a:endParaRPr lang="en-US" altLang="en-US" sz="2000" dirty="0" smtClean="0"/>
          </a:p>
          <a:p>
            <a:pPr eaLnBrk="1" hangingPunct="1"/>
            <a:endParaRPr lang="en-US" altLang="en-US" dirty="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a:xfrm>
            <a:off x="1066800" y="0"/>
            <a:ext cx="8077200" cy="1417638"/>
          </a:xfrm>
          <a:solidFill>
            <a:srgbClr val="7030A0"/>
          </a:solidFill>
        </p:spPr>
        <p:txBody>
          <a:bodyPr/>
          <a:lstStyle/>
          <a:p>
            <a:pPr eaLnBrk="1" hangingPunct="1"/>
            <a:r>
              <a:rPr lang="en-US" b="1" smtClean="0">
                <a:solidFill>
                  <a:srgbClr val="FFFF00"/>
                </a:solidFill>
                <a:latin typeface="Times New Roman" pitchFamily="18" charset="0"/>
                <a:cs typeface="Times New Roman" pitchFamily="18" charset="0"/>
              </a:rPr>
              <a:t>Operation Information Needs </a:t>
            </a:r>
            <a:br>
              <a:rPr lang="en-US" b="1" smtClean="0">
                <a:solidFill>
                  <a:srgbClr val="FFFF00"/>
                </a:solidFill>
                <a:latin typeface="Times New Roman" pitchFamily="18" charset="0"/>
                <a:cs typeface="Times New Roman" pitchFamily="18" charset="0"/>
              </a:rPr>
            </a:br>
            <a:endParaRPr lang="en-US" smtClean="0">
              <a:solidFill>
                <a:srgbClr val="FFFF00"/>
              </a:solidFill>
              <a:latin typeface="Times New Roman" pitchFamily="18" charset="0"/>
              <a:cs typeface="Times New Roman" pitchFamily="18" charset="0"/>
            </a:endParaRPr>
          </a:p>
        </p:txBody>
      </p:sp>
      <p:sp>
        <p:nvSpPr>
          <p:cNvPr id="102403" name="Content Placeholder 2">
            <a:extLst>
              <a:ext uri="{FF2B5EF4-FFF2-40B4-BE49-F238E27FC236}"/>
            </a:extLst>
          </p:cNvPr>
          <p:cNvSpPr>
            <a:spLocks noGrp="1"/>
          </p:cNvSpPr>
          <p:nvPr>
            <p:ph idx="1"/>
          </p:nvPr>
        </p:nvSpPr>
        <p:spPr>
          <a:xfrm>
            <a:off x="1066800" y="1447800"/>
            <a:ext cx="8001000" cy="4800600"/>
          </a:xfrm>
        </p:spPr>
        <p:txBody>
          <a:bodyPr rtlCol="0">
            <a:normAutofit/>
          </a:bodyPr>
          <a:lstStyle/>
          <a:p>
            <a:pPr algn="just" eaLnBrk="1" fontAlgn="auto" hangingPunct="1">
              <a:spcAft>
                <a:spcPts val="0"/>
              </a:spcAft>
              <a:buFont typeface="Wingdings" panose="05000000000000000000" pitchFamily="2" charset="2"/>
              <a:buChar char="Ø"/>
              <a:defRPr/>
            </a:pPr>
            <a:endParaRPr lang="en-US" altLang="en-US" sz="2400" dirty="0">
              <a:solidFill>
                <a:srgbClr val="0070C0"/>
              </a:solidFill>
              <a:latin typeface="Times New Roman" panose="02020603050405020304" pitchFamily="18" charset="0"/>
              <a:cs typeface="Times New Roman" panose="02020603050405020304" pitchFamily="18" charset="0"/>
            </a:endParaRPr>
          </a:p>
          <a:p>
            <a:pPr algn="just" eaLnBrk="1" fontAlgn="auto" hangingPunct="1">
              <a:spcAft>
                <a:spcPts val="0"/>
              </a:spcAft>
              <a:buFont typeface="Wingdings" panose="05000000000000000000" pitchFamily="2" charset="2"/>
              <a:buChar char="Ø"/>
              <a:defRPr/>
            </a:pPr>
            <a:r>
              <a:rPr lang="en-US" altLang="en-US" sz="2400" dirty="0">
                <a:solidFill>
                  <a:srgbClr val="0070C0"/>
                </a:solidFill>
                <a:latin typeface="Times New Roman" panose="02020603050405020304" pitchFamily="18" charset="0"/>
                <a:cs typeface="Times New Roman" panose="02020603050405020304" pitchFamily="18" charset="0"/>
              </a:rPr>
              <a:t>Manufacturing operations</a:t>
            </a:r>
            <a:r>
              <a:rPr lang="en-US" altLang="en-US" sz="2400" dirty="0">
                <a:latin typeface="Times New Roman" panose="02020603050405020304" pitchFamily="18" charset="0"/>
                <a:cs typeface="Times New Roman" panose="02020603050405020304" pitchFamily="18" charset="0"/>
              </a:rPr>
              <a:t>: Basic machine and assembly operations need to be identified, as well as whether any of these operations would be subcontracted and by whom.</a:t>
            </a:r>
          </a:p>
          <a:p>
            <a:pPr algn="just" eaLnBrk="1" fontAlgn="auto" hangingPunct="1">
              <a:spcAft>
                <a:spcPts val="0"/>
              </a:spcAft>
              <a:buFont typeface="Wingdings" panose="05000000000000000000" pitchFamily="2" charset="2"/>
              <a:buChar char="Ø"/>
              <a:defRPr/>
            </a:pPr>
            <a:endParaRPr lang="en-US" altLang="en-US" sz="2400" dirty="0">
              <a:solidFill>
                <a:srgbClr val="0070C0"/>
              </a:solidFill>
              <a:latin typeface="Times New Roman" panose="02020603050405020304" pitchFamily="18" charset="0"/>
              <a:cs typeface="Times New Roman" panose="02020603050405020304" pitchFamily="18" charset="0"/>
            </a:endParaRPr>
          </a:p>
          <a:p>
            <a:pPr algn="just" eaLnBrk="1" fontAlgn="auto" hangingPunct="1">
              <a:spcAft>
                <a:spcPts val="0"/>
              </a:spcAft>
              <a:buFont typeface="Wingdings" panose="05000000000000000000" pitchFamily="2" charset="2"/>
              <a:buChar char="Ø"/>
              <a:defRPr/>
            </a:pPr>
            <a:r>
              <a:rPr lang="en-US" altLang="en-US" sz="2400" dirty="0">
                <a:solidFill>
                  <a:srgbClr val="0070C0"/>
                </a:solidFill>
                <a:latin typeface="Times New Roman" panose="02020603050405020304" pitchFamily="18" charset="0"/>
                <a:cs typeface="Times New Roman" panose="02020603050405020304" pitchFamily="18" charset="0"/>
              </a:rPr>
              <a:t>Raw materials</a:t>
            </a:r>
            <a:r>
              <a:rPr lang="en-US" altLang="en-US" sz="2400" dirty="0">
                <a:latin typeface="Times New Roman" panose="02020603050405020304" pitchFamily="18" charset="0"/>
                <a:cs typeface="Times New Roman" panose="02020603050405020304" pitchFamily="18" charset="0"/>
              </a:rPr>
              <a:t>:  the raw materials needed and the suppliers’ names, addresses, and costs should be determined. </a:t>
            </a:r>
          </a:p>
          <a:p>
            <a:pPr algn="just" eaLnBrk="1" fontAlgn="auto" hangingPunct="1">
              <a:spcAft>
                <a:spcPts val="0"/>
              </a:spcAft>
              <a:buFont typeface="Wingdings" panose="05000000000000000000" pitchFamily="2" charset="2"/>
              <a:buChar char="Ø"/>
              <a:defRPr/>
            </a:pPr>
            <a:endParaRPr lang="en-US" altLang="en-US" sz="2400" dirty="0">
              <a:solidFill>
                <a:srgbClr val="0070C0"/>
              </a:solidFill>
              <a:latin typeface="Times New Roman" panose="02020603050405020304" pitchFamily="18" charset="0"/>
              <a:cs typeface="Times New Roman" panose="02020603050405020304" pitchFamily="18" charset="0"/>
            </a:endParaRPr>
          </a:p>
          <a:p>
            <a:pPr algn="just" eaLnBrk="1" fontAlgn="auto" hangingPunct="1">
              <a:spcAft>
                <a:spcPts val="0"/>
              </a:spcAft>
              <a:buFont typeface="Wingdings" panose="05000000000000000000" pitchFamily="2" charset="2"/>
              <a:buChar char="Ø"/>
              <a:defRPr/>
            </a:pPr>
            <a:r>
              <a:rPr lang="en-US" altLang="en-US" sz="2400" dirty="0">
                <a:solidFill>
                  <a:srgbClr val="0070C0"/>
                </a:solidFill>
                <a:latin typeface="Times New Roman" panose="02020603050405020304" pitchFamily="18" charset="0"/>
                <a:cs typeface="Times New Roman" panose="02020603050405020304" pitchFamily="18" charset="0"/>
              </a:rPr>
              <a:t>Equipment</a:t>
            </a:r>
            <a:r>
              <a:rPr lang="en-US" altLang="en-US" sz="2400" dirty="0">
                <a:latin typeface="Times New Roman" panose="02020603050405020304" pitchFamily="18" charset="0"/>
                <a:cs typeface="Times New Roman" panose="02020603050405020304" pitchFamily="18" charset="0"/>
              </a:rPr>
              <a:t>: the equipment needed should be listed and whether it will be purchased or leased. </a:t>
            </a:r>
          </a:p>
          <a:p>
            <a:pPr marL="82550" indent="0" eaLnBrk="1" fontAlgn="auto" hangingPunct="1">
              <a:spcAft>
                <a:spcPts val="0"/>
              </a:spcAft>
              <a:buFont typeface="Wingdings 2" pitchFamily="18" charset="2"/>
              <a:buNone/>
              <a:defRPr/>
            </a:pPr>
            <a:endParaRPr lang="en-US" alt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a:xfrm>
            <a:off x="990600" y="274638"/>
            <a:ext cx="7943850" cy="1143000"/>
          </a:xfrm>
          <a:solidFill>
            <a:srgbClr val="7030A0"/>
          </a:solidFill>
        </p:spPr>
        <p:txBody>
          <a:bodyPr/>
          <a:lstStyle/>
          <a:p>
            <a:pPr eaLnBrk="1" hangingPunct="1"/>
            <a:r>
              <a:rPr lang="en-US" b="1" smtClean="0">
                <a:solidFill>
                  <a:srgbClr val="FFFF00"/>
                </a:solidFill>
                <a:latin typeface="Times New Roman" pitchFamily="18" charset="0"/>
                <a:cs typeface="Times New Roman" pitchFamily="18" charset="0"/>
              </a:rPr>
              <a:t>Operation Information Needs</a:t>
            </a:r>
            <a:endParaRPr lang="en-US" smtClean="0"/>
          </a:p>
        </p:txBody>
      </p:sp>
      <p:sp>
        <p:nvSpPr>
          <p:cNvPr id="81923" name="Content Placeholder 2"/>
          <p:cNvSpPr>
            <a:spLocks noGrp="1"/>
          </p:cNvSpPr>
          <p:nvPr>
            <p:ph idx="1"/>
          </p:nvPr>
        </p:nvSpPr>
        <p:spPr>
          <a:xfrm>
            <a:off x="990600" y="1447800"/>
            <a:ext cx="7943850" cy="5791200"/>
          </a:xfrm>
        </p:spPr>
        <p:txBody>
          <a:bodyPr/>
          <a:lstStyle/>
          <a:p>
            <a:pPr algn="just" eaLnBrk="1" hangingPunct="1">
              <a:buFont typeface="Wingdings" pitchFamily="2" charset="2"/>
              <a:buChar char="Ø"/>
            </a:pPr>
            <a:r>
              <a:rPr lang="en-US" altLang="en-US" sz="2800" smtClean="0">
                <a:solidFill>
                  <a:srgbClr val="0070C0"/>
                </a:solidFill>
                <a:latin typeface="Times New Roman" pitchFamily="18" charset="0"/>
                <a:cs typeface="Times New Roman" pitchFamily="18" charset="0"/>
              </a:rPr>
              <a:t>Labor skills</a:t>
            </a:r>
            <a:r>
              <a:rPr lang="en-US" altLang="en-US" sz="2800" smtClean="0">
                <a:latin typeface="Times New Roman" pitchFamily="18" charset="0"/>
                <a:cs typeface="Times New Roman" pitchFamily="18" charset="0"/>
              </a:rPr>
              <a:t>: Each unique skill needed, the number of personnel in each skill, pay rate, and an assessment of where and how these skills will be obtained.</a:t>
            </a:r>
          </a:p>
          <a:p>
            <a:pPr algn="just" eaLnBrk="1" hangingPunct="1">
              <a:buFont typeface="Wingdings" pitchFamily="2" charset="2"/>
              <a:buChar char="Ø"/>
            </a:pPr>
            <a:r>
              <a:rPr lang="en-US" altLang="en-US" sz="2800" smtClean="0">
                <a:solidFill>
                  <a:srgbClr val="0070C0"/>
                </a:solidFill>
                <a:latin typeface="Times New Roman" pitchFamily="18" charset="0"/>
                <a:cs typeface="Times New Roman" pitchFamily="18" charset="0"/>
              </a:rPr>
              <a:t>Space</a:t>
            </a:r>
            <a:r>
              <a:rPr lang="en-US" altLang="en-US" sz="2800" smtClean="0">
                <a:latin typeface="Times New Roman" pitchFamily="18" charset="0"/>
                <a:cs typeface="Times New Roman" pitchFamily="18" charset="0"/>
              </a:rPr>
              <a:t>: the total amount of space needed should be determined, including whether the space will be owned, leased, and so on. </a:t>
            </a:r>
          </a:p>
          <a:p>
            <a:pPr algn="just" eaLnBrk="1" hangingPunct="1">
              <a:buFont typeface="Wingdings" pitchFamily="2" charset="2"/>
              <a:buChar char="Ø"/>
            </a:pPr>
            <a:r>
              <a:rPr lang="en-US" altLang="en-US" sz="2800" smtClean="0">
                <a:solidFill>
                  <a:srgbClr val="0070C0"/>
                </a:solidFill>
                <a:latin typeface="Times New Roman" pitchFamily="18" charset="0"/>
                <a:cs typeface="Times New Roman" pitchFamily="18" charset="0"/>
              </a:rPr>
              <a:t>Overhead</a:t>
            </a:r>
            <a:r>
              <a:rPr lang="en-US" altLang="en-US" sz="2800" smtClean="0">
                <a:latin typeface="Times New Roman" pitchFamily="18" charset="0"/>
                <a:cs typeface="Times New Roman" pitchFamily="18" charset="0"/>
              </a:rPr>
              <a:t>: Each item needed to support manufacturing such as tools, supplies, utilities, salaries and so on should b determined</a:t>
            </a:r>
            <a:r>
              <a:rPr lang="en-US" altLang="en-US" smtClean="0">
                <a:latin typeface="Times New Roman" pitchFamily="18" charset="0"/>
                <a:cs typeface="Times New Roman" pitchFamily="18" charset="0"/>
              </a:rPr>
              <a:t>. </a:t>
            </a:r>
          </a:p>
          <a:p>
            <a:pPr eaLnBrk="1" hangingPunct="1"/>
            <a:endParaRPr lang="en-US" altLang="en-US" smtClean="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a:xfrm>
            <a:off x="1066800" y="0"/>
            <a:ext cx="8077200" cy="1417638"/>
          </a:xfrm>
          <a:solidFill>
            <a:srgbClr val="7030A0"/>
          </a:solidFill>
        </p:spPr>
        <p:txBody>
          <a:bodyPr/>
          <a:lstStyle/>
          <a:p>
            <a:pPr eaLnBrk="1" hangingPunct="1"/>
            <a:r>
              <a:rPr lang="en-US" b="1" smtClean="0">
                <a:solidFill>
                  <a:srgbClr val="FFFF00"/>
                </a:solidFill>
              </a:rPr>
              <a:t>Financial Information Needs </a:t>
            </a:r>
            <a:endParaRPr lang="en-US" smtClean="0">
              <a:solidFill>
                <a:srgbClr val="FFFF00"/>
              </a:solidFill>
            </a:endParaRPr>
          </a:p>
        </p:txBody>
      </p:sp>
      <p:sp>
        <p:nvSpPr>
          <p:cNvPr id="82947" name="Content Placeholder 2"/>
          <p:cNvSpPr>
            <a:spLocks noGrp="1"/>
          </p:cNvSpPr>
          <p:nvPr>
            <p:ph idx="1"/>
          </p:nvPr>
        </p:nvSpPr>
        <p:spPr>
          <a:xfrm>
            <a:off x="990600" y="1447800"/>
            <a:ext cx="7943850" cy="5410200"/>
          </a:xfrm>
        </p:spPr>
        <p:txBody>
          <a:bodyPr>
            <a:normAutofit lnSpcReduction="10000"/>
          </a:bodyPr>
          <a:lstStyle/>
          <a:p>
            <a:pPr algn="just" eaLnBrk="1" hangingPunct="1">
              <a:buFont typeface="Courier New" pitchFamily="49" charset="0"/>
              <a:buChar char="o"/>
            </a:pPr>
            <a:r>
              <a:rPr lang="en-US" altLang="en-US" sz="2800" smtClean="0"/>
              <a:t>The assessment will primarily tell the potential </a:t>
            </a:r>
            <a:r>
              <a:rPr lang="en-US" altLang="en-US" sz="2800" smtClean="0">
                <a:solidFill>
                  <a:srgbClr val="0070C0"/>
                </a:solidFill>
              </a:rPr>
              <a:t>investors if the business will be profitable</a:t>
            </a:r>
            <a:r>
              <a:rPr lang="en-US" altLang="en-US" sz="2800" smtClean="0"/>
              <a:t>, </a:t>
            </a:r>
            <a:r>
              <a:rPr lang="en-US" altLang="en-US" sz="2800" smtClean="0">
                <a:solidFill>
                  <a:srgbClr val="00B0F0"/>
                </a:solidFill>
              </a:rPr>
              <a:t>how much money will be needed to launch the business </a:t>
            </a:r>
            <a:r>
              <a:rPr lang="en-US" altLang="en-US" sz="2800" smtClean="0"/>
              <a:t>and </a:t>
            </a:r>
            <a:r>
              <a:rPr lang="en-US" altLang="en-US" sz="2800" smtClean="0">
                <a:solidFill>
                  <a:srgbClr val="7030A0"/>
                </a:solidFill>
              </a:rPr>
              <a:t>meet short-term financial needs</a:t>
            </a:r>
            <a:r>
              <a:rPr lang="en-US" altLang="en-US" sz="2800" smtClean="0"/>
              <a:t>, and </a:t>
            </a:r>
            <a:r>
              <a:rPr lang="en-US" altLang="en-US" sz="2800" smtClean="0">
                <a:solidFill>
                  <a:srgbClr val="FF0000"/>
                </a:solidFill>
              </a:rPr>
              <a:t>how this money will be obtained (i.e. stock, debt, etc.)</a:t>
            </a:r>
          </a:p>
          <a:p>
            <a:pPr eaLnBrk="1" hangingPunct="1"/>
            <a:r>
              <a:rPr lang="en-US" altLang="en-US" sz="2800" smtClean="0">
                <a:solidFill>
                  <a:srgbClr val="0070C0"/>
                </a:solidFill>
              </a:rPr>
              <a:t>Areas of financial information need:</a:t>
            </a:r>
          </a:p>
          <a:p>
            <a:pPr lvl="1" algn="just" eaLnBrk="1" hangingPunct="1">
              <a:buFont typeface="Wingdings" pitchFamily="2" charset="2"/>
              <a:buChar char="Ø"/>
            </a:pPr>
            <a:r>
              <a:rPr lang="en-US" altLang="en-US" smtClean="0"/>
              <a:t>Expected sales and expense figures for at least the first three years </a:t>
            </a:r>
          </a:p>
          <a:p>
            <a:pPr lvl="1" algn="just" eaLnBrk="1" hangingPunct="1">
              <a:buFont typeface="Wingdings" pitchFamily="2" charset="2"/>
              <a:buChar char="Ø"/>
            </a:pPr>
            <a:r>
              <a:rPr lang="en-US" altLang="en-US" smtClean="0"/>
              <a:t>Cash flow figures for the first three years, and  </a:t>
            </a:r>
          </a:p>
          <a:p>
            <a:pPr lvl="1" algn="just" eaLnBrk="1" hangingPunct="1">
              <a:buFont typeface="Wingdings" pitchFamily="2" charset="2"/>
              <a:buChar char="Ø"/>
            </a:pPr>
            <a:r>
              <a:rPr lang="en-US" altLang="en-US" smtClean="0"/>
              <a:t>Current balance sheet figures and proforma balance sheets for the next three years. </a:t>
            </a:r>
          </a:p>
          <a:p>
            <a:pPr eaLnBrk="1" hangingPunct="1"/>
            <a:endParaRPr lang="en-US" altLang="en-US" smtClean="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a:extLst>
              <a:ext uri="{FF2B5EF4-FFF2-40B4-BE49-F238E27FC236}"/>
            </a:extLst>
          </p:cNvPr>
          <p:cNvSpPr>
            <a:spLocks noGrp="1"/>
          </p:cNvSpPr>
          <p:nvPr>
            <p:ph type="title"/>
          </p:nvPr>
        </p:nvSpPr>
        <p:spPr>
          <a:xfrm>
            <a:off x="990600" y="0"/>
            <a:ext cx="8153400" cy="1417638"/>
          </a:xfrm>
          <a:solidFill>
            <a:srgbClr val="00B0F0"/>
          </a:solidFill>
        </p:spPr>
        <p:txBody>
          <a:bodyPr rtlCol="0">
            <a:normAutofit/>
          </a:bodyPr>
          <a:lstStyle/>
          <a:p>
            <a:pPr marL="342900" indent="-342900">
              <a:defRPr/>
            </a:pPr>
            <a:r>
              <a:rPr lang="en-US" altLang="en-US" sz="3200" dirty="0" smtClean="0">
                <a:solidFill>
                  <a:srgbClr val="0070C0"/>
                </a:solidFill>
              </a:rPr>
              <a:t>           Writing the business plan </a:t>
            </a:r>
            <a:br>
              <a:rPr lang="en-US" altLang="en-US" sz="3200" dirty="0" smtClean="0">
                <a:solidFill>
                  <a:srgbClr val="0070C0"/>
                </a:solidFill>
              </a:rPr>
            </a:br>
            <a:r>
              <a:rPr lang="en-US" altLang="en-US" sz="3200" dirty="0" smtClean="0">
                <a:solidFill>
                  <a:srgbClr val="0070C0"/>
                </a:solidFill>
              </a:rPr>
              <a:t>        (contents of a business plan)</a:t>
            </a:r>
            <a:endParaRPr lang="en-US" altLang="en-US" sz="3200" b="1" dirty="0">
              <a:solidFill>
                <a:srgbClr val="FFFF00"/>
              </a:solidFill>
            </a:endParaRPr>
          </a:p>
        </p:txBody>
      </p:sp>
      <p:sp>
        <p:nvSpPr>
          <p:cNvPr id="84995" name="Content Placeholder 2"/>
          <p:cNvSpPr>
            <a:spLocks noGrp="1"/>
          </p:cNvSpPr>
          <p:nvPr>
            <p:ph idx="1"/>
          </p:nvPr>
        </p:nvSpPr>
        <p:spPr>
          <a:xfrm>
            <a:off x="990600" y="1447800"/>
            <a:ext cx="8077200" cy="5410200"/>
          </a:xfrm>
        </p:spPr>
        <p:txBody>
          <a:bodyPr/>
          <a:lstStyle/>
          <a:p>
            <a:pPr>
              <a:buNone/>
            </a:pPr>
            <a:r>
              <a:rPr lang="en-US" altLang="en-US" sz="2000" b="1" dirty="0" smtClean="0">
                <a:solidFill>
                  <a:srgbClr val="FF0000"/>
                </a:solidFill>
                <a:latin typeface="Times New Roman" panose="02020603050405020304" pitchFamily="18" charset="0"/>
                <a:cs typeface="Times New Roman" panose="02020603050405020304" pitchFamily="18" charset="0"/>
              </a:rPr>
              <a:t>Introductory Page</a:t>
            </a:r>
            <a:endParaRPr lang="en-US" altLang="en-US" sz="2000" dirty="0" smtClean="0">
              <a:solidFill>
                <a:srgbClr val="FF0000"/>
              </a:solidFill>
              <a:latin typeface="Times New Roman" pitchFamily="18" charset="0"/>
              <a:cs typeface="Times New Roman" pitchFamily="18" charset="0"/>
            </a:endParaRPr>
          </a:p>
          <a:p>
            <a:pPr eaLnBrk="1" hangingPunct="1">
              <a:buFont typeface="Wingdings 2" pitchFamily="18" charset="2"/>
              <a:buNone/>
            </a:pPr>
            <a:r>
              <a:rPr lang="en-US" altLang="en-US" sz="2000" dirty="0" smtClean="0">
                <a:latin typeface="Times New Roman" pitchFamily="18" charset="0"/>
                <a:cs typeface="Times New Roman" pitchFamily="18" charset="0"/>
              </a:rPr>
              <a:t>This is the title or cover page that provides a brief summary of what is contained in the business plan in print form.  </a:t>
            </a:r>
          </a:p>
          <a:p>
            <a:pPr eaLnBrk="1" hangingPunct="1">
              <a:buFont typeface="Wingdings 2" pitchFamily="18" charset="2"/>
              <a:buNone/>
            </a:pPr>
            <a:r>
              <a:rPr lang="en-US" altLang="en-US" sz="2000" b="1" i="1" dirty="0" smtClean="0">
                <a:latin typeface="Times New Roman" pitchFamily="18" charset="0"/>
                <a:cs typeface="Times New Roman" pitchFamily="18" charset="0"/>
              </a:rPr>
              <a:t>The introductory page should contain the following:</a:t>
            </a:r>
          </a:p>
          <a:p>
            <a:pPr algn="just" eaLnBrk="1" hangingPunct="1">
              <a:lnSpc>
                <a:spcPts val="3838"/>
              </a:lnSpc>
              <a:buFont typeface="Wingdings" pitchFamily="2" charset="2"/>
              <a:buChar char="Ø"/>
            </a:pPr>
            <a:r>
              <a:rPr lang="en-US" altLang="en-US" sz="2000" dirty="0" smtClean="0">
                <a:latin typeface="Times New Roman" pitchFamily="18" charset="0"/>
                <a:cs typeface="Times New Roman" pitchFamily="18" charset="0"/>
              </a:rPr>
              <a:t> The name and address of the company </a:t>
            </a:r>
          </a:p>
          <a:p>
            <a:pPr algn="just" eaLnBrk="1" hangingPunct="1">
              <a:lnSpc>
                <a:spcPts val="3838"/>
              </a:lnSpc>
              <a:buFont typeface="Wingdings" pitchFamily="2" charset="2"/>
              <a:buChar char="Ø"/>
            </a:pPr>
            <a:r>
              <a:rPr lang="en-US" altLang="en-US" sz="2000" dirty="0" smtClean="0">
                <a:latin typeface="Times New Roman" pitchFamily="18" charset="0"/>
                <a:cs typeface="Times New Roman" pitchFamily="18" charset="0"/>
              </a:rPr>
              <a:t>The name of the entrepreneur(s) and a telephone number. </a:t>
            </a:r>
          </a:p>
          <a:p>
            <a:pPr algn="just" eaLnBrk="1" hangingPunct="1">
              <a:lnSpc>
                <a:spcPts val="3838"/>
              </a:lnSpc>
              <a:buFont typeface="Wingdings" pitchFamily="2" charset="2"/>
              <a:buChar char="Ø"/>
            </a:pPr>
            <a:r>
              <a:rPr lang="en-US" altLang="en-US" sz="2000" dirty="0" smtClean="0">
                <a:latin typeface="Times New Roman" pitchFamily="18" charset="0"/>
                <a:cs typeface="Times New Roman" pitchFamily="18" charset="0"/>
              </a:rPr>
              <a:t>A paragraph describing the company and the nature of the business. </a:t>
            </a:r>
          </a:p>
          <a:p>
            <a:pPr algn="just" eaLnBrk="1" hangingPunct="1">
              <a:lnSpc>
                <a:spcPts val="3838"/>
              </a:lnSpc>
              <a:buFont typeface="Wingdings" pitchFamily="2" charset="2"/>
              <a:buChar char="Ø"/>
            </a:pPr>
            <a:r>
              <a:rPr lang="en-US" altLang="en-US" sz="2000" dirty="0" smtClean="0">
                <a:latin typeface="Times New Roman" pitchFamily="18" charset="0"/>
                <a:cs typeface="Times New Roman" pitchFamily="18" charset="0"/>
              </a:rPr>
              <a:t>The amount of financing needed.  The entrepreneur may offer a package that is, stock, debt, and so on. </a:t>
            </a:r>
          </a:p>
          <a:p>
            <a:pPr algn="just" eaLnBrk="1" hangingPunct="1">
              <a:lnSpc>
                <a:spcPts val="3838"/>
              </a:lnSpc>
              <a:buFont typeface="Wingdings" pitchFamily="2" charset="2"/>
              <a:buChar char="Ø"/>
            </a:pPr>
            <a:r>
              <a:rPr lang="en-US" altLang="en-US" sz="2000" dirty="0" smtClean="0">
                <a:latin typeface="Times New Roman" pitchFamily="18" charset="0"/>
                <a:cs typeface="Times New Roman" pitchFamily="18" charset="0"/>
              </a:rPr>
              <a:t>A statement of the confidentiality of the report. This is for security purposes and is important for the entrepreneur</a:t>
            </a:r>
            <a:r>
              <a:rPr lang="en-US" altLang="en-US" dirty="0" smtClean="0">
                <a:latin typeface="Times New Roman" pitchFamily="18" charset="0"/>
                <a:cs typeface="Times New Roman" pitchFamily="18" charset="0"/>
              </a:rPr>
              <a:t>.</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a:xfrm>
            <a:off x="990600" y="274638"/>
            <a:ext cx="8153400" cy="868362"/>
          </a:xfrm>
          <a:solidFill>
            <a:srgbClr val="7030A0"/>
          </a:solidFill>
        </p:spPr>
        <p:txBody>
          <a:bodyPr/>
          <a:lstStyle/>
          <a:p>
            <a:pPr eaLnBrk="1" hangingPunct="1"/>
            <a:r>
              <a:rPr lang="en-US" b="1" smtClean="0">
                <a:solidFill>
                  <a:srgbClr val="FFFF00"/>
                </a:solidFill>
              </a:rPr>
              <a:t>Executive Summary </a:t>
            </a:r>
            <a:endParaRPr lang="en-US" smtClean="0">
              <a:solidFill>
                <a:srgbClr val="FFFF00"/>
              </a:solidFill>
            </a:endParaRPr>
          </a:p>
        </p:txBody>
      </p:sp>
      <p:sp>
        <p:nvSpPr>
          <p:cNvPr id="109571" name="Content Placeholder 2">
            <a:extLst>
              <a:ext uri="{FF2B5EF4-FFF2-40B4-BE49-F238E27FC236}"/>
            </a:extLst>
          </p:cNvPr>
          <p:cNvSpPr>
            <a:spLocks noGrp="1"/>
          </p:cNvSpPr>
          <p:nvPr>
            <p:ph idx="1"/>
          </p:nvPr>
        </p:nvSpPr>
        <p:spPr>
          <a:xfrm>
            <a:off x="990600" y="1219200"/>
            <a:ext cx="7943850" cy="5638800"/>
          </a:xfrm>
        </p:spPr>
        <p:txBody>
          <a:bodyPr rtlCol="0">
            <a:normAutofit lnSpcReduction="10000"/>
          </a:bodyPr>
          <a:lstStyle/>
          <a:p>
            <a:pPr algn="just" eaLnBrk="1" fontAlgn="auto" hangingPunct="1">
              <a:spcAft>
                <a:spcPts val="0"/>
              </a:spcAft>
              <a:buFont typeface="Wingdings" panose="05000000000000000000" pitchFamily="2" charset="2"/>
              <a:buChar char="Ø"/>
              <a:defRPr/>
            </a:pPr>
            <a:r>
              <a:rPr lang="en-US" altLang="en-US" dirty="0"/>
              <a:t> prepared after the total pan is written.  </a:t>
            </a:r>
          </a:p>
          <a:p>
            <a:pPr algn="just" eaLnBrk="1" fontAlgn="auto" hangingPunct="1">
              <a:spcAft>
                <a:spcPts val="0"/>
              </a:spcAft>
              <a:buFont typeface="Wingdings" panose="05000000000000000000" pitchFamily="2" charset="2"/>
              <a:buChar char="Ø"/>
              <a:defRPr/>
            </a:pPr>
            <a:r>
              <a:rPr lang="en-US" altLang="en-US" dirty="0">
                <a:solidFill>
                  <a:srgbClr val="002060"/>
                </a:solidFill>
              </a:rPr>
              <a:t>about three to four pages long and should stimulate the interest of the potential investor. </a:t>
            </a:r>
            <a:r>
              <a:rPr lang="en-US" altLang="en-US" dirty="0"/>
              <a:t> </a:t>
            </a:r>
          </a:p>
          <a:p>
            <a:pPr algn="just" eaLnBrk="1" fontAlgn="auto" hangingPunct="1">
              <a:spcAft>
                <a:spcPts val="0"/>
              </a:spcAft>
              <a:buFont typeface="Arial" pitchFamily="34" charset="0"/>
              <a:buChar char="•"/>
              <a:defRPr/>
            </a:pPr>
            <a:r>
              <a:rPr lang="en-US" b="1" i="1" dirty="0"/>
              <a:t>should include the following components:</a:t>
            </a:r>
            <a:endParaRPr lang="en-US" dirty="0"/>
          </a:p>
          <a:p>
            <a:pPr lvl="1" algn="just" eaLnBrk="1" fontAlgn="auto" hangingPunct="1">
              <a:spcAft>
                <a:spcPts val="0"/>
              </a:spcAft>
              <a:buFont typeface="Wingdings" panose="05000000000000000000" pitchFamily="2" charset="2"/>
              <a:buChar char="Ø"/>
              <a:defRPr/>
            </a:pPr>
            <a:r>
              <a:rPr lang="en-US" sz="3200" b="1" i="1" dirty="0">
                <a:solidFill>
                  <a:srgbClr val="0070C0"/>
                </a:solidFill>
              </a:rPr>
              <a:t>Company information</a:t>
            </a:r>
            <a:r>
              <a:rPr lang="en-US" sz="3200" dirty="0"/>
              <a:t>—what product or service you provide, your competitive advantage, when the company was formed, your company objectives, and the background of you and your management team.</a:t>
            </a:r>
          </a:p>
          <a:p>
            <a:pPr lvl="1" algn="just" eaLnBrk="1" fontAlgn="auto" hangingPunct="1">
              <a:spcAft>
                <a:spcPts val="0"/>
              </a:spcAft>
              <a:buFont typeface="Wingdings" panose="05000000000000000000" pitchFamily="2" charset="2"/>
              <a:buChar char="Ø"/>
              <a:defRPr/>
            </a:pPr>
            <a:endParaRPr lang="en-US" altLang="en-US" sz="2000" dirty="0">
              <a:solidFill>
                <a:srgbClr val="00B050"/>
              </a:solidFil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pPr eaLnBrk="1" hangingPunct="1"/>
            <a:endParaRPr lang="en-US" smtClean="0"/>
          </a:p>
        </p:txBody>
      </p:sp>
      <p:sp>
        <p:nvSpPr>
          <p:cNvPr id="90115" name="Content Placeholder 2"/>
          <p:cNvSpPr>
            <a:spLocks noGrp="1"/>
          </p:cNvSpPr>
          <p:nvPr>
            <p:ph idx="1"/>
          </p:nvPr>
        </p:nvSpPr>
        <p:spPr/>
        <p:txBody>
          <a:bodyPr>
            <a:normAutofit fontScale="92500" lnSpcReduction="20000"/>
          </a:bodyPr>
          <a:lstStyle/>
          <a:p>
            <a:pPr lvl="1" algn="just" eaLnBrk="1" hangingPunct="1">
              <a:buFont typeface="Wingdings" pitchFamily="2" charset="2"/>
              <a:buChar char="Ø"/>
            </a:pPr>
            <a:r>
              <a:rPr lang="en-US" sz="3600" b="1" i="1" smtClean="0">
                <a:solidFill>
                  <a:srgbClr val="0070C0"/>
                </a:solidFill>
              </a:rPr>
              <a:t>Market opportunity</a:t>
            </a:r>
            <a:r>
              <a:rPr lang="en-US" sz="3600" smtClean="0"/>
              <a:t>—the expected size and growth rate of your market, your expected market share, and any relevant industry trends.</a:t>
            </a:r>
          </a:p>
          <a:p>
            <a:pPr lvl="1" algn="just" eaLnBrk="1" hangingPunct="1">
              <a:buFont typeface="Wingdings" pitchFamily="2" charset="2"/>
              <a:buChar char="Ø"/>
            </a:pPr>
            <a:r>
              <a:rPr lang="en-US" sz="3600" b="1" i="1" smtClean="0">
                <a:solidFill>
                  <a:srgbClr val="0070C0"/>
                </a:solidFill>
              </a:rPr>
              <a:t>Financial data</a:t>
            </a:r>
            <a:r>
              <a:rPr lang="en-US" sz="3600" smtClean="0"/>
              <a:t>—financial forecasts for the first three years of operations, equity investment desired, and long-term loans that will be needed.</a:t>
            </a:r>
            <a:endParaRPr lang="en-US" sz="4400" smtClean="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p:cNvSpPr>
          <p:nvPr>
            <p:ph type="title"/>
          </p:nvPr>
        </p:nvSpPr>
        <p:spPr>
          <a:xfrm>
            <a:off x="990600" y="0"/>
            <a:ext cx="8153400" cy="1219200"/>
          </a:xfrm>
          <a:solidFill>
            <a:srgbClr val="7030A0"/>
          </a:solidFill>
        </p:spPr>
        <p:txBody>
          <a:bodyPr/>
          <a:lstStyle/>
          <a:p>
            <a:pPr eaLnBrk="1" hangingPunct="1"/>
            <a:r>
              <a:rPr lang="en-US" sz="4000" b="1" smtClean="0">
                <a:solidFill>
                  <a:srgbClr val="FFFF00"/>
                </a:solidFill>
                <a:latin typeface="Times New Roman" pitchFamily="18" charset="0"/>
                <a:cs typeface="Times New Roman" pitchFamily="18" charset="0"/>
              </a:rPr>
              <a:t>Industry Analysis</a:t>
            </a:r>
            <a:endParaRPr lang="en-US" sz="4000" smtClean="0">
              <a:solidFill>
                <a:srgbClr val="FFFF00"/>
              </a:solidFill>
              <a:latin typeface="Times New Roman" pitchFamily="18" charset="0"/>
              <a:cs typeface="Times New Roman" pitchFamily="18" charset="0"/>
            </a:endParaRPr>
          </a:p>
        </p:txBody>
      </p:sp>
      <p:sp>
        <p:nvSpPr>
          <p:cNvPr id="92163" name="Content Placeholder 2"/>
          <p:cNvSpPr>
            <a:spLocks noGrp="1"/>
          </p:cNvSpPr>
          <p:nvPr>
            <p:ph idx="1"/>
          </p:nvPr>
        </p:nvSpPr>
        <p:spPr>
          <a:xfrm>
            <a:off x="990600" y="1219200"/>
            <a:ext cx="8153400" cy="5638800"/>
          </a:xfrm>
        </p:spPr>
        <p:txBody>
          <a:bodyPr/>
          <a:lstStyle/>
          <a:p>
            <a:pPr eaLnBrk="1" hangingPunct="1"/>
            <a:r>
              <a:rPr lang="en-US" altLang="en-US" sz="2400" smtClean="0">
                <a:latin typeface="Times New Roman" pitchFamily="18" charset="0"/>
                <a:cs typeface="Times New Roman" pitchFamily="18" charset="0"/>
              </a:rPr>
              <a:t>It is important to put the new venture in a proper context. </a:t>
            </a:r>
          </a:p>
          <a:p>
            <a:pPr lvl="1" algn="just" eaLnBrk="1" hangingPunct="1"/>
            <a:r>
              <a:rPr lang="en-US" altLang="en-US" sz="2400" b="1" smtClean="0">
                <a:solidFill>
                  <a:srgbClr val="00B050"/>
                </a:solidFill>
                <a:latin typeface="Times New Roman" pitchFamily="18" charset="0"/>
                <a:cs typeface="Times New Roman" pitchFamily="18" charset="0"/>
              </a:rPr>
              <a:t>industry outlook</a:t>
            </a:r>
            <a:r>
              <a:rPr lang="en-US" altLang="en-US" sz="2400" smtClean="0">
                <a:latin typeface="Times New Roman" pitchFamily="18" charset="0"/>
                <a:cs typeface="Times New Roman" pitchFamily="18" charset="0"/>
              </a:rPr>
              <a:t>, including future trends and historical achievements, should be included.  </a:t>
            </a:r>
          </a:p>
          <a:p>
            <a:pPr lvl="1" algn="just" eaLnBrk="1" hangingPunct="1"/>
            <a:r>
              <a:rPr lang="en-US" altLang="en-US" sz="2400" b="1" smtClean="0">
                <a:solidFill>
                  <a:srgbClr val="00B050"/>
                </a:solidFill>
                <a:latin typeface="Times New Roman" pitchFamily="18" charset="0"/>
                <a:cs typeface="Times New Roman" pitchFamily="18" charset="0"/>
              </a:rPr>
              <a:t>Competition analysis</a:t>
            </a:r>
          </a:p>
          <a:p>
            <a:pPr lvl="2" algn="just" eaLnBrk="1" hangingPunct="1"/>
            <a:r>
              <a:rPr lang="en-US" altLang="en-US" b="1" smtClean="0">
                <a:solidFill>
                  <a:srgbClr val="0070C0"/>
                </a:solidFill>
                <a:latin typeface="Times New Roman" pitchFamily="18" charset="0"/>
                <a:cs typeface="Times New Roman" pitchFamily="18" charset="0"/>
              </a:rPr>
              <a:t>Number of competitors</a:t>
            </a:r>
          </a:p>
          <a:p>
            <a:pPr lvl="2" algn="just" eaLnBrk="1" hangingPunct="1"/>
            <a:r>
              <a:rPr lang="en-US" altLang="en-US" b="1" smtClean="0">
                <a:solidFill>
                  <a:srgbClr val="0070C0"/>
                </a:solidFill>
                <a:latin typeface="Times New Roman" pitchFamily="18" charset="0"/>
                <a:cs typeface="Times New Roman" pitchFamily="18" charset="0"/>
              </a:rPr>
              <a:t>Strength and weakness  of the competitors</a:t>
            </a:r>
          </a:p>
          <a:p>
            <a:pPr lvl="2" algn="just" eaLnBrk="1" hangingPunct="1"/>
            <a:r>
              <a:rPr lang="en-US" altLang="en-US" b="1" smtClean="0">
                <a:solidFill>
                  <a:srgbClr val="0070C0"/>
                </a:solidFill>
                <a:latin typeface="Times New Roman" pitchFamily="18" charset="0"/>
                <a:cs typeface="Times New Roman" pitchFamily="18" charset="0"/>
              </a:rPr>
              <a:t>Reaction patterns of the competitors</a:t>
            </a:r>
          </a:p>
          <a:p>
            <a:pPr lvl="3" algn="just" eaLnBrk="1" hangingPunct="1"/>
            <a:r>
              <a:rPr lang="en-US" altLang="en-US" sz="2400" b="1" smtClean="0">
                <a:solidFill>
                  <a:srgbClr val="FF0000"/>
                </a:solidFill>
                <a:latin typeface="Times New Roman" pitchFamily="18" charset="0"/>
                <a:cs typeface="Times New Roman" pitchFamily="18" charset="0"/>
              </a:rPr>
              <a:t>Laidback</a:t>
            </a:r>
          </a:p>
          <a:p>
            <a:pPr lvl="3" algn="just" eaLnBrk="1" hangingPunct="1"/>
            <a:r>
              <a:rPr lang="en-US" altLang="en-US" sz="2400" b="1" smtClean="0">
                <a:solidFill>
                  <a:srgbClr val="FF0000"/>
                </a:solidFill>
                <a:latin typeface="Times New Roman" pitchFamily="18" charset="0"/>
                <a:cs typeface="Times New Roman" pitchFamily="18" charset="0"/>
              </a:rPr>
              <a:t>Selective</a:t>
            </a:r>
          </a:p>
          <a:p>
            <a:pPr lvl="3" algn="just" eaLnBrk="1" hangingPunct="1"/>
            <a:r>
              <a:rPr lang="en-US" altLang="en-US" sz="2400" b="1" smtClean="0">
                <a:solidFill>
                  <a:srgbClr val="FF0000"/>
                </a:solidFill>
                <a:latin typeface="Times New Roman" pitchFamily="18" charset="0"/>
                <a:cs typeface="Times New Roman" pitchFamily="18" charset="0"/>
              </a:rPr>
              <a:t>Tiger</a:t>
            </a:r>
          </a:p>
          <a:p>
            <a:pPr lvl="3" algn="just" eaLnBrk="1" hangingPunct="1"/>
            <a:r>
              <a:rPr lang="en-US" altLang="en-US" sz="2400" b="1" smtClean="0">
                <a:solidFill>
                  <a:srgbClr val="FF0000"/>
                </a:solidFill>
                <a:latin typeface="Times New Roman" pitchFamily="18" charset="0"/>
                <a:cs typeface="Times New Roman" pitchFamily="18" charset="0"/>
              </a:rPr>
              <a:t>stochastic</a:t>
            </a:r>
          </a:p>
          <a:p>
            <a:pPr lvl="3" algn="just" eaLnBrk="1" hangingPunct="1"/>
            <a:endParaRPr lang="en-US" altLang="en-US" b="1" smtClean="0">
              <a:solidFill>
                <a:srgbClr val="00B050"/>
              </a:solidFill>
            </a:endParaRPr>
          </a:p>
          <a:p>
            <a:pPr lvl="3" algn="just" eaLnBrk="1" hangingPunct="1"/>
            <a:endParaRPr lang="en-US" altLang="en-US" b="1" smtClean="0">
              <a:solidFill>
                <a:srgbClr val="00B050"/>
              </a:solidFill>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p:cNvSpPr>
          <p:nvPr>
            <p:ph type="title"/>
          </p:nvPr>
        </p:nvSpPr>
        <p:spPr/>
        <p:txBody>
          <a:bodyPr/>
          <a:lstStyle/>
          <a:p>
            <a:pPr eaLnBrk="1" hangingPunct="1"/>
            <a:endParaRPr lang="en-US" smtClean="0"/>
          </a:p>
        </p:txBody>
      </p:sp>
      <p:sp>
        <p:nvSpPr>
          <p:cNvPr id="93187" name="Content Placeholder 2"/>
          <p:cNvSpPr>
            <a:spLocks noGrp="1"/>
          </p:cNvSpPr>
          <p:nvPr>
            <p:ph idx="1"/>
          </p:nvPr>
        </p:nvSpPr>
        <p:spPr/>
        <p:txBody>
          <a:bodyPr>
            <a:normAutofit fontScale="92500" lnSpcReduction="10000"/>
          </a:bodyPr>
          <a:lstStyle/>
          <a:p>
            <a:pPr eaLnBrk="1" hangingPunct="1"/>
            <a:r>
              <a:rPr lang="en-US" altLang="en-US" b="1" dirty="0" smtClean="0">
                <a:solidFill>
                  <a:srgbClr val="00B050"/>
                </a:solidFill>
              </a:rPr>
              <a:t>Customer analysis</a:t>
            </a:r>
          </a:p>
          <a:p>
            <a:pPr lvl="1" eaLnBrk="1" hangingPunct="1"/>
            <a:r>
              <a:rPr lang="en-US" altLang="en-US" b="1" dirty="0" smtClean="0">
                <a:solidFill>
                  <a:srgbClr val="002060"/>
                </a:solidFill>
              </a:rPr>
              <a:t>Who are the customers</a:t>
            </a:r>
          </a:p>
          <a:p>
            <a:pPr lvl="1" eaLnBrk="1" hangingPunct="1"/>
            <a:r>
              <a:rPr lang="en-US" altLang="en-US" b="1" dirty="0" smtClean="0">
                <a:solidFill>
                  <a:srgbClr val="002060"/>
                </a:solidFill>
              </a:rPr>
              <a:t>Target market</a:t>
            </a:r>
          </a:p>
          <a:p>
            <a:pPr lvl="1" eaLnBrk="1" hangingPunct="1"/>
            <a:r>
              <a:rPr lang="en-US" altLang="en-US" b="1" dirty="0" smtClean="0">
                <a:solidFill>
                  <a:srgbClr val="002060"/>
                </a:solidFill>
              </a:rPr>
              <a:t>Customer preferences</a:t>
            </a:r>
          </a:p>
          <a:p>
            <a:pPr lvl="1" eaLnBrk="1" hangingPunct="1"/>
            <a:r>
              <a:rPr lang="en-US" altLang="en-US" b="1" dirty="0" smtClean="0">
                <a:solidFill>
                  <a:srgbClr val="002060"/>
                </a:solidFill>
              </a:rPr>
              <a:t>Level of price sensitivity</a:t>
            </a:r>
          </a:p>
          <a:p>
            <a:pPr lvl="1">
              <a:buNone/>
            </a:pPr>
            <a:r>
              <a:rPr lang="en-US" b="1" dirty="0" smtClean="0">
                <a:solidFill>
                  <a:srgbClr val="FF0000"/>
                </a:solidFill>
              </a:rPr>
              <a:t>Description of Venture</a:t>
            </a:r>
            <a:endParaRPr lang="en-US" altLang="en-US" b="1" dirty="0" smtClean="0">
              <a:solidFill>
                <a:srgbClr val="FF0000"/>
              </a:solidFill>
            </a:endParaRPr>
          </a:p>
          <a:p>
            <a:r>
              <a:rPr lang="en-US" altLang="en-US" dirty="0" smtClean="0"/>
              <a:t>Key elements are :</a:t>
            </a:r>
          </a:p>
          <a:p>
            <a:pPr lvl="1"/>
            <a:r>
              <a:rPr lang="en-US" altLang="en-US" dirty="0" smtClean="0">
                <a:solidFill>
                  <a:srgbClr val="0070C0"/>
                </a:solidFill>
              </a:rPr>
              <a:t>VISION, MISSION, GOALS, VALUES</a:t>
            </a:r>
          </a:p>
          <a:p>
            <a:pPr lvl="1"/>
            <a:r>
              <a:rPr lang="en-US" altLang="en-US" dirty="0" smtClean="0">
                <a:solidFill>
                  <a:srgbClr val="0070C0"/>
                </a:solidFill>
              </a:rPr>
              <a:t>the product(s) or service(s), </a:t>
            </a:r>
          </a:p>
          <a:p>
            <a:pPr lvl="1"/>
            <a:r>
              <a:rPr lang="en-US" altLang="en-US" dirty="0" smtClean="0">
                <a:solidFill>
                  <a:srgbClr val="0070C0"/>
                </a:solidFill>
              </a:rPr>
              <a:t>the location and size of the business, </a:t>
            </a:r>
          </a:p>
          <a:p>
            <a:pPr lvl="1"/>
            <a:r>
              <a:rPr lang="en-US" altLang="en-US" dirty="0" smtClean="0">
                <a:solidFill>
                  <a:srgbClr val="0070C0"/>
                </a:solidFill>
              </a:rPr>
              <a:t>the personnel and office equipment that will be needed, </a:t>
            </a:r>
          </a:p>
          <a:p>
            <a:pPr lvl="1"/>
            <a:r>
              <a:rPr lang="en-US" altLang="en-US" dirty="0" smtClean="0">
                <a:solidFill>
                  <a:srgbClr val="0070C0"/>
                </a:solidFill>
              </a:rPr>
              <a:t>background of the entrepreneur(s), and the history of the venture.   </a:t>
            </a:r>
          </a:p>
          <a:p>
            <a:pPr lvl="1" eaLnBrk="1" hangingPunct="1"/>
            <a:endParaRPr lang="en-US" altLang="en-US" b="1" dirty="0" smtClean="0">
              <a:solidFill>
                <a:srgbClr val="002060"/>
              </a:solidFill>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7" name="Content Placeholder 2"/>
          <p:cNvSpPr>
            <a:spLocks noGrp="1"/>
          </p:cNvSpPr>
          <p:nvPr>
            <p:ph idx="1"/>
          </p:nvPr>
        </p:nvSpPr>
        <p:spPr>
          <a:ln>
            <a:solidFill>
              <a:srgbClr val="FF0000"/>
            </a:solidFill>
          </a:ln>
        </p:spPr>
        <p:txBody>
          <a:bodyPr>
            <a:normAutofit fontScale="96875"/>
          </a:bodyPr>
          <a:lstStyle/>
          <a:p>
            <a:pPr algn="just"/>
            <a:r>
              <a:rPr lang="en-US" dirty="0">
                <a:latin typeface="Californian FB" pitchFamily="18" charset="0"/>
              </a:rPr>
              <a:t>The opportunity identification and evaluation stage can be divided into five main steps :</a:t>
            </a:r>
          </a:p>
          <a:p>
            <a:pPr algn="just">
              <a:buNone/>
            </a:pPr>
            <a:r>
              <a:rPr lang="en-US" dirty="0">
                <a:solidFill>
                  <a:srgbClr val="FF0000"/>
                </a:solidFill>
                <a:latin typeface="Californian FB" pitchFamily="18" charset="0"/>
              </a:rPr>
              <a:t>1) Scanning the Environment/ Getting the Idea</a:t>
            </a:r>
          </a:p>
          <a:p>
            <a:pPr algn="just"/>
            <a:r>
              <a:rPr lang="en-US" dirty="0">
                <a:latin typeface="Californian FB" pitchFamily="18" charset="0"/>
              </a:rPr>
              <a:t>it may be provide you with idea and business opportunities</a:t>
            </a:r>
          </a:p>
          <a:p>
            <a:pPr algn="just"/>
            <a:r>
              <a:rPr lang="en-US" dirty="0">
                <a:latin typeface="Californian FB" pitchFamily="18" charset="0"/>
              </a:rPr>
              <a:t>Synonymous with “idea” are the terms :</a:t>
            </a:r>
          </a:p>
          <a:p>
            <a:pPr algn="just"/>
            <a:r>
              <a:rPr lang="en-US" dirty="0">
                <a:latin typeface="Californian FB" pitchFamily="18" charset="0"/>
              </a:rPr>
              <a:t>thought, intention, scheme, suggestion, proposal, initiative, brainwave, insight</a:t>
            </a:r>
          </a:p>
        </p:txBody>
      </p:sp>
      <p:sp>
        <p:nvSpPr>
          <p:cNvPr id="1048688" name="Slide Number Placeholder 3"/>
          <p:cNvSpPr>
            <a:spLocks noGrp="1"/>
          </p:cNvSpPr>
          <p:nvPr>
            <p:ph type="sldNum" sz="quarter" idx="12"/>
          </p:nvPr>
        </p:nvSpPr>
        <p:spPr/>
        <p:txBody>
          <a:bodyPr/>
          <a:lstStyle/>
          <a:p>
            <a:fld id="{291E2FA6-9605-47D5-89F4-3EA67C449664}" type="slidenum">
              <a:rPr lang="en-US" smtClean="0"/>
              <a:pPr/>
              <a:t>48</a:t>
            </a:fld>
            <a:endParaRPr lang="en-US"/>
          </a:p>
        </p:txBody>
      </p:sp>
      <p:sp>
        <p:nvSpPr>
          <p:cNvPr id="1048686" name="Title 1"/>
          <p:cNvSpPr>
            <a:spLocks noGrp="1"/>
          </p:cNvSpPr>
          <p:nvPr>
            <p:ph type="title"/>
          </p:nvPr>
        </p:nvSpPr>
        <p:spPr>
          <a:solidFill>
            <a:srgbClr val="00B0F0"/>
          </a:solidFill>
        </p:spPr>
        <p:txBody>
          <a:bodyPr>
            <a:noAutofit/>
          </a:bodyPr>
          <a:lstStyle/>
          <a:p>
            <a:r>
              <a:rPr lang="en-US" sz="2400" dirty="0">
                <a:solidFill>
                  <a:srgbClr val="7030A0"/>
                </a:solidFill>
              </a:rPr>
              <a:t>2.2 Opportunity Identification and Evaluation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0" name="Content Placeholder 2"/>
          <p:cNvSpPr>
            <a:spLocks noGrp="1"/>
          </p:cNvSpPr>
          <p:nvPr>
            <p:ph idx="1"/>
          </p:nvPr>
        </p:nvSpPr>
        <p:spPr>
          <a:ln>
            <a:solidFill>
              <a:srgbClr val="FF0000"/>
            </a:solidFill>
          </a:ln>
        </p:spPr>
        <p:txBody>
          <a:bodyPr>
            <a:normAutofit fontScale="92500" lnSpcReduction="20000"/>
          </a:bodyPr>
          <a:lstStyle/>
          <a:p>
            <a:pPr algn="just"/>
            <a:r>
              <a:rPr lang="en-US" dirty="0">
                <a:latin typeface="Californian FB" pitchFamily="18" charset="0"/>
              </a:rPr>
              <a:t>Synonymous with opportunity are </a:t>
            </a:r>
            <a:r>
              <a:rPr lang="en-US" dirty="0">
                <a:solidFill>
                  <a:srgbClr val="FF0000"/>
                </a:solidFill>
                <a:latin typeface="Californian FB" pitchFamily="18" charset="0"/>
              </a:rPr>
              <a:t>chance,</a:t>
            </a:r>
            <a:r>
              <a:rPr lang="en-US" dirty="0">
                <a:latin typeface="Californian FB" pitchFamily="18" charset="0"/>
              </a:rPr>
              <a:t> </a:t>
            </a:r>
            <a:r>
              <a:rPr lang="en-US" dirty="0">
                <a:solidFill>
                  <a:srgbClr val="FF0000"/>
                </a:solidFill>
                <a:latin typeface="Californian FB" pitchFamily="18" charset="0"/>
              </a:rPr>
              <a:t>opening</a:t>
            </a:r>
            <a:r>
              <a:rPr lang="en-US" dirty="0">
                <a:latin typeface="Californian FB" pitchFamily="18" charset="0"/>
              </a:rPr>
              <a:t> and </a:t>
            </a:r>
            <a:r>
              <a:rPr lang="en-US" dirty="0">
                <a:solidFill>
                  <a:srgbClr val="FF0000"/>
                </a:solidFill>
                <a:latin typeface="Californian FB" pitchFamily="18" charset="0"/>
              </a:rPr>
              <a:t>prospect</a:t>
            </a:r>
            <a:r>
              <a:rPr lang="en-US" dirty="0">
                <a:latin typeface="Californian FB" pitchFamily="18" charset="0"/>
              </a:rPr>
              <a:t>. </a:t>
            </a:r>
          </a:p>
          <a:p>
            <a:pPr algn="just"/>
            <a:r>
              <a:rPr lang="en-US" dirty="0">
                <a:latin typeface="Californian FB" pitchFamily="18" charset="0"/>
              </a:rPr>
              <a:t>A business opportunity is a </a:t>
            </a:r>
            <a:r>
              <a:rPr lang="en-US" dirty="0">
                <a:solidFill>
                  <a:srgbClr val="7030A0"/>
                </a:solidFill>
                <a:latin typeface="Californian FB" pitchFamily="18" charset="0"/>
              </a:rPr>
              <a:t>gap left in a market </a:t>
            </a:r>
            <a:r>
              <a:rPr lang="en-US" dirty="0">
                <a:latin typeface="Californian FB" pitchFamily="18" charset="0"/>
              </a:rPr>
              <a:t>by those who currently serve it, </a:t>
            </a:r>
          </a:p>
          <a:p>
            <a:pPr algn="just"/>
            <a:r>
              <a:rPr lang="en-US" dirty="0">
                <a:latin typeface="Californian FB" pitchFamily="18" charset="0"/>
              </a:rPr>
              <a:t>giving a chance to others to add unrealized value by performing differently from and better than competitors in order to create new </a:t>
            </a:r>
            <a:r>
              <a:rPr lang="en-US" dirty="0" smtClean="0">
                <a:latin typeface="Californian FB" pitchFamily="18" charset="0"/>
              </a:rPr>
              <a:t>possibilities</a:t>
            </a:r>
          </a:p>
          <a:p>
            <a:pPr algn="just"/>
            <a:r>
              <a:rPr lang="en-US" dirty="0" smtClean="0">
                <a:latin typeface="Californian FB" pitchFamily="18" charset="0"/>
              </a:rPr>
              <a:t>opportunity is a </a:t>
            </a:r>
            <a:r>
              <a:rPr lang="en-US" dirty="0" smtClean="0">
                <a:solidFill>
                  <a:srgbClr val="FF0000"/>
                </a:solidFill>
                <a:latin typeface="Californian FB" pitchFamily="18" charset="0"/>
              </a:rPr>
              <a:t>favorable time or set of circumstances for doing something.</a:t>
            </a:r>
          </a:p>
          <a:p>
            <a:pPr algn="just"/>
            <a:r>
              <a:rPr lang="en-US" dirty="0" smtClean="0">
                <a:latin typeface="Californian FB" pitchFamily="18" charset="0"/>
              </a:rPr>
              <a:t>An opportunity is that an opportunity is the possibility of occupying the market with a specific innovative product that will satisfy a </a:t>
            </a:r>
            <a:r>
              <a:rPr lang="en-US" dirty="0" smtClean="0">
                <a:solidFill>
                  <a:srgbClr val="FF0000"/>
                </a:solidFill>
                <a:latin typeface="Californian FB" pitchFamily="18" charset="0"/>
              </a:rPr>
              <a:t>real need </a:t>
            </a:r>
            <a:r>
              <a:rPr lang="en-US" dirty="0" smtClean="0">
                <a:latin typeface="Californian FB" pitchFamily="18" charset="0"/>
              </a:rPr>
              <a:t>and for which customers are </a:t>
            </a:r>
            <a:r>
              <a:rPr lang="en-US" dirty="0" smtClean="0">
                <a:solidFill>
                  <a:srgbClr val="FF0000"/>
                </a:solidFill>
                <a:latin typeface="Californian FB" pitchFamily="18" charset="0"/>
              </a:rPr>
              <a:t>willing to pay </a:t>
            </a:r>
            <a:r>
              <a:rPr lang="en-US" dirty="0" smtClean="0">
                <a:latin typeface="Californian FB" pitchFamily="18" charset="0"/>
              </a:rPr>
              <a:t>but </a:t>
            </a:r>
            <a:r>
              <a:rPr lang="en-US" dirty="0" smtClean="0">
                <a:solidFill>
                  <a:srgbClr val="00B0F0"/>
                </a:solidFill>
                <a:latin typeface="Californian FB" pitchFamily="18" charset="0"/>
              </a:rPr>
              <a:t>idea is all about opinion about anything</a:t>
            </a:r>
          </a:p>
          <a:p>
            <a:pPr algn="just"/>
            <a:endParaRPr lang="en-US" dirty="0">
              <a:latin typeface="Californian FB" pitchFamily="18" charset="0"/>
            </a:endParaRPr>
          </a:p>
        </p:txBody>
      </p:sp>
      <p:sp>
        <p:nvSpPr>
          <p:cNvPr id="1048691" name="Slide Number Placeholder 3"/>
          <p:cNvSpPr>
            <a:spLocks noGrp="1"/>
          </p:cNvSpPr>
          <p:nvPr>
            <p:ph type="sldNum" sz="quarter" idx="12"/>
          </p:nvPr>
        </p:nvSpPr>
        <p:spPr/>
        <p:txBody>
          <a:bodyPr/>
          <a:lstStyle/>
          <a:p>
            <a:fld id="{291E2FA6-9605-47D5-89F4-3EA67C449664}" type="slidenum">
              <a:rPr lang="en-US" smtClean="0"/>
              <a:pPr/>
              <a:t>49</a:t>
            </a:fld>
            <a:endParaRPr lang="en-US"/>
          </a:p>
        </p:txBody>
      </p:sp>
      <p:sp>
        <p:nvSpPr>
          <p:cNvPr id="1048689" name="Title 1"/>
          <p:cNvSpPr>
            <a:spLocks noGrp="1"/>
          </p:cNvSpPr>
          <p:nvPr>
            <p:ph type="title"/>
          </p:nvPr>
        </p:nvSpPr>
        <p:spPr/>
        <p:txBody>
          <a:bodyPr/>
          <a:lstStyle/>
          <a:p>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6" name="Content Placeholder 2"/>
          <p:cNvSpPr>
            <a:spLocks noGrp="1"/>
          </p:cNvSpPr>
          <p:nvPr>
            <p:ph idx="1"/>
          </p:nvPr>
        </p:nvSpPr>
        <p:spPr>
          <a:ln>
            <a:solidFill>
              <a:srgbClr val="FF0000"/>
            </a:solidFill>
          </a:ln>
        </p:spPr>
        <p:txBody>
          <a:bodyPr>
            <a:normAutofit fontScale="92500"/>
          </a:bodyPr>
          <a:lstStyle/>
          <a:p>
            <a:pPr algn="just"/>
            <a:r>
              <a:rPr lang="en-US" dirty="0">
                <a:latin typeface="Californian FB" pitchFamily="18" charset="0"/>
              </a:rPr>
              <a:t>Opportunity identification is ability to see, to discover and exploit opportunities that others miss.</a:t>
            </a:r>
          </a:p>
          <a:p>
            <a:pPr marL="0" indent="0" algn="just">
              <a:buNone/>
            </a:pPr>
            <a:endParaRPr lang="en-US" dirty="0">
              <a:latin typeface="Californian FB" pitchFamily="18" charset="0"/>
            </a:endParaRPr>
          </a:p>
          <a:p>
            <a:pPr algn="just"/>
            <a:r>
              <a:rPr lang="en-US" dirty="0">
                <a:latin typeface="Californian FB" pitchFamily="18" charset="0"/>
              </a:rPr>
              <a:t>It is the process of seeking out better ways of competing</a:t>
            </a:r>
            <a:r>
              <a:rPr lang="en-US" dirty="0" smtClean="0">
                <a:latin typeface="Californian FB" pitchFamily="18" charset="0"/>
              </a:rPr>
              <a:t>.</a:t>
            </a:r>
          </a:p>
          <a:p>
            <a:pPr algn="just">
              <a:buNone/>
            </a:pPr>
            <a:r>
              <a:rPr lang="en-US" sz="3500" dirty="0" smtClean="0">
                <a:solidFill>
                  <a:srgbClr val="FF0000"/>
                </a:solidFill>
                <a:latin typeface="Californian FB" pitchFamily="18" charset="0"/>
              </a:rPr>
              <a:t>3. Opportunity development </a:t>
            </a:r>
          </a:p>
          <a:p>
            <a:pPr algn="just"/>
            <a:r>
              <a:rPr lang="en-US" dirty="0" smtClean="0">
                <a:latin typeface="Californian FB" pitchFamily="18" charset="0"/>
              </a:rPr>
              <a:t>Opportunity development is the process of combining resources to pursue a market opportunity identified. </a:t>
            </a:r>
          </a:p>
          <a:p>
            <a:pPr algn="just"/>
            <a:r>
              <a:rPr lang="en-US" dirty="0" smtClean="0">
                <a:latin typeface="Californian FB" pitchFamily="18" charset="0"/>
              </a:rPr>
              <a:t>involves systematic research to refine the idea to the most promising high potential opportunity that can be transformed into marketable items.</a:t>
            </a:r>
          </a:p>
          <a:p>
            <a:pPr algn="just"/>
            <a:endParaRPr lang="en-US" dirty="0">
              <a:latin typeface="Californian FB" pitchFamily="18" charset="0"/>
            </a:endParaRPr>
          </a:p>
        </p:txBody>
      </p:sp>
      <p:sp>
        <p:nvSpPr>
          <p:cNvPr id="1048697" name="Slide Number Placeholder 3"/>
          <p:cNvSpPr>
            <a:spLocks noGrp="1"/>
          </p:cNvSpPr>
          <p:nvPr>
            <p:ph type="sldNum" sz="quarter" idx="12"/>
          </p:nvPr>
        </p:nvSpPr>
        <p:spPr/>
        <p:txBody>
          <a:bodyPr/>
          <a:lstStyle/>
          <a:p>
            <a:fld id="{291E2FA6-9605-47D5-89F4-3EA67C449664}" type="slidenum">
              <a:rPr lang="en-US" smtClean="0"/>
              <a:pPr/>
              <a:t>50</a:t>
            </a:fld>
            <a:endParaRPr lang="en-US"/>
          </a:p>
        </p:txBody>
      </p:sp>
      <p:sp>
        <p:nvSpPr>
          <p:cNvPr id="1048695" name="Title 1"/>
          <p:cNvSpPr>
            <a:spLocks noGrp="1"/>
          </p:cNvSpPr>
          <p:nvPr>
            <p:ph type="title"/>
          </p:nvPr>
        </p:nvSpPr>
        <p:spPr/>
        <p:txBody>
          <a:bodyPr>
            <a:normAutofit/>
          </a:bodyPr>
          <a:lstStyle/>
          <a:p>
            <a:r>
              <a:rPr lang="en-US" sz="3600" dirty="0">
                <a:solidFill>
                  <a:srgbClr val="FF0000"/>
                </a:solidFill>
              </a:rPr>
              <a:t>2) Opportunity Identification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2" name="Content Placeholder 2"/>
          <p:cNvSpPr>
            <a:spLocks noGrp="1"/>
          </p:cNvSpPr>
          <p:nvPr>
            <p:ph idx="1"/>
          </p:nvPr>
        </p:nvSpPr>
        <p:spPr>
          <a:xfrm>
            <a:off x="457200" y="1143000"/>
            <a:ext cx="8229600" cy="5334000"/>
          </a:xfrm>
          <a:ln>
            <a:solidFill>
              <a:srgbClr val="FF0000"/>
            </a:solidFill>
          </a:ln>
        </p:spPr>
        <p:txBody>
          <a:bodyPr>
            <a:normAutofit fontScale="73125" lnSpcReduction="20000"/>
          </a:bodyPr>
          <a:lstStyle/>
          <a:p>
            <a:pPr>
              <a:lnSpc>
                <a:spcPct val="170000"/>
              </a:lnSpc>
            </a:pPr>
            <a:r>
              <a:rPr lang="en-US" dirty="0">
                <a:latin typeface="Californian FB" pitchFamily="18" charset="0"/>
              </a:rPr>
              <a:t>Opportunity screening and evaluation is a critical element of the entrepreneurial process. </a:t>
            </a:r>
          </a:p>
          <a:p>
            <a:pPr>
              <a:lnSpc>
                <a:spcPct val="170000"/>
              </a:lnSpc>
            </a:pPr>
            <a:r>
              <a:rPr lang="en-US" dirty="0">
                <a:latin typeface="Californian FB" pitchFamily="18" charset="0"/>
              </a:rPr>
              <a:t>It allows the entrepreneur to assess whether the specific product or service has the returns needed for the resources required.</a:t>
            </a:r>
          </a:p>
          <a:p>
            <a:pPr>
              <a:lnSpc>
                <a:spcPct val="170000"/>
              </a:lnSpc>
              <a:buNone/>
            </a:pPr>
            <a:r>
              <a:rPr lang="en-US" dirty="0">
                <a:solidFill>
                  <a:srgbClr val="00B0F0"/>
                </a:solidFill>
                <a:latin typeface="Californian FB" pitchFamily="18" charset="0"/>
              </a:rPr>
              <a:t>It involves:</a:t>
            </a:r>
          </a:p>
          <a:p>
            <a:pPr>
              <a:lnSpc>
                <a:spcPct val="170000"/>
              </a:lnSpc>
              <a:buFont typeface="Wingdings" pitchFamily="2" charset="2"/>
              <a:buChar char="Ø"/>
            </a:pPr>
            <a:r>
              <a:rPr lang="en-US" dirty="0">
                <a:latin typeface="Californian FB" pitchFamily="18" charset="0"/>
              </a:rPr>
              <a:t>looking at the creation and length of the opportunity</a:t>
            </a:r>
          </a:p>
          <a:p>
            <a:pPr>
              <a:lnSpc>
                <a:spcPct val="170000"/>
              </a:lnSpc>
              <a:buFont typeface="Wingdings" pitchFamily="2" charset="2"/>
              <a:buChar char="Ø"/>
            </a:pPr>
            <a:r>
              <a:rPr lang="en-US" dirty="0">
                <a:latin typeface="Californian FB" pitchFamily="18" charset="0"/>
              </a:rPr>
              <a:t> Its real and perceived value</a:t>
            </a:r>
          </a:p>
          <a:p>
            <a:pPr>
              <a:lnSpc>
                <a:spcPct val="170000"/>
              </a:lnSpc>
              <a:buFont typeface="Wingdings" pitchFamily="2" charset="2"/>
              <a:buChar char="Ø"/>
            </a:pPr>
            <a:r>
              <a:rPr lang="en-US" dirty="0">
                <a:latin typeface="Californian FB" pitchFamily="18" charset="0"/>
              </a:rPr>
              <a:t> Its risks and returns,</a:t>
            </a:r>
          </a:p>
          <a:p>
            <a:pPr>
              <a:lnSpc>
                <a:spcPct val="170000"/>
              </a:lnSpc>
              <a:buFont typeface="Wingdings" pitchFamily="2" charset="2"/>
              <a:buChar char="Ø"/>
            </a:pPr>
            <a:r>
              <a:rPr lang="en-US" dirty="0">
                <a:latin typeface="Californian FB" pitchFamily="18" charset="0"/>
              </a:rPr>
              <a:t> Its fit with the personal skills and goals of the entrepreneur, </a:t>
            </a:r>
          </a:p>
          <a:p>
            <a:pPr>
              <a:lnSpc>
                <a:spcPct val="170000"/>
              </a:lnSpc>
              <a:buFont typeface="Wingdings" pitchFamily="2" charset="2"/>
              <a:buChar char="Ø"/>
            </a:pPr>
            <a:r>
              <a:rPr lang="en-US" dirty="0">
                <a:latin typeface="Californian FB" pitchFamily="18" charset="0"/>
              </a:rPr>
              <a:t> Its differential advantage in its competitive environment.</a:t>
            </a:r>
            <a:r>
              <a:rPr lang="en-US" dirty="0"/>
              <a:t> </a:t>
            </a:r>
          </a:p>
        </p:txBody>
      </p:sp>
      <p:sp>
        <p:nvSpPr>
          <p:cNvPr id="1048703" name="Slide Number Placeholder 3"/>
          <p:cNvSpPr>
            <a:spLocks noGrp="1"/>
          </p:cNvSpPr>
          <p:nvPr>
            <p:ph type="sldNum" sz="quarter" idx="12"/>
          </p:nvPr>
        </p:nvSpPr>
        <p:spPr/>
        <p:txBody>
          <a:bodyPr/>
          <a:lstStyle/>
          <a:p>
            <a:fld id="{291E2FA6-9605-47D5-89F4-3EA67C449664}" type="slidenum">
              <a:rPr lang="en-US" smtClean="0"/>
              <a:pPr/>
              <a:t>51</a:t>
            </a:fld>
            <a:endParaRPr lang="en-US"/>
          </a:p>
        </p:txBody>
      </p:sp>
      <p:sp>
        <p:nvSpPr>
          <p:cNvPr id="1048701" name="Title 1"/>
          <p:cNvSpPr>
            <a:spLocks noGrp="1"/>
          </p:cNvSpPr>
          <p:nvPr>
            <p:ph type="title"/>
          </p:nvPr>
        </p:nvSpPr>
        <p:spPr/>
        <p:txBody>
          <a:bodyPr>
            <a:normAutofit/>
          </a:bodyPr>
          <a:lstStyle/>
          <a:p>
            <a:r>
              <a:rPr lang="en-US" sz="3600" dirty="0">
                <a:solidFill>
                  <a:srgbClr val="FF0000"/>
                </a:solidFill>
              </a:rPr>
              <a:t>4) Opportunity Evaluation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5" name="Content Placeholder 2"/>
          <p:cNvSpPr>
            <a:spLocks noGrp="1"/>
          </p:cNvSpPr>
          <p:nvPr>
            <p:ph idx="1"/>
          </p:nvPr>
        </p:nvSpPr>
        <p:spPr>
          <a:xfrm>
            <a:off x="457200" y="1219200"/>
            <a:ext cx="8229600" cy="5105400"/>
          </a:xfrm>
          <a:ln>
            <a:solidFill>
              <a:srgbClr val="FF0000"/>
            </a:solidFill>
          </a:ln>
        </p:spPr>
        <p:txBody>
          <a:bodyPr>
            <a:normAutofit fontScale="96875"/>
          </a:bodyPr>
          <a:lstStyle/>
          <a:p>
            <a:pPr algn="just"/>
            <a:r>
              <a:rPr lang="en-US" dirty="0">
                <a:latin typeface="Californian FB" pitchFamily="18" charset="0"/>
              </a:rPr>
              <a:t>Helps to assess the strong skills of team</a:t>
            </a:r>
          </a:p>
          <a:p>
            <a:pPr algn="just">
              <a:buNone/>
            </a:pPr>
            <a:r>
              <a:rPr lang="en-US" dirty="0">
                <a:latin typeface="Californian FB" pitchFamily="18" charset="0"/>
              </a:rPr>
              <a:t>Team factors and questions:</a:t>
            </a:r>
          </a:p>
          <a:p>
            <a:pPr algn="just"/>
            <a:r>
              <a:rPr lang="en-US" dirty="0">
                <a:solidFill>
                  <a:srgbClr val="002060"/>
                </a:solidFill>
                <a:effectLst>
                  <a:outerShdw blurRad="38100" dist="38100" dir="2700000" algn="tl">
                    <a:srgbClr val="000000">
                      <a:alpha val="43137"/>
                    </a:srgbClr>
                  </a:outerShdw>
                </a:effectLst>
                <a:latin typeface="Californian FB" pitchFamily="18" charset="0"/>
              </a:rPr>
              <a:t>Focus</a:t>
            </a:r>
            <a:r>
              <a:rPr lang="en-US" dirty="0">
                <a:latin typeface="Californian FB" pitchFamily="18" charset="0"/>
              </a:rPr>
              <a:t>: Is the founder really an entrepreneur?</a:t>
            </a:r>
          </a:p>
          <a:p>
            <a:pPr algn="just"/>
            <a:r>
              <a:rPr lang="en-US" dirty="0">
                <a:solidFill>
                  <a:srgbClr val="002060"/>
                </a:solidFill>
                <a:effectLst>
                  <a:outerShdw blurRad="38100" dist="38100" dir="2700000" algn="tl">
                    <a:srgbClr val="000000">
                      <a:alpha val="43137"/>
                    </a:srgbClr>
                  </a:outerShdw>
                </a:effectLst>
                <a:latin typeface="Californian FB" pitchFamily="18" charset="0"/>
              </a:rPr>
              <a:t>Selling</a:t>
            </a:r>
            <a:r>
              <a:rPr lang="en-US" dirty="0">
                <a:latin typeface="Californian FB" pitchFamily="18" charset="0"/>
              </a:rPr>
              <a:t>:  Does the team have the necessary selling and closing skills?</a:t>
            </a:r>
          </a:p>
          <a:p>
            <a:pPr algn="just"/>
            <a:r>
              <a:rPr lang="en-US" dirty="0">
                <a:solidFill>
                  <a:srgbClr val="002060"/>
                </a:solidFill>
                <a:effectLst>
                  <a:outerShdw blurRad="38100" dist="38100" dir="2700000" algn="tl">
                    <a:srgbClr val="000000">
                      <a:alpha val="43137"/>
                    </a:srgbClr>
                  </a:outerShdw>
                </a:effectLst>
                <a:latin typeface="Californian FB" pitchFamily="18" charset="0"/>
              </a:rPr>
              <a:t>Management</a:t>
            </a:r>
            <a:r>
              <a:rPr lang="en-US" dirty="0">
                <a:latin typeface="Californian FB" pitchFamily="18" charset="0"/>
              </a:rPr>
              <a:t>:  Who will work full time? Does the team have the necessary management and technical skills? </a:t>
            </a:r>
          </a:p>
          <a:p>
            <a:pPr algn="just"/>
            <a:r>
              <a:rPr lang="en-US" dirty="0">
                <a:solidFill>
                  <a:srgbClr val="002060"/>
                </a:solidFill>
                <a:effectLst>
                  <a:outerShdw blurRad="38100" dist="38100" dir="2700000" algn="tl">
                    <a:srgbClr val="000000">
                      <a:alpha val="43137"/>
                    </a:srgbClr>
                  </a:outerShdw>
                </a:effectLst>
                <a:latin typeface="Californian FB" pitchFamily="18" charset="0"/>
              </a:rPr>
              <a:t>Ownership</a:t>
            </a:r>
            <a:r>
              <a:rPr lang="en-US" dirty="0">
                <a:latin typeface="Californian FB" pitchFamily="18" charset="0"/>
              </a:rPr>
              <a:t>: the critical decisions about ownership and equity</a:t>
            </a:r>
          </a:p>
        </p:txBody>
      </p:sp>
      <p:sp>
        <p:nvSpPr>
          <p:cNvPr id="1048706" name="Slide Number Placeholder 3"/>
          <p:cNvSpPr>
            <a:spLocks noGrp="1"/>
          </p:cNvSpPr>
          <p:nvPr>
            <p:ph type="sldNum" sz="quarter" idx="12"/>
          </p:nvPr>
        </p:nvSpPr>
        <p:spPr/>
        <p:txBody>
          <a:bodyPr/>
          <a:lstStyle/>
          <a:p>
            <a:fld id="{291E2FA6-9605-47D5-89F4-3EA67C449664}" type="slidenum">
              <a:rPr lang="en-US" smtClean="0"/>
              <a:pPr/>
              <a:t>52</a:t>
            </a:fld>
            <a:endParaRPr lang="en-US"/>
          </a:p>
        </p:txBody>
      </p:sp>
      <p:sp>
        <p:nvSpPr>
          <p:cNvPr id="1048704" name="Title 1"/>
          <p:cNvSpPr>
            <a:spLocks noGrp="1"/>
          </p:cNvSpPr>
          <p:nvPr>
            <p:ph type="title"/>
          </p:nvPr>
        </p:nvSpPr>
        <p:spPr/>
        <p:txBody>
          <a:bodyPr>
            <a:normAutofit/>
          </a:bodyPr>
          <a:lstStyle/>
          <a:p>
            <a:r>
              <a:rPr lang="en-US" sz="2400" dirty="0">
                <a:solidFill>
                  <a:srgbClr val="FF0000"/>
                </a:solidFill>
              </a:rPr>
              <a:t>5) Assessment of the Entrepreneurial Team</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8" name="Content Placeholder 2"/>
          <p:cNvSpPr>
            <a:spLocks noGrp="1"/>
          </p:cNvSpPr>
          <p:nvPr>
            <p:ph idx="1"/>
          </p:nvPr>
        </p:nvSpPr>
        <p:spPr>
          <a:xfrm>
            <a:off x="457200" y="1219200"/>
            <a:ext cx="8229600" cy="5105400"/>
          </a:xfrm>
          <a:ln>
            <a:solidFill>
              <a:srgbClr val="FF0000"/>
            </a:solidFill>
          </a:ln>
        </p:spPr>
        <p:txBody>
          <a:bodyPr>
            <a:normAutofit fontScale="96429"/>
          </a:bodyPr>
          <a:lstStyle/>
          <a:p>
            <a:pPr algn="just"/>
            <a:r>
              <a:rPr lang="en-US" sz="2800" dirty="0">
                <a:latin typeface="Californian FB" pitchFamily="18" charset="0"/>
              </a:rPr>
              <a:t>A </a:t>
            </a:r>
            <a:r>
              <a:rPr lang="en-US" sz="2800" dirty="0">
                <a:solidFill>
                  <a:srgbClr val="002060"/>
                </a:solidFill>
                <a:effectLst>
                  <a:outerShdw blurRad="38100" dist="38100" dir="2700000" algn="tl">
                    <a:srgbClr val="000000">
                      <a:alpha val="43137"/>
                    </a:srgbClr>
                  </a:outerShdw>
                </a:effectLst>
                <a:latin typeface="Californian FB" pitchFamily="18" charset="0"/>
              </a:rPr>
              <a:t>business idea </a:t>
            </a:r>
            <a:r>
              <a:rPr lang="en-US" sz="2800" dirty="0">
                <a:latin typeface="Californian FB" pitchFamily="18" charset="0"/>
              </a:rPr>
              <a:t>is a short and precise description of the basic operation of an intended business. There are three types of business ideas. </a:t>
            </a:r>
          </a:p>
          <a:p>
            <a:pPr marL="514350" indent="-514350" algn="just">
              <a:buAutoNum type="arabicPeriod"/>
            </a:pPr>
            <a:r>
              <a:rPr lang="en-US" sz="2800" b="1" dirty="0">
                <a:solidFill>
                  <a:srgbClr val="002060"/>
                </a:solidFill>
                <a:effectLst>
                  <a:outerShdw blurRad="38100" dist="38100" dir="2700000" algn="tl">
                    <a:srgbClr val="000000">
                      <a:alpha val="43137"/>
                    </a:srgbClr>
                  </a:outerShdw>
                </a:effectLst>
                <a:latin typeface="Californian FB" pitchFamily="18" charset="0"/>
              </a:rPr>
              <a:t>Old Idea </a:t>
            </a:r>
            <a:r>
              <a:rPr lang="en-US" sz="2800" dirty="0">
                <a:latin typeface="Californian FB" pitchFamily="18" charset="0"/>
              </a:rPr>
              <a:t>– Here an individual copies an existing business idea from someone. </a:t>
            </a:r>
          </a:p>
          <a:p>
            <a:pPr marL="514350" indent="-514350" algn="just">
              <a:buAutoNum type="arabicPeriod"/>
            </a:pPr>
            <a:r>
              <a:rPr lang="en-US" sz="2800" dirty="0">
                <a:solidFill>
                  <a:srgbClr val="002060"/>
                </a:solidFill>
                <a:effectLst>
                  <a:outerShdw blurRad="38100" dist="38100" dir="2700000" algn="tl">
                    <a:srgbClr val="000000">
                      <a:alpha val="43137"/>
                    </a:srgbClr>
                  </a:outerShdw>
                </a:effectLst>
                <a:latin typeface="Californian FB" pitchFamily="18" charset="0"/>
              </a:rPr>
              <a:t> </a:t>
            </a:r>
            <a:r>
              <a:rPr lang="en-US" sz="2800" b="1" dirty="0">
                <a:solidFill>
                  <a:srgbClr val="002060"/>
                </a:solidFill>
                <a:effectLst>
                  <a:outerShdw blurRad="38100" dist="38100" dir="2700000" algn="tl">
                    <a:srgbClr val="000000">
                      <a:alpha val="43137"/>
                    </a:srgbClr>
                  </a:outerShdw>
                </a:effectLst>
                <a:latin typeface="Californian FB" pitchFamily="18" charset="0"/>
              </a:rPr>
              <a:t>Old Idea with Modification </a:t>
            </a:r>
            <a:r>
              <a:rPr lang="en-US" sz="2800" dirty="0">
                <a:latin typeface="Californian FB" pitchFamily="18" charset="0"/>
              </a:rPr>
              <a:t>– In this case the person accepts an old idea from someone and then modifies it in some way to fit a potential customer’s demand. </a:t>
            </a:r>
          </a:p>
          <a:p>
            <a:pPr marL="514350" indent="-514350" algn="just">
              <a:buAutoNum type="arabicPeriod"/>
            </a:pPr>
            <a:r>
              <a:rPr lang="en-US" sz="2800" b="1" dirty="0">
                <a:latin typeface="Californian FB" pitchFamily="18" charset="0"/>
              </a:rPr>
              <a:t>A </a:t>
            </a:r>
            <a:r>
              <a:rPr lang="en-US" sz="2800" b="1" dirty="0">
                <a:solidFill>
                  <a:srgbClr val="002060"/>
                </a:solidFill>
                <a:effectLst>
                  <a:outerShdw blurRad="38100" dist="38100" dir="2700000" algn="tl">
                    <a:srgbClr val="000000">
                      <a:alpha val="43137"/>
                    </a:srgbClr>
                  </a:outerShdw>
                </a:effectLst>
                <a:latin typeface="Californian FB" pitchFamily="18" charset="0"/>
              </a:rPr>
              <a:t>New Idea </a:t>
            </a:r>
            <a:r>
              <a:rPr lang="en-US" sz="2800" dirty="0">
                <a:latin typeface="Californian FB" pitchFamily="18" charset="0"/>
              </a:rPr>
              <a:t>– This one involves the invention of something new for the first time</a:t>
            </a:r>
          </a:p>
        </p:txBody>
      </p:sp>
      <p:sp>
        <p:nvSpPr>
          <p:cNvPr id="1048709" name="Slide Number Placeholder 3"/>
          <p:cNvSpPr>
            <a:spLocks noGrp="1"/>
          </p:cNvSpPr>
          <p:nvPr>
            <p:ph type="sldNum" sz="quarter" idx="12"/>
          </p:nvPr>
        </p:nvSpPr>
        <p:spPr/>
        <p:txBody>
          <a:bodyPr/>
          <a:lstStyle/>
          <a:p>
            <a:fld id="{291E2FA6-9605-47D5-89F4-3EA67C449664}" type="slidenum">
              <a:rPr lang="en-US" smtClean="0"/>
              <a:pPr/>
              <a:t>53</a:t>
            </a:fld>
            <a:endParaRPr lang="en-US"/>
          </a:p>
        </p:txBody>
      </p:sp>
      <p:sp>
        <p:nvSpPr>
          <p:cNvPr id="1048707" name="Title 1"/>
          <p:cNvSpPr>
            <a:spLocks noGrp="1"/>
          </p:cNvSpPr>
          <p:nvPr>
            <p:ph type="title"/>
          </p:nvPr>
        </p:nvSpPr>
        <p:spPr>
          <a:solidFill>
            <a:srgbClr val="00B0F0"/>
          </a:solidFill>
        </p:spPr>
        <p:txBody>
          <a:bodyPr>
            <a:normAutofit/>
          </a:bodyPr>
          <a:lstStyle/>
          <a:p>
            <a:r>
              <a:rPr lang="en-US" sz="3600" dirty="0">
                <a:solidFill>
                  <a:srgbClr val="7030A0"/>
                </a:solidFill>
              </a:rPr>
              <a:t>2.3 Business Idea Development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1" name="Content Placeholder 2"/>
          <p:cNvSpPr>
            <a:spLocks noGrp="1"/>
          </p:cNvSpPr>
          <p:nvPr>
            <p:ph idx="1"/>
          </p:nvPr>
        </p:nvSpPr>
        <p:spPr>
          <a:xfrm>
            <a:off x="228600" y="1143000"/>
            <a:ext cx="8686800" cy="4983163"/>
          </a:xfrm>
          <a:ln>
            <a:solidFill>
              <a:srgbClr val="FF0000"/>
            </a:solidFill>
          </a:ln>
        </p:spPr>
        <p:txBody>
          <a:bodyPr/>
          <a:lstStyle/>
          <a:p>
            <a:pPr>
              <a:buNone/>
            </a:pPr>
            <a:endParaRPr lang="en-US" dirty="0"/>
          </a:p>
          <a:p>
            <a:pPr>
              <a:lnSpc>
                <a:spcPct val="150000"/>
              </a:lnSpc>
              <a:buNone/>
            </a:pPr>
            <a:r>
              <a:rPr lang="en-US" sz="2800" dirty="0">
                <a:latin typeface="Californian FB" pitchFamily="18" charset="0"/>
              </a:rPr>
              <a:t>2.4.1 Will Your Business Fulfill the Customers Need?</a:t>
            </a:r>
          </a:p>
          <a:p>
            <a:pPr>
              <a:lnSpc>
                <a:spcPct val="150000"/>
              </a:lnSpc>
              <a:buNone/>
            </a:pPr>
            <a:r>
              <a:rPr lang="en-US" sz="2800" dirty="0">
                <a:latin typeface="Californian FB" pitchFamily="18" charset="0"/>
              </a:rPr>
              <a:t>2.4.2 Good or Service will your Business Sell?</a:t>
            </a:r>
          </a:p>
          <a:p>
            <a:pPr>
              <a:lnSpc>
                <a:spcPct val="150000"/>
              </a:lnSpc>
              <a:buNone/>
            </a:pPr>
            <a:r>
              <a:rPr lang="en-US" sz="2800" dirty="0">
                <a:latin typeface="Californian FB" pitchFamily="18" charset="0"/>
              </a:rPr>
              <a:t>2.4.3 Identifies Potential Customer</a:t>
            </a:r>
          </a:p>
          <a:p>
            <a:pPr>
              <a:lnSpc>
                <a:spcPct val="150000"/>
              </a:lnSpc>
              <a:buNone/>
            </a:pPr>
            <a:r>
              <a:rPr lang="en-US" sz="2800" dirty="0">
                <a:latin typeface="Californian FB" pitchFamily="18" charset="0"/>
              </a:rPr>
              <a:t>2.4.4 Strategy for Selling Goods or Services </a:t>
            </a:r>
          </a:p>
          <a:p>
            <a:pPr>
              <a:lnSpc>
                <a:spcPct val="150000"/>
              </a:lnSpc>
              <a:buNone/>
            </a:pPr>
            <a:r>
              <a:rPr lang="en-US" sz="2800" dirty="0">
                <a:latin typeface="Californian FB" pitchFamily="18" charset="0"/>
              </a:rPr>
              <a:t>2.4.5 Relation between Business and Environment</a:t>
            </a:r>
          </a:p>
        </p:txBody>
      </p:sp>
      <p:sp>
        <p:nvSpPr>
          <p:cNvPr id="1048712" name="Slide Number Placeholder 3"/>
          <p:cNvSpPr>
            <a:spLocks noGrp="1"/>
          </p:cNvSpPr>
          <p:nvPr>
            <p:ph type="sldNum" sz="quarter" idx="12"/>
          </p:nvPr>
        </p:nvSpPr>
        <p:spPr/>
        <p:txBody>
          <a:bodyPr/>
          <a:lstStyle/>
          <a:p>
            <a:fld id="{291E2FA6-9605-47D5-89F4-3EA67C449664}" type="slidenum">
              <a:rPr lang="en-US" smtClean="0"/>
              <a:pPr/>
              <a:t>54</a:t>
            </a:fld>
            <a:endParaRPr lang="en-US"/>
          </a:p>
        </p:txBody>
      </p:sp>
      <p:sp>
        <p:nvSpPr>
          <p:cNvPr id="1048710" name="Title 1"/>
          <p:cNvSpPr>
            <a:spLocks noGrp="1"/>
          </p:cNvSpPr>
          <p:nvPr>
            <p:ph type="title"/>
          </p:nvPr>
        </p:nvSpPr>
        <p:spPr>
          <a:solidFill>
            <a:srgbClr val="00B0F0"/>
          </a:solidFill>
        </p:spPr>
        <p:txBody>
          <a:bodyPr>
            <a:normAutofit/>
          </a:bodyPr>
          <a:lstStyle/>
          <a:p>
            <a:r>
              <a:rPr lang="en-US" sz="3600" dirty="0">
                <a:solidFill>
                  <a:srgbClr val="7030A0"/>
                </a:solidFill>
              </a:rPr>
              <a:t>2.4 Business Idea Identification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extLst>
          </p:cNvPr>
          <p:cNvSpPr>
            <a:spLocks noGrp="1"/>
          </p:cNvSpPr>
          <p:nvPr>
            <p:ph type="title"/>
          </p:nvPr>
        </p:nvSpPr>
        <p:spPr>
          <a:xfrm>
            <a:off x="990600" y="274638"/>
            <a:ext cx="8153400" cy="1143000"/>
          </a:xfrm>
          <a:solidFill>
            <a:srgbClr val="00B0F0"/>
          </a:solidFill>
        </p:spPr>
        <p:txBody>
          <a:bodyPr rtlCol="0">
            <a:normAutofit fontScale="90000"/>
          </a:bodyPr>
          <a:lstStyle/>
          <a:p>
            <a:pPr eaLnBrk="1" fontAlgn="auto" hangingPunct="1">
              <a:spcAft>
                <a:spcPts val="0"/>
              </a:spcAft>
              <a:defRPr/>
            </a:pPr>
            <a:r>
              <a:rPr lang="en-US" altLang="en-US" b="1" dirty="0" smtClean="0">
                <a:solidFill>
                  <a:schemeClr val="bg1"/>
                </a:solidFill>
                <a:latin typeface="Times New Roman" pitchFamily="18" charset="0"/>
                <a:cs typeface="Times New Roman" pitchFamily="18" charset="0"/>
              </a:rPr>
              <a:t>     Sources </a:t>
            </a:r>
            <a:r>
              <a:rPr lang="en-US" altLang="en-US" b="1" dirty="0">
                <a:solidFill>
                  <a:schemeClr val="bg1"/>
                </a:solidFill>
                <a:latin typeface="Times New Roman" pitchFamily="18" charset="0"/>
                <a:cs typeface="Times New Roman" pitchFamily="18" charset="0"/>
              </a:rPr>
              <a:t>of New Ideas</a:t>
            </a:r>
            <a:r>
              <a:rPr lang="en-US" altLang="en-US" b="1" i="1" dirty="0">
                <a:latin typeface="Times New Roman" pitchFamily="18" charset="0"/>
                <a:cs typeface="Times New Roman" pitchFamily="18" charset="0"/>
              </a:rPr>
              <a:t/>
            </a:r>
            <a:br>
              <a:rPr lang="en-US" altLang="en-US" b="1" i="1" dirty="0">
                <a:latin typeface="Times New Roman" pitchFamily="18" charset="0"/>
                <a:cs typeface="Times New Roman" pitchFamily="18" charset="0"/>
              </a:rPr>
            </a:br>
            <a:endParaRPr lang="en-US" dirty="0"/>
          </a:p>
        </p:txBody>
      </p:sp>
      <p:sp>
        <p:nvSpPr>
          <p:cNvPr id="64515" name="Content Placeholder 2"/>
          <p:cNvSpPr>
            <a:spLocks noGrp="1"/>
          </p:cNvSpPr>
          <p:nvPr>
            <p:ph idx="1"/>
          </p:nvPr>
        </p:nvSpPr>
        <p:spPr>
          <a:xfrm>
            <a:off x="990600" y="1447800"/>
            <a:ext cx="7943850" cy="5257800"/>
          </a:xfrm>
        </p:spPr>
        <p:txBody>
          <a:bodyPr/>
          <a:lstStyle/>
          <a:p>
            <a:pPr lvl="2" eaLnBrk="1" hangingPunct="1">
              <a:buFont typeface="Wingdings" pitchFamily="2" charset="2"/>
              <a:buChar char="v"/>
            </a:pPr>
            <a:r>
              <a:rPr lang="en-US" altLang="en-US" sz="2800" i="1" smtClean="0">
                <a:cs typeface="Times New Roman" pitchFamily="18" charset="0"/>
              </a:rPr>
              <a:t>Observing the market</a:t>
            </a:r>
          </a:p>
          <a:p>
            <a:pPr lvl="2" eaLnBrk="1" hangingPunct="1">
              <a:buFont typeface="Wingdings" pitchFamily="2" charset="2"/>
              <a:buChar char="v"/>
            </a:pPr>
            <a:r>
              <a:rPr lang="en-US" altLang="en-US" sz="2800" i="1" smtClean="0">
                <a:cs typeface="Times New Roman" pitchFamily="18" charset="0"/>
              </a:rPr>
              <a:t>Consumers</a:t>
            </a:r>
          </a:p>
          <a:p>
            <a:pPr lvl="2" eaLnBrk="1" hangingPunct="1">
              <a:buFont typeface="Wingdings" pitchFamily="2" charset="2"/>
              <a:buChar char="v"/>
            </a:pPr>
            <a:r>
              <a:rPr lang="en-US" altLang="en-US" sz="2800" i="1" smtClean="0">
                <a:cs typeface="Times New Roman" pitchFamily="18" charset="0"/>
              </a:rPr>
              <a:t>Existing Companies: </a:t>
            </a:r>
          </a:p>
          <a:p>
            <a:pPr lvl="2" eaLnBrk="1" hangingPunct="1">
              <a:buFont typeface="Wingdings" pitchFamily="2" charset="2"/>
              <a:buChar char="v"/>
            </a:pPr>
            <a:r>
              <a:rPr lang="en-US" altLang="en-US" sz="2800" i="1" smtClean="0">
                <a:cs typeface="Times New Roman" pitchFamily="18" charset="0"/>
              </a:rPr>
              <a:t>Distribution Channels</a:t>
            </a:r>
          </a:p>
          <a:p>
            <a:pPr lvl="2" eaLnBrk="1" hangingPunct="1">
              <a:buFont typeface="Wingdings" pitchFamily="2" charset="2"/>
              <a:buChar char="v"/>
            </a:pPr>
            <a:r>
              <a:rPr lang="en-US" altLang="en-US" sz="2800" i="1" smtClean="0">
                <a:cs typeface="Times New Roman" pitchFamily="18" charset="0"/>
              </a:rPr>
              <a:t>Federal and Regional Governments</a:t>
            </a:r>
          </a:p>
          <a:p>
            <a:pPr lvl="2" eaLnBrk="1" hangingPunct="1">
              <a:buFont typeface="Wingdings" pitchFamily="2" charset="2"/>
              <a:buChar char="v"/>
            </a:pPr>
            <a:r>
              <a:rPr lang="en-US" altLang="en-US" sz="2800" i="1" smtClean="0">
                <a:cs typeface="Times New Roman" pitchFamily="18" charset="0"/>
              </a:rPr>
              <a:t>Research and Development</a:t>
            </a:r>
          </a:p>
          <a:p>
            <a:pPr lvl="2" eaLnBrk="1" hangingPunct="1">
              <a:buFont typeface="Wingdings" pitchFamily="2" charset="2"/>
              <a:buChar char="v"/>
            </a:pPr>
            <a:r>
              <a:rPr lang="en-US" altLang="en-US" sz="2800" i="1" smtClean="0"/>
              <a:t>Development in other nations</a:t>
            </a:r>
          </a:p>
          <a:p>
            <a:pPr lvl="2" eaLnBrk="1" hangingPunct="1">
              <a:buFont typeface="Wingdings" pitchFamily="2" charset="2"/>
              <a:buChar char="v"/>
            </a:pPr>
            <a:r>
              <a:rPr lang="en-US" altLang="en-US" sz="2800" i="1" smtClean="0"/>
              <a:t>Trade fairs and exhibitions</a:t>
            </a:r>
          </a:p>
          <a:p>
            <a:pPr lvl="2" eaLnBrk="1" hangingPunct="1">
              <a:buFont typeface="Wingdings" pitchFamily="2" charset="2"/>
              <a:buChar char="v"/>
            </a:pPr>
            <a:r>
              <a:rPr lang="en-US" altLang="en-US" sz="2800" i="1" smtClean="0"/>
              <a:t>Hobbies and interests</a:t>
            </a:r>
          </a:p>
          <a:p>
            <a:pPr lvl="2" eaLnBrk="1" hangingPunct="1">
              <a:buFont typeface="Wingdings" pitchFamily="2" charset="2"/>
              <a:buChar char="v"/>
            </a:pPr>
            <a:r>
              <a:rPr lang="en-US" altLang="en-US" sz="2800" i="1" smtClean="0"/>
              <a:t>Mass media</a:t>
            </a:r>
          </a:p>
          <a:p>
            <a:pPr eaLnBrk="1" hangingPunct="1"/>
            <a:endParaRPr lang="en-US" altLang="en-US" sz="2400" i="1" smtClean="0">
              <a:cs typeface="Times New Roman" pitchFamily="18" charset="0"/>
            </a:endParaRPr>
          </a:p>
          <a:p>
            <a:pPr lvl="1" eaLnBrk="1" hangingPunct="1"/>
            <a:endParaRPr lang="en-US" altLang="en-US" sz="2400" i="1" smtClean="0">
              <a:cs typeface="Times New Roman" pitchFamily="18"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4" name="Content Placeholder 2"/>
          <p:cNvSpPr>
            <a:spLocks noGrp="1"/>
          </p:cNvSpPr>
          <p:nvPr>
            <p:ph idx="1"/>
          </p:nvPr>
        </p:nvSpPr>
        <p:spPr>
          <a:xfrm>
            <a:off x="304800" y="990600"/>
            <a:ext cx="8382000" cy="5410200"/>
          </a:xfrm>
          <a:ln>
            <a:solidFill>
              <a:schemeClr val="accent1"/>
            </a:solidFill>
          </a:ln>
        </p:spPr>
        <p:txBody>
          <a:bodyPr>
            <a:noAutofit/>
          </a:bodyPr>
          <a:lstStyle/>
          <a:p>
            <a:pPr>
              <a:lnSpc>
                <a:spcPct val="150000"/>
              </a:lnSpc>
              <a:buBlip>
                <a:blip r:embed="rId2"/>
              </a:buBlip>
            </a:pPr>
            <a:r>
              <a:rPr lang="en-US" sz="2400" dirty="0">
                <a:latin typeface="Californian FB" pitchFamily="18" charset="0"/>
              </a:rPr>
              <a:t>Your business can only be sustainable in the long run if it works in harmony with the social and natural environment. </a:t>
            </a:r>
          </a:p>
          <a:p>
            <a:pPr>
              <a:lnSpc>
                <a:spcPct val="150000"/>
              </a:lnSpc>
              <a:buBlip>
                <a:blip r:embed="rId2"/>
              </a:buBlip>
            </a:pPr>
            <a:r>
              <a:rPr lang="en-US" sz="2400" dirty="0">
                <a:latin typeface="Californian FB" pitchFamily="18" charset="0"/>
              </a:rPr>
              <a:t>How much does your business depend on the environment? </a:t>
            </a:r>
          </a:p>
          <a:p>
            <a:pPr>
              <a:lnSpc>
                <a:spcPct val="150000"/>
              </a:lnSpc>
              <a:buBlip>
                <a:blip r:embed="rId2"/>
              </a:buBlip>
            </a:pPr>
            <a:r>
              <a:rPr lang="en-US" sz="2400" dirty="0">
                <a:latin typeface="Californian FB" pitchFamily="18" charset="0"/>
              </a:rPr>
              <a:t>Does it rely on the weather, soil or other natural resources? </a:t>
            </a:r>
          </a:p>
          <a:p>
            <a:pPr>
              <a:lnSpc>
                <a:spcPct val="150000"/>
              </a:lnSpc>
              <a:buBlip>
                <a:blip r:embed="rId2"/>
              </a:buBlip>
            </a:pPr>
            <a:r>
              <a:rPr lang="en-US" sz="2400" dirty="0">
                <a:latin typeface="Californian FB" pitchFamily="18" charset="0"/>
              </a:rPr>
              <a:t>Does it need the local community to support it? </a:t>
            </a:r>
          </a:p>
          <a:p>
            <a:pPr>
              <a:lnSpc>
                <a:spcPct val="150000"/>
              </a:lnSpc>
              <a:buBlip>
                <a:blip r:embed="rId2"/>
              </a:buBlip>
            </a:pPr>
            <a:r>
              <a:rPr lang="en-US" sz="2400" dirty="0">
                <a:latin typeface="Californian FB" pitchFamily="18" charset="0"/>
              </a:rPr>
              <a:t>your business nurtures the natural environment and helps the local community? </a:t>
            </a:r>
          </a:p>
          <a:p>
            <a:pPr>
              <a:lnSpc>
                <a:spcPct val="150000"/>
              </a:lnSpc>
              <a:buBlip>
                <a:blip r:embed="rId2"/>
              </a:buBlip>
            </a:pPr>
            <a:r>
              <a:rPr lang="en-US" sz="2400" dirty="0">
                <a:latin typeface="Californian FB" pitchFamily="18" charset="0"/>
              </a:rPr>
              <a:t>How would you minimize or reverse any negative effect that your business might have?</a:t>
            </a:r>
          </a:p>
        </p:txBody>
      </p:sp>
      <p:sp>
        <p:nvSpPr>
          <p:cNvPr id="1048715" name="Slide Number Placeholder 3"/>
          <p:cNvSpPr>
            <a:spLocks noGrp="1"/>
          </p:cNvSpPr>
          <p:nvPr>
            <p:ph type="sldNum" sz="quarter" idx="12"/>
          </p:nvPr>
        </p:nvSpPr>
        <p:spPr/>
        <p:txBody>
          <a:bodyPr/>
          <a:lstStyle/>
          <a:p>
            <a:fld id="{291E2FA6-9605-47D5-89F4-3EA67C449664}" type="slidenum">
              <a:rPr lang="en-US" smtClean="0"/>
              <a:pPr/>
              <a:t>56</a:t>
            </a:fld>
            <a:endParaRPr lang="en-US"/>
          </a:p>
        </p:txBody>
      </p:sp>
      <p:sp>
        <p:nvSpPr>
          <p:cNvPr id="1048713" name="Title 1"/>
          <p:cNvSpPr>
            <a:spLocks noGrp="1"/>
          </p:cNvSpPr>
          <p:nvPr>
            <p:ph type="title"/>
          </p:nvPr>
        </p:nvSpPr>
        <p:spPr>
          <a:xfrm>
            <a:off x="304800" y="274638"/>
            <a:ext cx="8382000" cy="715962"/>
          </a:xfrm>
          <a:solidFill>
            <a:srgbClr val="00B0F0"/>
          </a:solidFill>
          <a:ln>
            <a:solidFill>
              <a:srgbClr val="FF0000"/>
            </a:solidFill>
          </a:ln>
        </p:spPr>
        <p:txBody>
          <a:bodyPr>
            <a:noAutofit/>
          </a:bodyPr>
          <a:lstStyle/>
          <a:p>
            <a:r>
              <a:rPr lang="en-US" sz="2800" dirty="0"/>
              <a:t>Relation b/n Business and Environment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7" name="Content Placeholder 2"/>
          <p:cNvSpPr>
            <a:spLocks noGrp="1"/>
          </p:cNvSpPr>
          <p:nvPr>
            <p:ph idx="1"/>
          </p:nvPr>
        </p:nvSpPr>
        <p:spPr>
          <a:xfrm>
            <a:off x="457200" y="1143000"/>
            <a:ext cx="8229600" cy="5257800"/>
          </a:xfrm>
          <a:ln>
            <a:solidFill>
              <a:schemeClr val="accent1"/>
            </a:solidFill>
          </a:ln>
        </p:spPr>
        <p:txBody>
          <a:bodyPr>
            <a:normAutofit/>
          </a:bodyPr>
          <a:lstStyle/>
          <a:p>
            <a:r>
              <a:rPr lang="en-US" dirty="0">
                <a:solidFill>
                  <a:srgbClr val="002060"/>
                </a:solidFill>
                <a:effectLst>
                  <a:outerShdw blurRad="38100" dist="38100" dir="2700000" algn="tl">
                    <a:srgbClr val="000000">
                      <a:alpha val="43137"/>
                    </a:srgbClr>
                  </a:outerShdw>
                </a:effectLst>
                <a:latin typeface="Californian FB" pitchFamily="18" charset="0"/>
              </a:rPr>
              <a:t>Approaches to generating business ideas</a:t>
            </a:r>
            <a:r>
              <a:rPr lang="en-US" dirty="0">
                <a:solidFill>
                  <a:srgbClr val="002060"/>
                </a:solidFill>
                <a:latin typeface="Californian FB" pitchFamily="18" charset="0"/>
              </a:rPr>
              <a:t>:</a:t>
            </a:r>
          </a:p>
          <a:p>
            <a:pPr marL="514350" indent="-514350">
              <a:buAutoNum type="arabicPeriod"/>
            </a:pPr>
            <a:r>
              <a:rPr lang="en-US" dirty="0">
                <a:solidFill>
                  <a:srgbClr val="002060"/>
                </a:solidFill>
                <a:latin typeface="Californian FB" pitchFamily="18" charset="0"/>
              </a:rPr>
              <a:t>Learn from successful business owners</a:t>
            </a:r>
          </a:p>
          <a:p>
            <a:pPr marL="514350" indent="-514350">
              <a:buAutoNum type="arabicPeriod"/>
            </a:pPr>
            <a:r>
              <a:rPr lang="en-US" dirty="0">
                <a:solidFill>
                  <a:srgbClr val="002060"/>
                </a:solidFill>
                <a:latin typeface="Californian FB" pitchFamily="18" charset="0"/>
              </a:rPr>
              <a:t>Draw From Experience (own &amp;others)</a:t>
            </a:r>
          </a:p>
          <a:p>
            <a:pPr marL="514350" indent="-514350">
              <a:buAutoNum type="arabicPeriod"/>
            </a:pPr>
            <a:r>
              <a:rPr lang="en-US" dirty="0">
                <a:solidFill>
                  <a:srgbClr val="002060"/>
                </a:solidFill>
                <a:latin typeface="Californian FB" pitchFamily="18" charset="0"/>
              </a:rPr>
              <a:t>Survey Your Local Business Area</a:t>
            </a:r>
          </a:p>
          <a:p>
            <a:pPr marL="514350" indent="-514350">
              <a:buAutoNum type="arabicPeriod"/>
            </a:pPr>
            <a:r>
              <a:rPr lang="en-US" dirty="0">
                <a:solidFill>
                  <a:srgbClr val="002060"/>
                </a:solidFill>
                <a:latin typeface="Californian FB" pitchFamily="18" charset="0"/>
              </a:rPr>
              <a:t>Scanning Your Environment</a:t>
            </a:r>
          </a:p>
          <a:p>
            <a:pPr marL="514350" indent="-514350">
              <a:buAutoNum type="arabicPeriod"/>
            </a:pPr>
            <a:r>
              <a:rPr lang="en-US" dirty="0">
                <a:solidFill>
                  <a:srgbClr val="002060"/>
                </a:solidFill>
                <a:latin typeface="Californian FB" pitchFamily="18" charset="0"/>
              </a:rPr>
              <a:t> Brainstorming</a:t>
            </a:r>
          </a:p>
          <a:p>
            <a:pPr marL="514350" indent="-514350">
              <a:buAutoNum type="arabicPeriod"/>
            </a:pPr>
            <a:r>
              <a:rPr lang="en-US" dirty="0">
                <a:solidFill>
                  <a:srgbClr val="002060"/>
                </a:solidFill>
                <a:latin typeface="Californian FB" pitchFamily="18" charset="0"/>
              </a:rPr>
              <a:t>Structured Brainstorming</a:t>
            </a:r>
          </a:p>
          <a:p>
            <a:pPr marL="514350" indent="-514350">
              <a:buAutoNum type="arabicPeriod"/>
            </a:pPr>
            <a:r>
              <a:rPr lang="en-US" dirty="0">
                <a:solidFill>
                  <a:srgbClr val="002060"/>
                </a:solidFill>
                <a:latin typeface="Californian FB" pitchFamily="18" charset="0"/>
              </a:rPr>
              <a:t>Focus Group</a:t>
            </a:r>
          </a:p>
          <a:p>
            <a:pPr marL="514350" indent="-514350">
              <a:buAutoNum type="arabicPeriod"/>
            </a:pPr>
            <a:r>
              <a:rPr lang="en-US" dirty="0">
                <a:solidFill>
                  <a:srgbClr val="002060"/>
                </a:solidFill>
                <a:latin typeface="Californian FB" pitchFamily="18" charset="0"/>
              </a:rPr>
              <a:t>Problem Inventory Analysis </a:t>
            </a:r>
          </a:p>
          <a:p>
            <a:pPr marL="514350" indent="-514350">
              <a:buNone/>
            </a:pPr>
            <a:endParaRPr lang="en-US" dirty="0"/>
          </a:p>
        </p:txBody>
      </p:sp>
      <p:sp>
        <p:nvSpPr>
          <p:cNvPr id="1048718" name="Slide Number Placeholder 3"/>
          <p:cNvSpPr>
            <a:spLocks noGrp="1"/>
          </p:cNvSpPr>
          <p:nvPr>
            <p:ph type="sldNum" sz="quarter" idx="12"/>
          </p:nvPr>
        </p:nvSpPr>
        <p:spPr/>
        <p:txBody>
          <a:bodyPr/>
          <a:lstStyle/>
          <a:p>
            <a:fld id="{291E2FA6-9605-47D5-89F4-3EA67C449664}" type="slidenum">
              <a:rPr lang="en-US" smtClean="0"/>
              <a:pPr/>
              <a:t>57</a:t>
            </a:fld>
            <a:endParaRPr lang="en-US"/>
          </a:p>
        </p:txBody>
      </p:sp>
      <p:sp>
        <p:nvSpPr>
          <p:cNvPr id="1048716" name="Title 1"/>
          <p:cNvSpPr>
            <a:spLocks noGrp="1"/>
          </p:cNvSpPr>
          <p:nvPr>
            <p:ph type="title"/>
          </p:nvPr>
        </p:nvSpPr>
        <p:spPr>
          <a:xfrm>
            <a:off x="457200" y="274638"/>
            <a:ext cx="8229600" cy="868362"/>
          </a:xfrm>
          <a:solidFill>
            <a:srgbClr val="00B0F0"/>
          </a:solidFill>
          <a:ln>
            <a:solidFill>
              <a:srgbClr val="FF0000"/>
            </a:solidFill>
          </a:ln>
        </p:spPr>
        <p:txBody>
          <a:bodyPr>
            <a:normAutofit/>
          </a:bodyPr>
          <a:lstStyle/>
          <a:p>
            <a:r>
              <a:rPr lang="en-US" sz="2800" dirty="0"/>
              <a:t>2.5 Methods for Generating Business Ideas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0" name="Content Placeholder 2"/>
          <p:cNvSpPr>
            <a:spLocks noGrp="1"/>
          </p:cNvSpPr>
          <p:nvPr>
            <p:ph idx="1"/>
          </p:nvPr>
        </p:nvSpPr>
        <p:spPr>
          <a:xfrm>
            <a:off x="457200" y="1066800"/>
            <a:ext cx="8229600" cy="5334000"/>
          </a:xfrm>
          <a:ln>
            <a:solidFill>
              <a:srgbClr val="FF0000"/>
            </a:solidFill>
          </a:ln>
        </p:spPr>
        <p:txBody>
          <a:bodyPr/>
          <a:lstStyle/>
          <a:p>
            <a:pPr algn="just">
              <a:lnSpc>
                <a:spcPct val="150000"/>
              </a:lnSpc>
              <a:buNone/>
            </a:pPr>
            <a:r>
              <a:rPr lang="en-US" dirty="0">
                <a:solidFill>
                  <a:srgbClr val="FF0000"/>
                </a:solidFill>
              </a:rPr>
              <a:t>1) </a:t>
            </a:r>
            <a:r>
              <a:rPr lang="en-US" sz="2400" dirty="0">
                <a:solidFill>
                  <a:srgbClr val="FF0000"/>
                </a:solidFill>
                <a:effectLst>
                  <a:outerShdw blurRad="38100" dist="38100" dir="2700000" algn="tl">
                    <a:srgbClr val="000000">
                      <a:alpha val="43137"/>
                    </a:srgbClr>
                  </a:outerShdw>
                </a:effectLst>
                <a:latin typeface="Californian FB" pitchFamily="18" charset="0"/>
              </a:rPr>
              <a:t>Macro screening</a:t>
            </a:r>
            <a:r>
              <a:rPr lang="en-US" sz="2400" dirty="0">
                <a:solidFill>
                  <a:srgbClr val="FF0000"/>
                </a:solidFill>
                <a:latin typeface="Californian FB" pitchFamily="18" charset="0"/>
              </a:rPr>
              <a:t>: </a:t>
            </a:r>
            <a:r>
              <a:rPr lang="en-US" sz="2400" dirty="0">
                <a:solidFill>
                  <a:srgbClr val="002060"/>
                </a:solidFill>
                <a:latin typeface="Californian FB" pitchFamily="18" charset="0"/>
              </a:rPr>
              <a:t>is aimed screening down ideas to 10. </a:t>
            </a:r>
          </a:p>
          <a:p>
            <a:pPr algn="just">
              <a:lnSpc>
                <a:spcPct val="150000"/>
              </a:lnSpc>
            </a:pPr>
            <a:r>
              <a:rPr lang="en-US" sz="2400" dirty="0">
                <a:solidFill>
                  <a:srgbClr val="002060"/>
                </a:solidFill>
                <a:latin typeface="Californian FB" pitchFamily="18" charset="0"/>
              </a:rPr>
              <a:t>And the common criteria are: </a:t>
            </a:r>
          </a:p>
          <a:p>
            <a:pPr algn="just">
              <a:lnSpc>
                <a:spcPct val="150000"/>
              </a:lnSpc>
            </a:pPr>
            <a:r>
              <a:rPr lang="en-US" sz="2400" dirty="0">
                <a:solidFill>
                  <a:srgbClr val="002060"/>
                </a:solidFill>
                <a:latin typeface="Californian FB" pitchFamily="18" charset="0"/>
              </a:rPr>
              <a:t> Are my own competencies? </a:t>
            </a:r>
          </a:p>
          <a:p>
            <a:pPr algn="just">
              <a:lnSpc>
                <a:spcPct val="150000"/>
              </a:lnSpc>
            </a:pPr>
            <a:r>
              <a:rPr lang="en-US" sz="2400" dirty="0">
                <a:solidFill>
                  <a:srgbClr val="002060"/>
                </a:solidFill>
                <a:latin typeface="Californian FB" pitchFamily="18" charset="0"/>
              </a:rPr>
              <a:t>Can I finance it to a large extent with my own equity? </a:t>
            </a:r>
          </a:p>
          <a:p>
            <a:pPr algn="just">
              <a:lnSpc>
                <a:spcPct val="150000"/>
              </a:lnSpc>
            </a:pPr>
            <a:r>
              <a:rPr lang="en-US" sz="2400" dirty="0">
                <a:solidFill>
                  <a:srgbClr val="002060"/>
                </a:solidFill>
                <a:latin typeface="Californian FB" pitchFamily="18" charset="0"/>
              </a:rPr>
              <a:t>Will people buy my product/service</a:t>
            </a:r>
          </a:p>
        </p:txBody>
      </p:sp>
      <p:sp>
        <p:nvSpPr>
          <p:cNvPr id="1048721" name="Slide Number Placeholder 3"/>
          <p:cNvSpPr>
            <a:spLocks noGrp="1"/>
          </p:cNvSpPr>
          <p:nvPr>
            <p:ph type="sldNum" sz="quarter" idx="12"/>
          </p:nvPr>
        </p:nvSpPr>
        <p:spPr/>
        <p:txBody>
          <a:bodyPr/>
          <a:lstStyle/>
          <a:p>
            <a:fld id="{291E2FA6-9605-47D5-89F4-3EA67C449664}" type="slidenum">
              <a:rPr lang="en-US" smtClean="0"/>
              <a:pPr/>
              <a:t>58</a:t>
            </a:fld>
            <a:endParaRPr lang="en-US"/>
          </a:p>
        </p:txBody>
      </p:sp>
      <p:sp>
        <p:nvSpPr>
          <p:cNvPr id="1048719" name="Title 1"/>
          <p:cNvSpPr>
            <a:spLocks noGrp="1"/>
          </p:cNvSpPr>
          <p:nvPr>
            <p:ph type="title"/>
          </p:nvPr>
        </p:nvSpPr>
        <p:spPr>
          <a:xfrm>
            <a:off x="457200" y="274638"/>
            <a:ext cx="8229600" cy="792162"/>
          </a:xfrm>
          <a:solidFill>
            <a:srgbClr val="00B0F0"/>
          </a:solidFill>
          <a:ln>
            <a:solidFill>
              <a:srgbClr val="FF0000"/>
            </a:solidFill>
          </a:ln>
        </p:spPr>
        <p:txBody>
          <a:bodyPr>
            <a:normAutofit/>
          </a:bodyPr>
          <a:lstStyle/>
          <a:p>
            <a:r>
              <a:rPr lang="en-US" sz="3600" dirty="0"/>
              <a:t>2.6 Business Idea Screening</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3" name="Content Placeholder 2"/>
          <p:cNvSpPr>
            <a:spLocks noGrp="1"/>
          </p:cNvSpPr>
          <p:nvPr>
            <p:ph idx="1"/>
          </p:nvPr>
        </p:nvSpPr>
        <p:spPr>
          <a:ln>
            <a:solidFill>
              <a:srgbClr val="FF0000"/>
            </a:solidFill>
          </a:ln>
        </p:spPr>
        <p:txBody>
          <a:bodyPr/>
          <a:lstStyle/>
          <a:p>
            <a:pPr>
              <a:lnSpc>
                <a:spcPct val="150000"/>
              </a:lnSpc>
              <a:buNone/>
            </a:pPr>
            <a:r>
              <a:rPr lang="en-US" dirty="0">
                <a:solidFill>
                  <a:srgbClr val="FF0000"/>
                </a:solidFill>
              </a:rPr>
              <a:t>2) </a:t>
            </a:r>
            <a:r>
              <a:rPr lang="en-US" sz="2400" dirty="0">
                <a:solidFill>
                  <a:srgbClr val="FF0000"/>
                </a:solidFill>
                <a:effectLst>
                  <a:outerShdw blurRad="38100" dist="38100" dir="2700000" algn="tl">
                    <a:srgbClr val="000000">
                      <a:alpha val="43137"/>
                    </a:srgbClr>
                  </a:outerShdw>
                </a:effectLst>
              </a:rPr>
              <a:t>Micro Screening</a:t>
            </a:r>
            <a:r>
              <a:rPr lang="en-US" sz="2400" dirty="0">
                <a:solidFill>
                  <a:srgbClr val="002060"/>
                </a:solidFill>
              </a:rPr>
              <a:t>: is aimed screening down ideas into 3. </a:t>
            </a:r>
          </a:p>
          <a:p>
            <a:pPr>
              <a:lnSpc>
                <a:spcPct val="150000"/>
              </a:lnSpc>
              <a:buFont typeface="Wingdings" pitchFamily="2" charset="2"/>
              <a:buChar char="v"/>
            </a:pPr>
            <a:r>
              <a:rPr lang="en-US" sz="2400" dirty="0">
                <a:solidFill>
                  <a:srgbClr val="002060"/>
                </a:solidFill>
              </a:rPr>
              <a:t>The common criteria used for screening are:</a:t>
            </a:r>
          </a:p>
          <a:p>
            <a:pPr>
              <a:lnSpc>
                <a:spcPct val="150000"/>
              </a:lnSpc>
              <a:buFont typeface="Wingdings" pitchFamily="2" charset="2"/>
              <a:buChar char="Ø"/>
            </a:pPr>
            <a:r>
              <a:rPr lang="en-US" sz="2400" dirty="0">
                <a:solidFill>
                  <a:srgbClr val="002060"/>
                </a:solidFill>
              </a:rPr>
              <a:t>Solvent demand </a:t>
            </a:r>
          </a:p>
          <a:p>
            <a:pPr>
              <a:lnSpc>
                <a:spcPct val="150000"/>
              </a:lnSpc>
              <a:buFont typeface="Wingdings" pitchFamily="2" charset="2"/>
              <a:buChar char="Ø"/>
            </a:pPr>
            <a:r>
              <a:rPr lang="en-US" sz="2400" dirty="0">
                <a:solidFill>
                  <a:srgbClr val="002060"/>
                </a:solidFill>
              </a:rPr>
              <a:t> Availability of raw materials </a:t>
            </a:r>
          </a:p>
          <a:p>
            <a:pPr>
              <a:lnSpc>
                <a:spcPct val="150000"/>
              </a:lnSpc>
              <a:buFont typeface="Wingdings" pitchFamily="2" charset="2"/>
              <a:buChar char="Ø"/>
            </a:pPr>
            <a:r>
              <a:rPr lang="en-US" sz="2400" dirty="0">
                <a:solidFill>
                  <a:srgbClr val="002060"/>
                </a:solidFill>
              </a:rPr>
              <a:t> Availability of personal skills </a:t>
            </a:r>
          </a:p>
          <a:p>
            <a:pPr>
              <a:lnSpc>
                <a:spcPct val="150000"/>
              </a:lnSpc>
              <a:buFont typeface="Wingdings" pitchFamily="2" charset="2"/>
              <a:buChar char="Ø"/>
            </a:pPr>
            <a:r>
              <a:rPr lang="en-US" sz="2400" dirty="0">
                <a:solidFill>
                  <a:srgbClr val="002060"/>
                </a:solidFill>
              </a:rPr>
              <a:t> Availability of financial resources</a:t>
            </a:r>
          </a:p>
        </p:txBody>
      </p:sp>
      <p:sp>
        <p:nvSpPr>
          <p:cNvPr id="1048724" name="Slide Number Placeholder 3"/>
          <p:cNvSpPr>
            <a:spLocks noGrp="1"/>
          </p:cNvSpPr>
          <p:nvPr>
            <p:ph type="sldNum" sz="quarter" idx="12"/>
          </p:nvPr>
        </p:nvSpPr>
        <p:spPr/>
        <p:txBody>
          <a:bodyPr/>
          <a:lstStyle/>
          <a:p>
            <a:fld id="{291E2FA6-9605-47D5-89F4-3EA67C449664}" type="slidenum">
              <a:rPr lang="en-US" smtClean="0"/>
              <a:pPr/>
              <a:t>59</a:t>
            </a:fld>
            <a:endParaRPr lang="en-US"/>
          </a:p>
        </p:txBody>
      </p:sp>
      <p:sp>
        <p:nvSpPr>
          <p:cNvPr id="1048722" name="Title 1"/>
          <p:cNvSpPr>
            <a:spLocks noGrp="1"/>
          </p:cNvSpPr>
          <p:nvPr>
            <p:ph type="title"/>
          </p:nvPr>
        </p:nvSpPr>
        <p:spPr/>
        <p:txBody>
          <a:bodyPr/>
          <a:lstStyle/>
          <a:p>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a:solidFill>
            <a:srgbClr val="00B0F0"/>
          </a:solidFill>
        </p:spPr>
        <p:txBody>
          <a:bodyPr>
            <a:normAutofit/>
          </a:bodyPr>
          <a:lstStyle/>
          <a:p>
            <a:pPr eaLnBrk="1" hangingPunct="1"/>
            <a:r>
              <a:rPr lang="en-US" sz="2000" b="1" dirty="0" smtClean="0">
                <a:solidFill>
                  <a:srgbClr val="FF0000"/>
                </a:solidFill>
              </a:rPr>
              <a:t>THE FUNNEL MODEL FOR IDEA GENERATION and SCREENING</a:t>
            </a:r>
          </a:p>
        </p:txBody>
      </p:sp>
      <p:sp>
        <p:nvSpPr>
          <p:cNvPr id="69635" name="Content Placeholder 2"/>
          <p:cNvSpPr>
            <a:spLocks noGrp="1"/>
          </p:cNvSpPr>
          <p:nvPr>
            <p:ph idx="1"/>
          </p:nvPr>
        </p:nvSpPr>
        <p:spPr>
          <a:xfrm>
            <a:off x="990600" y="1371600"/>
            <a:ext cx="7696200" cy="5334000"/>
          </a:xfrm>
        </p:spPr>
        <p:txBody>
          <a:bodyPr>
            <a:normAutofit fontScale="92500"/>
          </a:bodyPr>
          <a:lstStyle/>
          <a:p>
            <a:pPr eaLnBrk="1" hangingPunct="1"/>
            <a:endParaRPr lang="en-US" altLang="en-US" sz="2400" b="1" smtClean="0">
              <a:solidFill>
                <a:srgbClr val="7030A0"/>
              </a:solidFill>
            </a:endParaRPr>
          </a:p>
          <a:p>
            <a:pPr eaLnBrk="1" hangingPunct="1"/>
            <a:r>
              <a:rPr lang="en-US" altLang="en-US" sz="2400" b="1" smtClean="0">
                <a:solidFill>
                  <a:srgbClr val="7030A0"/>
                </a:solidFill>
              </a:rPr>
              <a:t>Brainstorming                                   500-1000 ideas</a:t>
            </a:r>
          </a:p>
          <a:p>
            <a:pPr eaLnBrk="1" hangingPunct="1"/>
            <a:endParaRPr lang="en-US" altLang="en-US" sz="2400" b="1" smtClean="0">
              <a:solidFill>
                <a:srgbClr val="7030A0"/>
              </a:solidFill>
            </a:endParaRPr>
          </a:p>
          <a:p>
            <a:pPr eaLnBrk="1" hangingPunct="1"/>
            <a:endParaRPr lang="en-US" altLang="en-US" sz="2400" b="1" smtClean="0">
              <a:solidFill>
                <a:srgbClr val="7030A0"/>
              </a:solidFill>
            </a:endParaRPr>
          </a:p>
          <a:p>
            <a:pPr eaLnBrk="1" hangingPunct="1"/>
            <a:endParaRPr lang="en-US" altLang="en-US" sz="2400" b="1" smtClean="0">
              <a:solidFill>
                <a:srgbClr val="7030A0"/>
              </a:solidFill>
            </a:endParaRPr>
          </a:p>
          <a:p>
            <a:pPr eaLnBrk="1" hangingPunct="1"/>
            <a:r>
              <a:rPr lang="en-US" altLang="en-US" sz="2400" b="1" smtClean="0">
                <a:solidFill>
                  <a:srgbClr val="7030A0"/>
                </a:solidFill>
              </a:rPr>
              <a:t>Macro screening                             10 project ideas</a:t>
            </a:r>
          </a:p>
          <a:p>
            <a:pPr eaLnBrk="1" hangingPunct="1"/>
            <a:endParaRPr lang="en-US" altLang="en-US" sz="2400" b="1" smtClean="0">
              <a:solidFill>
                <a:srgbClr val="7030A0"/>
              </a:solidFill>
            </a:endParaRPr>
          </a:p>
          <a:p>
            <a:pPr eaLnBrk="1" hangingPunct="1"/>
            <a:r>
              <a:rPr lang="en-US" altLang="en-US" sz="2400" b="1" smtClean="0">
                <a:solidFill>
                  <a:srgbClr val="7030A0"/>
                </a:solidFill>
              </a:rPr>
              <a:t>Micro screening                           3 project ideas</a:t>
            </a:r>
          </a:p>
          <a:p>
            <a:pPr eaLnBrk="1" hangingPunct="1"/>
            <a:endParaRPr lang="en-US" altLang="en-US" sz="2400" b="1" smtClean="0">
              <a:solidFill>
                <a:srgbClr val="7030A0"/>
              </a:solidFill>
            </a:endParaRPr>
          </a:p>
          <a:p>
            <a:pPr eaLnBrk="1" hangingPunct="1"/>
            <a:endParaRPr lang="en-US" altLang="en-US" sz="2400" b="1" smtClean="0">
              <a:solidFill>
                <a:srgbClr val="7030A0"/>
              </a:solidFill>
            </a:endParaRPr>
          </a:p>
          <a:p>
            <a:pPr eaLnBrk="1" hangingPunct="1"/>
            <a:r>
              <a:rPr lang="en-US" altLang="en-US" sz="2400" b="1" smtClean="0">
                <a:solidFill>
                  <a:srgbClr val="7030A0"/>
                </a:solidFill>
              </a:rPr>
              <a:t>SWOT analysis			the best project idea</a:t>
            </a:r>
          </a:p>
        </p:txBody>
      </p:sp>
      <p:sp>
        <p:nvSpPr>
          <p:cNvPr id="4" name="Oval 3">
            <a:extLst>
              <a:ext uri="{FF2B5EF4-FFF2-40B4-BE49-F238E27FC236}"/>
            </a:extLst>
          </p:cNvPr>
          <p:cNvSpPr/>
          <p:nvPr/>
        </p:nvSpPr>
        <p:spPr>
          <a:xfrm>
            <a:off x="2819400" y="2133600"/>
            <a:ext cx="3124200" cy="990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solidFill>
                <a:srgbClr val="7030A0"/>
              </a:solidFill>
            </a:endParaRPr>
          </a:p>
        </p:txBody>
      </p:sp>
      <p:cxnSp>
        <p:nvCxnSpPr>
          <p:cNvPr id="6" name="Straight Connector 5">
            <a:extLst>
              <a:ext uri="{FF2B5EF4-FFF2-40B4-BE49-F238E27FC236}"/>
            </a:extLst>
          </p:cNvPr>
          <p:cNvCxnSpPr>
            <a:stCxn id="4" idx="2"/>
          </p:cNvCxnSpPr>
          <p:nvPr/>
        </p:nvCxnSpPr>
        <p:spPr>
          <a:xfrm rot="10800000" flipH="1" flipV="1">
            <a:off x="2819400" y="2628900"/>
            <a:ext cx="990600" cy="2476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extLst>
          </p:cNvPr>
          <p:cNvCxnSpPr>
            <a:stCxn id="4" idx="6"/>
          </p:cNvCxnSpPr>
          <p:nvPr/>
        </p:nvCxnSpPr>
        <p:spPr>
          <a:xfrm flipH="1">
            <a:off x="5257800" y="2628900"/>
            <a:ext cx="685800" cy="2628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extLst>
          </p:cNvPr>
          <p:cNvCxnSpPr>
            <a:endCxn id="20" idx="2"/>
          </p:cNvCxnSpPr>
          <p:nvPr/>
        </p:nvCxnSpPr>
        <p:spPr>
          <a:xfrm rot="16200000" flipH="1">
            <a:off x="3371850" y="5010150"/>
            <a:ext cx="10287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extLst>
          </p:cNvPr>
          <p:cNvCxnSpPr/>
          <p:nvPr/>
        </p:nvCxnSpPr>
        <p:spPr>
          <a:xfrm rot="5400000">
            <a:off x="4686300" y="5143500"/>
            <a:ext cx="914400" cy="76200"/>
          </a:xfrm>
          <a:prstGeom prst="line">
            <a:avLst/>
          </a:prstGeom>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extLst>
          </p:cNvPr>
          <p:cNvSpPr/>
          <p:nvPr/>
        </p:nvSpPr>
        <p:spPr>
          <a:xfrm>
            <a:off x="4038600" y="5257800"/>
            <a:ext cx="10668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7030A0"/>
              </a:solidFill>
            </a:endParaRPr>
          </a:p>
        </p:txBody>
      </p:sp>
      <p:sp>
        <p:nvSpPr>
          <p:cNvPr id="39" name="Oval Callout 38">
            <a:extLst>
              <a:ext uri="{FF2B5EF4-FFF2-40B4-BE49-F238E27FC236}"/>
            </a:extLst>
          </p:cNvPr>
          <p:cNvSpPr/>
          <p:nvPr/>
        </p:nvSpPr>
        <p:spPr>
          <a:xfrm>
            <a:off x="4419600" y="5867400"/>
            <a:ext cx="304800" cy="609600"/>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7030A0"/>
              </a:solidFill>
            </a:endParaRPr>
          </a:p>
        </p:txBody>
      </p:sp>
      <p:cxnSp>
        <p:nvCxnSpPr>
          <p:cNvPr id="55" name="Straight Arrow Connector 54">
            <a:extLst>
              <a:ext uri="{FF2B5EF4-FFF2-40B4-BE49-F238E27FC236}"/>
            </a:extLst>
          </p:cNvPr>
          <p:cNvCxnSpPr/>
          <p:nvPr/>
        </p:nvCxnSpPr>
        <p:spPr>
          <a:xfrm>
            <a:off x="5105400" y="1752600"/>
            <a:ext cx="9144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extLst>
          </p:cNvPr>
          <p:cNvCxnSpPr/>
          <p:nvPr/>
        </p:nvCxnSpPr>
        <p:spPr>
          <a:xfrm flipV="1">
            <a:off x="4800600" y="3810000"/>
            <a:ext cx="15240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extLst>
          </p:cNvPr>
          <p:cNvCxnSpPr/>
          <p:nvPr/>
        </p:nvCxnSpPr>
        <p:spPr>
          <a:xfrm flipV="1">
            <a:off x="4038600" y="4648200"/>
            <a:ext cx="1371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5" name="Content Placeholder 2"/>
          <p:cNvSpPr>
            <a:spLocks noGrp="1"/>
          </p:cNvSpPr>
          <p:nvPr>
            <p:ph idx="1"/>
          </p:nvPr>
        </p:nvSpPr>
        <p:spPr>
          <a:xfrm>
            <a:off x="228600" y="457200"/>
            <a:ext cx="8534400" cy="5867400"/>
          </a:xfrm>
          <a:ln>
            <a:solidFill>
              <a:srgbClr val="FF0000"/>
            </a:solidFill>
          </a:ln>
        </p:spPr>
        <p:txBody>
          <a:bodyPr/>
          <a:lstStyle/>
          <a:p>
            <a:pPr>
              <a:lnSpc>
                <a:spcPct val="150000"/>
              </a:lnSpc>
              <a:buNone/>
            </a:pPr>
            <a:r>
              <a:rPr lang="en-US" dirty="0">
                <a:solidFill>
                  <a:srgbClr val="FF0000"/>
                </a:solidFill>
              </a:rPr>
              <a:t>3. </a:t>
            </a:r>
            <a:r>
              <a:rPr lang="en-US" sz="2400" dirty="0">
                <a:solidFill>
                  <a:srgbClr val="FF0000"/>
                </a:solidFill>
                <a:latin typeface="Californian FB" pitchFamily="18" charset="0"/>
              </a:rPr>
              <a:t>Scoring the Suitability of Business Idea</a:t>
            </a:r>
            <a:r>
              <a:rPr lang="en-US" sz="2400" dirty="0">
                <a:latin typeface="Californian FB" pitchFamily="18" charset="0"/>
              </a:rPr>
              <a:t>: </a:t>
            </a:r>
          </a:p>
          <a:p>
            <a:pPr>
              <a:lnSpc>
                <a:spcPct val="150000"/>
              </a:lnSpc>
              <a:buFont typeface="Wingdings" pitchFamily="2" charset="2"/>
              <a:buChar char="ü"/>
            </a:pPr>
            <a:r>
              <a:rPr lang="en-US" sz="2400" dirty="0">
                <a:latin typeface="Californian FB" pitchFamily="18" charset="0"/>
              </a:rPr>
              <a:t>This approach is most appropriate when deciding on starting a business. </a:t>
            </a:r>
          </a:p>
          <a:p>
            <a:pPr>
              <a:lnSpc>
                <a:spcPct val="150000"/>
              </a:lnSpc>
              <a:buFont typeface="Wingdings" pitchFamily="2" charset="2"/>
              <a:buChar char="ü"/>
            </a:pPr>
            <a:r>
              <a:rPr lang="en-US" sz="2400" dirty="0">
                <a:latin typeface="Californian FB" pitchFamily="18" charset="0"/>
              </a:rPr>
              <a:t>When there are more than one possible business ideas and one needs to decided.</a:t>
            </a:r>
          </a:p>
        </p:txBody>
      </p:sp>
      <p:sp>
        <p:nvSpPr>
          <p:cNvPr id="1048726" name="Slide Number Placeholder 3"/>
          <p:cNvSpPr>
            <a:spLocks noGrp="1"/>
          </p:cNvSpPr>
          <p:nvPr>
            <p:ph type="sldNum" sz="quarter" idx="12"/>
          </p:nvPr>
        </p:nvSpPr>
        <p:spPr/>
        <p:txBody>
          <a:bodyPr/>
          <a:lstStyle/>
          <a:p>
            <a:fld id="{291E2FA6-9605-47D5-89F4-3EA67C449664}" type="slidenum">
              <a:rPr lang="en-US" smtClean="0"/>
              <a:pPr/>
              <a:t>61</a:t>
            </a:fld>
            <a:endParaRPr lang="en-US"/>
          </a:p>
        </p:txBody>
      </p:sp>
      <p:graphicFrame>
        <p:nvGraphicFramePr>
          <p:cNvPr id="4194304" name="Table 4"/>
          <p:cNvGraphicFramePr>
            <a:graphicFrameLocks noGrp="1"/>
          </p:cNvGraphicFramePr>
          <p:nvPr/>
        </p:nvGraphicFramePr>
        <p:xfrm>
          <a:off x="228600" y="3505199"/>
          <a:ext cx="8534400" cy="2727960"/>
        </p:xfrm>
        <a:graphic>
          <a:graphicData uri="http://schemas.openxmlformats.org/drawingml/2006/table">
            <a:tbl>
              <a:tblPr firstRow="1" bandRow="1">
                <a:tableStyleId>{F5AB1C69-6EDB-4FF4-983F-18BD219EF322}</a:tableStyleId>
              </a:tblPr>
              <a:tblGrid>
                <a:gridCol w="768096">
                  <a:extLst>
                    <a:ext uri="{9D8B030D-6E8A-4147-A177-3AD203B41FA5}">
                      <a16:colId xmlns:a16="http://schemas.microsoft.com/office/drawing/2014/main" xmlns="" val="20000"/>
                    </a:ext>
                  </a:extLst>
                </a:gridCol>
                <a:gridCol w="5718048">
                  <a:extLst>
                    <a:ext uri="{9D8B030D-6E8A-4147-A177-3AD203B41FA5}">
                      <a16:colId xmlns:a16="http://schemas.microsoft.com/office/drawing/2014/main" xmlns="" val="20001"/>
                    </a:ext>
                  </a:extLst>
                </a:gridCol>
                <a:gridCol w="676656">
                  <a:extLst>
                    <a:ext uri="{9D8B030D-6E8A-4147-A177-3AD203B41FA5}">
                      <a16:colId xmlns:a16="http://schemas.microsoft.com/office/drawing/2014/main" xmlns="" val="20002"/>
                    </a:ext>
                  </a:extLst>
                </a:gridCol>
                <a:gridCol w="685800">
                  <a:extLst>
                    <a:ext uri="{9D8B030D-6E8A-4147-A177-3AD203B41FA5}">
                      <a16:colId xmlns:a16="http://schemas.microsoft.com/office/drawing/2014/main" xmlns="" val="20003"/>
                    </a:ext>
                  </a:extLst>
                </a:gridCol>
                <a:gridCol w="685800">
                  <a:extLst>
                    <a:ext uri="{9D8B030D-6E8A-4147-A177-3AD203B41FA5}">
                      <a16:colId xmlns:a16="http://schemas.microsoft.com/office/drawing/2014/main" xmlns="" val="20004"/>
                    </a:ext>
                  </a:extLst>
                </a:gridCol>
              </a:tblGrid>
              <a:tr h="375477">
                <a:tc>
                  <a:txBody>
                    <a:bodyPr/>
                    <a:lstStyle/>
                    <a:p>
                      <a:r>
                        <a:rPr lang="en-US" dirty="0">
                          <a:solidFill>
                            <a:srgbClr val="002060"/>
                          </a:solidFill>
                        </a:rPr>
                        <a:t>S/No</a:t>
                      </a:r>
                    </a:p>
                  </a:txBody>
                  <a:tcPr/>
                </a:tc>
                <a:tc>
                  <a:txBody>
                    <a:bodyPr/>
                    <a:lstStyle/>
                    <a:p>
                      <a:r>
                        <a:rPr lang="en-US" dirty="0">
                          <a:solidFill>
                            <a:srgbClr val="002060"/>
                          </a:solidFill>
                        </a:rPr>
                        <a:t>Questions</a:t>
                      </a:r>
                    </a:p>
                  </a:txBody>
                  <a:tcPr/>
                </a:tc>
                <a:tc>
                  <a:txBody>
                    <a:bodyPr/>
                    <a:lstStyle/>
                    <a:p>
                      <a:r>
                        <a:rPr lang="en-US" dirty="0">
                          <a:solidFill>
                            <a:srgbClr val="002060"/>
                          </a:solidFill>
                        </a:rPr>
                        <a:t>BI1</a:t>
                      </a:r>
                    </a:p>
                  </a:txBody>
                  <a:tcPr/>
                </a:tc>
                <a:tc>
                  <a:txBody>
                    <a:bodyPr/>
                    <a:lstStyle/>
                    <a:p>
                      <a:r>
                        <a:rPr lang="en-US" dirty="0">
                          <a:solidFill>
                            <a:srgbClr val="002060"/>
                          </a:solidFill>
                        </a:rPr>
                        <a:t>BI2</a:t>
                      </a:r>
                    </a:p>
                  </a:txBody>
                  <a:tcPr/>
                </a:tc>
                <a:tc>
                  <a:txBody>
                    <a:bodyPr/>
                    <a:lstStyle/>
                    <a:p>
                      <a:r>
                        <a:rPr lang="en-US" dirty="0">
                          <a:solidFill>
                            <a:srgbClr val="002060"/>
                          </a:solidFill>
                        </a:rPr>
                        <a:t>BI3</a:t>
                      </a:r>
                    </a:p>
                  </a:txBody>
                  <a:tcPr/>
                </a:tc>
                <a:extLst>
                  <a:ext uri="{0D108BD9-81ED-4DB2-BD59-A6C34878D82A}">
                    <a16:rowId xmlns:a16="http://schemas.microsoft.com/office/drawing/2014/main" xmlns="" val="10000"/>
                  </a:ext>
                </a:extLst>
              </a:tr>
              <a:tr h="790434">
                <a:tc>
                  <a:txBody>
                    <a:bodyPr/>
                    <a:lstStyle/>
                    <a:p>
                      <a:pPr algn="ctr"/>
                      <a:r>
                        <a:rPr lang="en-US" dirty="0"/>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pPr>
                      <a:r>
                        <a:rPr lang="en-US" dirty="0"/>
                        <a:t>Are you familiar with the operations of this type of business?</a:t>
                      </a:r>
                    </a:p>
                  </a:txBody>
                  <a:tcPr/>
                </a:tc>
                <a:tc>
                  <a:txBody>
                    <a:bodyPr/>
                    <a:lstStyle/>
                    <a:p>
                      <a:r>
                        <a:rPr lang="en-US" dirty="0"/>
                        <a:t>2</a:t>
                      </a:r>
                    </a:p>
                  </a:txBody>
                  <a:tcPr/>
                </a:tc>
                <a:tc>
                  <a:txBody>
                    <a:bodyPr/>
                    <a:lstStyle/>
                    <a:p>
                      <a:r>
                        <a:rPr lang="en-US" dirty="0"/>
                        <a:t>3</a:t>
                      </a:r>
                    </a:p>
                  </a:txBody>
                  <a:tcPr/>
                </a:tc>
                <a:tc>
                  <a:txBody>
                    <a:bodyPr/>
                    <a:lstStyle/>
                    <a:p>
                      <a:r>
                        <a:rPr lang="en-US" dirty="0"/>
                        <a:t>1</a:t>
                      </a:r>
                    </a:p>
                  </a:txBody>
                  <a:tcPr/>
                </a:tc>
                <a:extLst>
                  <a:ext uri="{0D108BD9-81ED-4DB2-BD59-A6C34878D82A}">
                    <a16:rowId xmlns:a16="http://schemas.microsoft.com/office/drawing/2014/main" xmlns="" val="10001"/>
                  </a:ext>
                </a:extLst>
              </a:tr>
              <a:tr h="545776">
                <a:tc>
                  <a:txBody>
                    <a:bodyPr/>
                    <a:lstStyle/>
                    <a:p>
                      <a:pPr algn="ctr"/>
                      <a:r>
                        <a:rPr lang="en-US" dirty="0"/>
                        <a: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pPr>
                      <a:r>
                        <a:rPr lang="en-US" dirty="0"/>
                        <a:t>Does the business meet your investment goals?</a:t>
                      </a:r>
                    </a:p>
                  </a:txBody>
                  <a:tcPr/>
                </a:tc>
                <a:tc>
                  <a:txBody>
                    <a:bodyPr/>
                    <a:lstStyle/>
                    <a:p>
                      <a:r>
                        <a:rPr lang="en-US" dirty="0"/>
                        <a:t>1</a:t>
                      </a:r>
                    </a:p>
                  </a:txBody>
                  <a:tcPr/>
                </a:tc>
                <a:tc>
                  <a:txBody>
                    <a:bodyPr/>
                    <a:lstStyle/>
                    <a:p>
                      <a:r>
                        <a:rPr lang="en-US" dirty="0"/>
                        <a:t>3</a:t>
                      </a:r>
                    </a:p>
                  </a:txBody>
                  <a:tcPr/>
                </a:tc>
                <a:tc>
                  <a:txBody>
                    <a:bodyPr/>
                    <a:lstStyle/>
                    <a:p>
                      <a:r>
                        <a:rPr lang="en-US" dirty="0"/>
                        <a:t>2</a:t>
                      </a:r>
                    </a:p>
                  </a:txBody>
                  <a:tcPr/>
                </a:tc>
                <a:extLst>
                  <a:ext uri="{0D108BD9-81ED-4DB2-BD59-A6C34878D82A}">
                    <a16:rowId xmlns:a16="http://schemas.microsoft.com/office/drawing/2014/main" xmlns="" val="10002"/>
                  </a:ext>
                </a:extLst>
              </a:tr>
              <a:tr h="564596">
                <a:tc>
                  <a:txBody>
                    <a:bodyPr/>
                    <a:lstStyle/>
                    <a:p>
                      <a:pPr algn="ctr"/>
                      <a:r>
                        <a:rPr lang="en-US" dirty="0"/>
                        <a:t>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pPr>
                      <a:r>
                        <a:rPr lang="en-US" dirty="0"/>
                        <a:t>Does the business generate sufficient profits?</a:t>
                      </a:r>
                    </a:p>
                  </a:txBody>
                  <a:tcPr/>
                </a:tc>
                <a:tc>
                  <a:txBody>
                    <a:bodyPr/>
                    <a:lstStyle/>
                    <a:p>
                      <a:r>
                        <a:rPr lang="en-US" dirty="0"/>
                        <a:t>2</a:t>
                      </a:r>
                    </a:p>
                  </a:txBody>
                  <a:tcPr/>
                </a:tc>
                <a:tc>
                  <a:txBody>
                    <a:bodyPr/>
                    <a:lstStyle/>
                    <a:p>
                      <a:r>
                        <a:rPr lang="en-US" dirty="0"/>
                        <a:t>3</a:t>
                      </a:r>
                    </a:p>
                  </a:txBody>
                  <a:tcPr/>
                </a:tc>
                <a:tc>
                  <a:txBody>
                    <a:bodyPr/>
                    <a:lstStyle/>
                    <a:p>
                      <a:r>
                        <a:rPr lang="en-US" dirty="0"/>
                        <a:t>1</a:t>
                      </a:r>
                    </a:p>
                  </a:txBody>
                  <a:tcPr/>
                </a:tc>
                <a:extLst>
                  <a:ext uri="{0D108BD9-81ED-4DB2-BD59-A6C34878D82A}">
                    <a16:rowId xmlns:a16="http://schemas.microsoft.com/office/drawing/2014/main" xmlns="" val="10003"/>
                  </a:ext>
                </a:extLst>
              </a:tr>
              <a:tr h="451677">
                <a:tc>
                  <a:txBody>
                    <a:bodyPr/>
                    <a:lstStyle/>
                    <a:p>
                      <a:endParaRPr lang="en-US"/>
                    </a:p>
                  </a:txBody>
                  <a:tcPr/>
                </a:tc>
                <a:tc>
                  <a:txBody>
                    <a:bodyPr/>
                    <a:lstStyle/>
                    <a:p>
                      <a:r>
                        <a:rPr lang="en-US" dirty="0"/>
                        <a:t>Total</a:t>
                      </a:r>
                    </a:p>
                  </a:txBody>
                  <a:tcPr/>
                </a:tc>
                <a:tc>
                  <a:txBody>
                    <a:bodyPr/>
                    <a:lstStyle/>
                    <a:p>
                      <a:r>
                        <a:rPr lang="en-US" dirty="0"/>
                        <a:t>5</a:t>
                      </a:r>
                    </a:p>
                  </a:txBody>
                  <a:tcPr/>
                </a:tc>
                <a:tc>
                  <a:txBody>
                    <a:bodyPr/>
                    <a:lstStyle/>
                    <a:p>
                      <a:r>
                        <a:rPr lang="en-US" dirty="0"/>
                        <a:t>9</a:t>
                      </a:r>
                      <a:endParaRPr lang="en-US" b="1" dirty="0"/>
                    </a:p>
                  </a:txBody>
                  <a:tcPr/>
                </a:tc>
                <a:tc>
                  <a:txBody>
                    <a:bodyPr/>
                    <a:lstStyle/>
                    <a:p>
                      <a:r>
                        <a:rPr lang="en-US" dirty="0"/>
                        <a:t>4</a:t>
                      </a:r>
                    </a:p>
                  </a:txBody>
                  <a:tcPr/>
                </a:tc>
                <a:extLst>
                  <a:ext uri="{0D108BD9-81ED-4DB2-BD59-A6C34878D82A}">
                    <a16:rowId xmlns:a16="http://schemas.microsoft.com/office/drawing/2014/main" xmlns="" val="10004"/>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7" name="Content Placeholder 2"/>
          <p:cNvSpPr>
            <a:spLocks noGrp="1"/>
          </p:cNvSpPr>
          <p:nvPr>
            <p:ph idx="1"/>
          </p:nvPr>
        </p:nvSpPr>
        <p:spPr>
          <a:xfrm>
            <a:off x="457200" y="990600"/>
            <a:ext cx="8229600" cy="5135563"/>
          </a:xfrm>
          <a:ln>
            <a:solidFill>
              <a:srgbClr val="FF0000"/>
            </a:solidFill>
          </a:ln>
        </p:spPr>
        <p:txBody>
          <a:bodyPr>
            <a:normAutofit/>
          </a:bodyPr>
          <a:lstStyle/>
          <a:p>
            <a:pPr>
              <a:lnSpc>
                <a:spcPct val="150000"/>
              </a:lnSpc>
              <a:buNone/>
            </a:pPr>
            <a:r>
              <a:rPr lang="en-US" sz="2400" i="1" dirty="0">
                <a:solidFill>
                  <a:srgbClr val="FF0000"/>
                </a:solidFill>
                <a:latin typeface="Californian FB" pitchFamily="18" charset="0"/>
              </a:rPr>
              <a:t>To answer the above questions, there are four important groups you talk to:</a:t>
            </a:r>
          </a:p>
          <a:p>
            <a:pPr>
              <a:lnSpc>
                <a:spcPct val="150000"/>
              </a:lnSpc>
              <a:buFont typeface="Wingdings" pitchFamily="2" charset="2"/>
              <a:buChar char="Ø"/>
            </a:pPr>
            <a:r>
              <a:rPr lang="en-US" sz="2800" dirty="0">
                <a:latin typeface="Californian FB" pitchFamily="18" charset="0"/>
              </a:rPr>
              <a:t>Potential customers</a:t>
            </a:r>
          </a:p>
          <a:p>
            <a:pPr>
              <a:lnSpc>
                <a:spcPct val="150000"/>
              </a:lnSpc>
              <a:buFont typeface="Wingdings" pitchFamily="2" charset="2"/>
              <a:buChar char="Ø"/>
            </a:pPr>
            <a:r>
              <a:rPr lang="en-US" sz="2800" dirty="0">
                <a:latin typeface="Californian FB" pitchFamily="18" charset="0"/>
              </a:rPr>
              <a:t>Competitors, suppliers </a:t>
            </a:r>
          </a:p>
          <a:p>
            <a:pPr>
              <a:lnSpc>
                <a:spcPct val="150000"/>
              </a:lnSpc>
              <a:buFont typeface="Wingdings" pitchFamily="2" charset="2"/>
              <a:buChar char="Ø"/>
            </a:pPr>
            <a:r>
              <a:rPr lang="en-US" sz="2800" dirty="0">
                <a:latin typeface="Californian FB" pitchFamily="18" charset="0"/>
              </a:rPr>
              <a:t>Financial institutions</a:t>
            </a:r>
          </a:p>
          <a:p>
            <a:pPr>
              <a:lnSpc>
                <a:spcPct val="150000"/>
              </a:lnSpc>
              <a:buFont typeface="Wingdings" pitchFamily="2" charset="2"/>
              <a:buChar char="Ø"/>
            </a:pPr>
            <a:r>
              <a:rPr lang="en-US" sz="2800" dirty="0">
                <a:latin typeface="Californian FB" pitchFamily="18" charset="0"/>
              </a:rPr>
              <a:t>Key informants and opinion leaders </a:t>
            </a:r>
          </a:p>
        </p:txBody>
      </p:sp>
      <p:sp>
        <p:nvSpPr>
          <p:cNvPr id="1048728" name="Slide Number Placeholder 3"/>
          <p:cNvSpPr>
            <a:spLocks noGrp="1"/>
          </p:cNvSpPr>
          <p:nvPr>
            <p:ph type="sldNum" sz="quarter" idx="12"/>
          </p:nvPr>
        </p:nvSpPr>
        <p:spPr/>
        <p:txBody>
          <a:bodyPr/>
          <a:lstStyle/>
          <a:p>
            <a:fld id="{291E2FA6-9605-47D5-89F4-3EA67C449664}" type="slidenum">
              <a:rPr lang="en-US" smtClean="0"/>
              <a:pPr/>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0" name="Content Placeholder 2"/>
          <p:cNvSpPr>
            <a:spLocks noGrp="1"/>
          </p:cNvSpPr>
          <p:nvPr>
            <p:ph idx="1"/>
          </p:nvPr>
        </p:nvSpPr>
        <p:spPr>
          <a:xfrm>
            <a:off x="457200" y="1143000"/>
            <a:ext cx="8229600" cy="4983163"/>
          </a:xfrm>
          <a:ln>
            <a:solidFill>
              <a:srgbClr val="FF0000"/>
            </a:solidFill>
          </a:ln>
        </p:spPr>
        <p:txBody>
          <a:bodyPr/>
          <a:lstStyle/>
          <a:p>
            <a:pPr algn="just"/>
            <a:endParaRPr lang="en-US" dirty="0" smtClean="0">
              <a:latin typeface="Californian FB" pitchFamily="18" charset="0"/>
            </a:endParaRPr>
          </a:p>
          <a:p>
            <a:pPr algn="just"/>
            <a:r>
              <a:rPr lang="en-US" dirty="0" smtClean="0">
                <a:latin typeface="Californian FB" pitchFamily="18" charset="0"/>
              </a:rPr>
              <a:t>A </a:t>
            </a:r>
            <a:r>
              <a:rPr lang="en-US" dirty="0">
                <a:solidFill>
                  <a:srgbClr val="002060"/>
                </a:solidFill>
                <a:latin typeface="Californian FB" pitchFamily="18" charset="0"/>
              </a:rPr>
              <a:t>business plan is a road map </a:t>
            </a:r>
            <a:r>
              <a:rPr lang="en-US" dirty="0">
                <a:latin typeface="Californian FB" pitchFamily="18" charset="0"/>
              </a:rPr>
              <a:t>for starting and running a business.</a:t>
            </a:r>
          </a:p>
          <a:p>
            <a:pPr algn="just"/>
            <a:r>
              <a:rPr lang="en-US" dirty="0">
                <a:latin typeface="Californian FB" pitchFamily="18" charset="0"/>
              </a:rPr>
              <a:t>A </a:t>
            </a:r>
            <a:r>
              <a:rPr lang="en-US" dirty="0">
                <a:solidFill>
                  <a:srgbClr val="002060"/>
                </a:solidFill>
                <a:latin typeface="Californian FB" pitchFamily="18" charset="0"/>
              </a:rPr>
              <a:t>business plan is the blueprint </a:t>
            </a:r>
            <a:r>
              <a:rPr lang="en-US" dirty="0">
                <a:latin typeface="Californian FB" pitchFamily="18" charset="0"/>
              </a:rPr>
              <a:t>of the step</a:t>
            </a:r>
            <a:r>
              <a:rPr lang="en-US" dirty="0"/>
              <a:t>-</a:t>
            </a:r>
            <a:r>
              <a:rPr lang="en-US" dirty="0">
                <a:latin typeface="Californian FB" pitchFamily="18" charset="0"/>
              </a:rPr>
              <a:t>by</a:t>
            </a:r>
            <a:r>
              <a:rPr lang="en-US" dirty="0"/>
              <a:t>-</a:t>
            </a:r>
            <a:r>
              <a:rPr lang="en-US" dirty="0">
                <a:latin typeface="Californian FB" pitchFamily="18" charset="0"/>
              </a:rPr>
              <a:t>step procedure that would be followed to convert a business idea into a successful business venture</a:t>
            </a:r>
            <a:r>
              <a:rPr lang="en-US" dirty="0"/>
              <a:t>.</a:t>
            </a:r>
          </a:p>
        </p:txBody>
      </p:sp>
      <p:sp>
        <p:nvSpPr>
          <p:cNvPr id="1048731" name="Slide Number Placeholder 3"/>
          <p:cNvSpPr>
            <a:spLocks noGrp="1"/>
          </p:cNvSpPr>
          <p:nvPr>
            <p:ph type="sldNum" sz="quarter" idx="12"/>
          </p:nvPr>
        </p:nvSpPr>
        <p:spPr/>
        <p:txBody>
          <a:bodyPr/>
          <a:lstStyle/>
          <a:p>
            <a:fld id="{291E2FA6-9605-47D5-89F4-3EA67C449664}" type="slidenum">
              <a:rPr lang="en-US" smtClean="0"/>
              <a:pPr/>
              <a:t>63</a:t>
            </a:fld>
            <a:endParaRPr lang="en-US"/>
          </a:p>
        </p:txBody>
      </p:sp>
      <p:sp>
        <p:nvSpPr>
          <p:cNvPr id="1048729" name="Title 1"/>
          <p:cNvSpPr>
            <a:spLocks noGrp="1"/>
          </p:cNvSpPr>
          <p:nvPr>
            <p:ph type="title"/>
          </p:nvPr>
        </p:nvSpPr>
        <p:spPr>
          <a:solidFill>
            <a:srgbClr val="00B0F0"/>
          </a:solidFill>
        </p:spPr>
        <p:txBody>
          <a:bodyPr>
            <a:normAutofit/>
          </a:bodyPr>
          <a:lstStyle/>
          <a:p>
            <a:r>
              <a:rPr lang="en-US" sz="3200" dirty="0"/>
              <a:t>2.7 Concept of Business Plan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3" name="Content Placeholder 2"/>
          <p:cNvSpPr>
            <a:spLocks noGrp="1"/>
          </p:cNvSpPr>
          <p:nvPr>
            <p:ph idx="1"/>
          </p:nvPr>
        </p:nvSpPr>
        <p:spPr>
          <a:xfrm>
            <a:off x="228600" y="1600200"/>
            <a:ext cx="8763000" cy="4525963"/>
          </a:xfrm>
          <a:ln>
            <a:solidFill>
              <a:srgbClr val="FF0000"/>
            </a:solidFill>
          </a:ln>
        </p:spPr>
        <p:txBody>
          <a:bodyPr>
            <a:normAutofit/>
          </a:bodyPr>
          <a:lstStyle/>
          <a:p>
            <a:pPr marL="0" indent="0">
              <a:buNone/>
            </a:pPr>
            <a:r>
              <a:rPr lang="en-US" dirty="0">
                <a:latin typeface="Californian FB" pitchFamily="18" charset="0"/>
              </a:rPr>
              <a:t>2.8.1 </a:t>
            </a:r>
            <a:r>
              <a:rPr lang="en-US" dirty="0">
                <a:solidFill>
                  <a:srgbClr val="002060"/>
                </a:solidFill>
                <a:effectLst>
                  <a:outerShdw blurRad="38100" dist="38100" dir="2700000" algn="tl">
                    <a:srgbClr val="000000">
                      <a:alpha val="43137"/>
                    </a:srgbClr>
                  </a:outerShdw>
                </a:effectLst>
                <a:latin typeface="Californian FB" pitchFamily="18" charset="0"/>
              </a:rPr>
              <a:t>Business Planning Process</a:t>
            </a:r>
          </a:p>
          <a:p>
            <a:pPr>
              <a:buNone/>
            </a:pPr>
            <a:r>
              <a:rPr lang="en-US" dirty="0">
                <a:latin typeface="Californian FB" pitchFamily="18" charset="0"/>
              </a:rPr>
              <a:t>Steps involved in business planning process </a:t>
            </a:r>
          </a:p>
          <a:p>
            <a:pPr marL="514350" indent="-514350">
              <a:buAutoNum type="arabicParenR"/>
            </a:pPr>
            <a:r>
              <a:rPr lang="en-US" dirty="0">
                <a:latin typeface="Californian FB" pitchFamily="18" charset="0"/>
              </a:rPr>
              <a:t>Preliminary Investigation</a:t>
            </a:r>
          </a:p>
          <a:p>
            <a:pPr marL="514350" indent="-514350">
              <a:buAutoNum type="arabicParenR"/>
            </a:pPr>
            <a:r>
              <a:rPr lang="en-US" dirty="0">
                <a:latin typeface="Californian FB" pitchFamily="18" charset="0"/>
              </a:rPr>
              <a:t> Opportunity Identification and Idea Generation</a:t>
            </a:r>
          </a:p>
          <a:p>
            <a:pPr marL="514350" indent="-514350">
              <a:buAutoNum type="arabicParenR"/>
            </a:pPr>
            <a:r>
              <a:rPr lang="en-US" dirty="0">
                <a:latin typeface="Californian FB" pitchFamily="18" charset="0"/>
              </a:rPr>
              <a:t>Environmental Scanning</a:t>
            </a:r>
          </a:p>
          <a:p>
            <a:pPr marL="514350" indent="-514350">
              <a:buAutoNum type="arabicParenR"/>
            </a:pPr>
            <a:r>
              <a:rPr lang="en-US" dirty="0">
                <a:latin typeface="Californian FB" pitchFamily="18" charset="0"/>
              </a:rPr>
              <a:t>Feasibility Analysis</a:t>
            </a:r>
          </a:p>
          <a:p>
            <a:pPr marL="514350" indent="-514350">
              <a:buAutoNum type="arabicParenR"/>
            </a:pPr>
            <a:r>
              <a:rPr lang="en-US" dirty="0">
                <a:latin typeface="Californian FB" pitchFamily="18" charset="0"/>
              </a:rPr>
              <a:t>Report Preparation</a:t>
            </a:r>
          </a:p>
        </p:txBody>
      </p:sp>
      <p:sp>
        <p:nvSpPr>
          <p:cNvPr id="1048734" name="Slide Number Placeholder 3"/>
          <p:cNvSpPr>
            <a:spLocks noGrp="1"/>
          </p:cNvSpPr>
          <p:nvPr>
            <p:ph type="sldNum" sz="quarter" idx="12"/>
          </p:nvPr>
        </p:nvSpPr>
        <p:spPr/>
        <p:txBody>
          <a:bodyPr/>
          <a:lstStyle/>
          <a:p>
            <a:fld id="{291E2FA6-9605-47D5-89F4-3EA67C449664}" type="slidenum">
              <a:rPr lang="en-US" smtClean="0"/>
              <a:pPr/>
              <a:t>64</a:t>
            </a:fld>
            <a:endParaRPr lang="en-US"/>
          </a:p>
        </p:txBody>
      </p:sp>
      <p:sp>
        <p:nvSpPr>
          <p:cNvPr id="1048732" name="Title 1"/>
          <p:cNvSpPr>
            <a:spLocks noGrp="1"/>
          </p:cNvSpPr>
          <p:nvPr>
            <p:ph type="title"/>
          </p:nvPr>
        </p:nvSpPr>
        <p:spPr>
          <a:solidFill>
            <a:srgbClr val="00B0F0"/>
          </a:solidFill>
        </p:spPr>
        <p:txBody>
          <a:bodyPr>
            <a:normAutofit/>
          </a:bodyPr>
          <a:lstStyle/>
          <a:p>
            <a:r>
              <a:rPr lang="en-US" sz="3600" dirty="0"/>
              <a:t>2.8 Developing a Business Plan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6" name="Content Placeholder 2"/>
          <p:cNvSpPr>
            <a:spLocks noGrp="1"/>
          </p:cNvSpPr>
          <p:nvPr>
            <p:ph idx="1"/>
          </p:nvPr>
        </p:nvSpPr>
        <p:spPr>
          <a:xfrm>
            <a:off x="457200" y="1066800"/>
            <a:ext cx="8229600" cy="5334000"/>
          </a:xfrm>
          <a:ln>
            <a:solidFill>
              <a:schemeClr val="accent1"/>
            </a:solidFill>
          </a:ln>
        </p:spPr>
        <p:txBody>
          <a:bodyPr>
            <a:normAutofit fontScale="88750" lnSpcReduction="10000"/>
          </a:bodyPr>
          <a:lstStyle/>
          <a:p>
            <a:pPr marL="571500" indent="-571500">
              <a:buAutoNum type="romanUcParenR"/>
            </a:pPr>
            <a:r>
              <a:rPr lang="en-US" dirty="0">
                <a:latin typeface="Californian FB" pitchFamily="18" charset="0"/>
              </a:rPr>
              <a:t>Cover Sheet</a:t>
            </a:r>
          </a:p>
          <a:p>
            <a:pPr marL="571500" indent="-571500">
              <a:buAutoNum type="romanUcParenR"/>
            </a:pPr>
            <a:r>
              <a:rPr lang="en-US" dirty="0">
                <a:latin typeface="Californian FB" pitchFamily="18" charset="0"/>
              </a:rPr>
              <a:t> Executive Summary</a:t>
            </a:r>
          </a:p>
          <a:p>
            <a:pPr marL="571500" indent="-571500">
              <a:buAutoNum type="romanUcParenR"/>
            </a:pPr>
            <a:r>
              <a:rPr lang="en-US" dirty="0">
                <a:latin typeface="Californian FB" pitchFamily="18" charset="0"/>
              </a:rPr>
              <a:t>The Business</a:t>
            </a:r>
          </a:p>
          <a:p>
            <a:pPr marL="571500" indent="-571500">
              <a:buAutoNum type="romanUcParenR"/>
            </a:pPr>
            <a:r>
              <a:rPr lang="en-US" dirty="0">
                <a:latin typeface="Californian FB" pitchFamily="18" charset="0"/>
              </a:rPr>
              <a:t> Funding Requirement</a:t>
            </a:r>
          </a:p>
          <a:p>
            <a:pPr marL="571500" indent="-571500">
              <a:buAutoNum type="romanUcParenR"/>
            </a:pPr>
            <a:r>
              <a:rPr lang="en-US" dirty="0">
                <a:latin typeface="Californian FB" pitchFamily="18" charset="0"/>
              </a:rPr>
              <a:t>The Product or Services</a:t>
            </a:r>
          </a:p>
          <a:p>
            <a:pPr marL="571500" indent="-571500">
              <a:buAutoNum type="romanUcParenR"/>
            </a:pPr>
            <a:r>
              <a:rPr lang="en-US" dirty="0">
                <a:latin typeface="Californian FB" pitchFamily="18" charset="0"/>
              </a:rPr>
              <a:t>The Plan</a:t>
            </a:r>
          </a:p>
          <a:p>
            <a:pPr marL="571500" indent="-279400">
              <a:buAutoNum type="arabicParenR"/>
            </a:pPr>
            <a:r>
              <a:rPr lang="en-US" dirty="0">
                <a:latin typeface="Californian FB" pitchFamily="18" charset="0"/>
              </a:rPr>
              <a:t>Marketing Plan</a:t>
            </a:r>
          </a:p>
          <a:p>
            <a:pPr marL="571500" indent="-279400">
              <a:buAutoNum type="arabicParenR"/>
            </a:pPr>
            <a:r>
              <a:rPr lang="en-US" dirty="0">
                <a:latin typeface="Californian FB" pitchFamily="18" charset="0"/>
              </a:rPr>
              <a:t>Operational Plan</a:t>
            </a:r>
          </a:p>
          <a:p>
            <a:pPr marL="571500" indent="-279400">
              <a:buAutoNum type="arabicParenR"/>
            </a:pPr>
            <a:r>
              <a:rPr lang="en-US" dirty="0">
                <a:latin typeface="Californian FB" pitchFamily="18" charset="0"/>
              </a:rPr>
              <a:t>Organizational Plan</a:t>
            </a:r>
          </a:p>
          <a:p>
            <a:pPr marL="571500" indent="-279400">
              <a:buAutoNum type="arabicParenR"/>
            </a:pPr>
            <a:r>
              <a:rPr lang="en-US" dirty="0">
                <a:latin typeface="Californian FB" pitchFamily="18" charset="0"/>
              </a:rPr>
              <a:t>Financial Plan</a:t>
            </a:r>
          </a:p>
          <a:p>
            <a:pPr marL="571500" indent="-571500">
              <a:buNone/>
            </a:pPr>
            <a:r>
              <a:rPr lang="en-US" dirty="0">
                <a:latin typeface="Californian FB" pitchFamily="18" charset="0"/>
              </a:rPr>
              <a:t>VII) Critical Risks</a:t>
            </a:r>
          </a:p>
          <a:p>
            <a:pPr marL="571500" indent="-571500">
              <a:buNone/>
            </a:pPr>
            <a:r>
              <a:rPr lang="en-US" dirty="0">
                <a:latin typeface="Californian FB" pitchFamily="18" charset="0"/>
              </a:rPr>
              <a:t>VIII) Exit Strategy</a:t>
            </a:r>
          </a:p>
          <a:p>
            <a:pPr marL="571500" indent="-571500">
              <a:buNone/>
            </a:pPr>
            <a:r>
              <a:rPr lang="en-US" dirty="0">
                <a:latin typeface="Californian FB" pitchFamily="18" charset="0"/>
              </a:rPr>
              <a:t>IX) Appendix</a:t>
            </a:r>
          </a:p>
        </p:txBody>
      </p:sp>
      <p:sp>
        <p:nvSpPr>
          <p:cNvPr id="1048737" name="Slide Number Placeholder 3"/>
          <p:cNvSpPr>
            <a:spLocks noGrp="1"/>
          </p:cNvSpPr>
          <p:nvPr>
            <p:ph type="sldNum" sz="quarter" idx="12"/>
          </p:nvPr>
        </p:nvSpPr>
        <p:spPr/>
        <p:txBody>
          <a:bodyPr/>
          <a:lstStyle/>
          <a:p>
            <a:fld id="{291E2FA6-9605-47D5-89F4-3EA67C449664}" type="slidenum">
              <a:rPr lang="en-US" smtClean="0"/>
              <a:pPr/>
              <a:t>65</a:t>
            </a:fld>
            <a:endParaRPr lang="en-US"/>
          </a:p>
        </p:txBody>
      </p:sp>
      <p:sp>
        <p:nvSpPr>
          <p:cNvPr id="1048735" name="Title 1"/>
          <p:cNvSpPr>
            <a:spLocks noGrp="1"/>
          </p:cNvSpPr>
          <p:nvPr>
            <p:ph type="title"/>
          </p:nvPr>
        </p:nvSpPr>
        <p:spPr>
          <a:xfrm>
            <a:off x="457200" y="274638"/>
            <a:ext cx="8229600" cy="715962"/>
          </a:xfrm>
          <a:solidFill>
            <a:srgbClr val="00B0F0"/>
          </a:solidFill>
          <a:ln>
            <a:solidFill>
              <a:srgbClr val="FF0000"/>
            </a:solidFill>
          </a:ln>
        </p:spPr>
        <p:txBody>
          <a:bodyPr>
            <a:noAutofit/>
          </a:bodyPr>
          <a:lstStyle/>
          <a:p>
            <a:r>
              <a:rPr lang="en-US" sz="2800" dirty="0"/>
              <a:t>2.8.2 Essential Components of Business Plan </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1316</TotalTime>
  <Words>4729</Words>
  <Application>Microsoft Office PowerPoint</Application>
  <PresentationFormat>On-screen Show (4:3)</PresentationFormat>
  <Paragraphs>580</Paragraphs>
  <Slides>65</Slides>
  <Notes>5</Notes>
  <HiddenSlides>0</HiddenSlides>
  <MMClips>0</MMClips>
  <ScaleCrop>false</ScaleCrop>
  <HeadingPairs>
    <vt:vector size="4" baseType="variant">
      <vt:variant>
        <vt:lpstr>Theme</vt:lpstr>
      </vt:variant>
      <vt:variant>
        <vt:i4>1</vt:i4>
      </vt:variant>
      <vt:variant>
        <vt:lpstr>Slide Titles</vt:lpstr>
      </vt:variant>
      <vt:variant>
        <vt:i4>65</vt:i4>
      </vt:variant>
    </vt:vector>
  </HeadingPairs>
  <TitlesOfParts>
    <vt:vector size="66" baseType="lpstr">
      <vt:lpstr>Concourse</vt:lpstr>
      <vt:lpstr>Slide 1</vt:lpstr>
      <vt:lpstr>Chapter one: THE NATURE OF ENTREPRENEURSHIP</vt:lpstr>
      <vt:lpstr>Slide 3</vt:lpstr>
      <vt:lpstr>1.2 Definitions of Entrepreneurship and Entrepreneur</vt:lpstr>
      <vt:lpstr>Slide 5</vt:lpstr>
      <vt:lpstr>Slide 6</vt:lpstr>
      <vt:lpstr>Slide 7</vt:lpstr>
      <vt:lpstr>1.3Types of Entrepreneurs</vt:lpstr>
      <vt:lpstr>1.4 Role of Entrepreneurs in Economic Development</vt:lpstr>
      <vt:lpstr>Slide 10</vt:lpstr>
      <vt:lpstr>Slide 11</vt:lpstr>
      <vt:lpstr>1.5.1 Who Becomes an Entrepreneur?</vt:lpstr>
      <vt:lpstr>1.5.2 Qualities of an Entrepreneur</vt:lpstr>
      <vt:lpstr>1.5.3 Entrepreneurial Skills</vt:lpstr>
      <vt:lpstr>Slide 15</vt:lpstr>
      <vt:lpstr>Slide 16</vt:lpstr>
      <vt:lpstr>1.5.4 The Entrepreneurial Tasks</vt:lpstr>
      <vt:lpstr>Entrepreneurship and Environment</vt:lpstr>
      <vt:lpstr>Phases /Type of Business Environment</vt:lpstr>
      <vt:lpstr>Slide 20</vt:lpstr>
      <vt:lpstr> General non-entrepreneurial profiles </vt:lpstr>
      <vt:lpstr>Slide 22</vt:lpstr>
      <vt:lpstr> Comparison between entrepreneurs and non-entrepreneurs </vt:lpstr>
      <vt:lpstr>The Potential Drawbacks Of Entrepreneurship</vt:lpstr>
      <vt:lpstr>Characteristics (Qualities) of Entrepreneurs</vt:lpstr>
      <vt:lpstr> Characteristics cont’d… </vt:lpstr>
      <vt:lpstr>THE JOHARI WINDOW</vt:lpstr>
      <vt:lpstr>Slide 28</vt:lpstr>
      <vt:lpstr>The payoffs (rewards) of being an entrepreneur</vt:lpstr>
      <vt:lpstr>1.6 Creativity, Innovation and Entrepreneurship</vt:lpstr>
      <vt:lpstr>Slide 31</vt:lpstr>
      <vt:lpstr>1.6. 2 Innovation</vt:lpstr>
      <vt:lpstr>Slide 33</vt:lpstr>
      <vt:lpstr>Slide 34</vt:lpstr>
      <vt:lpstr>CHAPTER TWO: BUSINESS PLANNING</vt:lpstr>
      <vt:lpstr> Why Write A Business Plan? </vt:lpstr>
      <vt:lpstr>When to prepare a business plan </vt:lpstr>
      <vt:lpstr>The  three basic questions </vt:lpstr>
      <vt:lpstr> Basic Information needs  </vt:lpstr>
      <vt:lpstr>Operation Information Needs  </vt:lpstr>
      <vt:lpstr>Operation Information Needs</vt:lpstr>
      <vt:lpstr>Financial Information Needs </vt:lpstr>
      <vt:lpstr>           Writing the business plan          (contents of a business plan)</vt:lpstr>
      <vt:lpstr>Executive Summary </vt:lpstr>
      <vt:lpstr>Slide 45</vt:lpstr>
      <vt:lpstr>Industry Analysis</vt:lpstr>
      <vt:lpstr>Slide 47</vt:lpstr>
      <vt:lpstr>2.2 Opportunity Identification and Evaluation </vt:lpstr>
      <vt:lpstr>Slide 49</vt:lpstr>
      <vt:lpstr>2) Opportunity Identification</vt:lpstr>
      <vt:lpstr>4) Opportunity Evaluation</vt:lpstr>
      <vt:lpstr>5) Assessment of the Entrepreneurial Team</vt:lpstr>
      <vt:lpstr>2.3 Business Idea Development</vt:lpstr>
      <vt:lpstr>2.4 Business Idea Identification</vt:lpstr>
      <vt:lpstr>     Sources of New Ideas </vt:lpstr>
      <vt:lpstr>Relation b/n Business and Environment</vt:lpstr>
      <vt:lpstr>2.5 Methods for Generating Business Ideas</vt:lpstr>
      <vt:lpstr>2.6 Business Idea Screening</vt:lpstr>
      <vt:lpstr>Slide 59</vt:lpstr>
      <vt:lpstr>THE FUNNEL MODEL FOR IDEA GENERATION and SCREENING</vt:lpstr>
      <vt:lpstr>Slide 61</vt:lpstr>
      <vt:lpstr>Slide 62</vt:lpstr>
      <vt:lpstr>2.7 Concept of Business Plan</vt:lpstr>
      <vt:lpstr>2.8 Developing a Business Plan </vt:lpstr>
      <vt:lpstr>2.8.2 Essential Components of Business Plan </vt:lpstr>
    </vt:vector>
  </TitlesOfParts>
  <Company>home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ismail - [2010]</dc:creator>
  <cp:lastModifiedBy>USER</cp:lastModifiedBy>
  <cp:revision>41</cp:revision>
  <dcterms:created xsi:type="dcterms:W3CDTF">2020-03-05T12:50:31Z</dcterms:created>
  <dcterms:modified xsi:type="dcterms:W3CDTF">2025-10-20T17:55:46Z</dcterms:modified>
</cp:coreProperties>
</file>